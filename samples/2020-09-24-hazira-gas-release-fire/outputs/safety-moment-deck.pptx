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7"/>
    <p:sldId id="257" r:id="rId8"/>
    <p:sldId id="258" r:id="rId9"/>
    <p:sldId id="259" r:id="rId10"/>
    <p:sldId id="260" r:id="rId11"/>
    <p:sldId id="261" r:id="rId12"/>
    <p:sldId id="262" r:id="rId13"/>
    <p:sldId id="263" r:id="rId14"/>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cNvSpPr>
            <a:spLocks noGrp="1" noRot="1" noChangeAspect="1"/>
          </p:cNvSpPr>
          <p:nvPr>
            <p:ph type="sldImg" idx="2"/>
          </p:nvPr>
        </p:nvSpPr>
        <p:spPr>
          <a:xfrm>
            <a:off x="381000" y="685800"/>
            <a:ext cx="6096000" cy="3429000"/>
          </a:xfrm>
          <a:prstGeom prst="rect">
            <a:avLst/>
          </a:prstGeom>
        </p:spPr>
      </p:sp>
      <p:sp>
        <p:nvSpPr>
          <p:cNvPr id="3" name="Notes"/>
          <p:cNvSpPr>
            <a:spLocks noGrp="1"/>
          </p:cNvSpPr>
          <p:nvPr>
            <p:ph type="body" sz="quarter" idx="3"/>
          </p:nvPr>
        </p:nvSpPr>
        <p:spPr>
          <a:xfrm>
            <a:off x="685800" y="4343400"/>
            <a:ext cx="5486400" cy="4114800"/>
          </a:xfrm>
          <a:prstGeom prst="rect">
            <a:avLst/>
          </a:prstGeom>
        </p:spPr>
        <p:txBody>
          <a:bodyPr/>
          <a:lstStyle/>
          <a:p>
            <a:endParaRPr lang="en-GB"/>
          </a:p>
        </p:txBody>
      </p:sp>
    </p:spTree>
  </p:cSld>
  <p:clrMap bg1="lt1" tx1="dk1" bg2="lt2" tx2="dk2" accent1="accent1" accent2="accent2" accent3="accent3" accent4="accent4" accent5="accent5" accent6="accent6" hlink="hlink" folHlink="folHlink"/>
  <p:notesStyle>
    <a:lvl1pPr marL="0" algn="l" defTabSz="914400" eaLnBrk="1" hangingPunct="1">
      <a:defRPr sz="1200" kern="1200">
        <a:solidFill>
          <a:schemeClr val="tx1"/>
        </a:solidFill>
        <a:latin typeface="+mn-lt"/>
        <a:ea typeface="+mn-ea"/>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pPr>
              <a:spcAft>
                <a:spcPts val="0"/>
              </a:spcAft>
              <a:buNone/>
            </a:pPr>
            <a:r>
              <a:rPr lang="en" sz="1200" dirty="0">
                <a:solidFill>
                  <a:srgbClr val="1F2328"/>
                </a:solidFill>
              </a:rPr>
              <a:t>Audience: Session leaders (T2): maintenance and shift supervisors and trainers running a ten-minute session for maintenance and instrument crews (T1)</a:t>
            </a:r>
            <a:endParaRPr lang="en" sz="1200" dirty="0"/>
          </a:p>
          <a:p>
            <a:pPr>
              <a:spcAft>
                <a:spcPts val="0"/>
              </a:spcAft>
              <a:buNone/>
            </a:pPr>
            <a:r>
              <a:rPr lang="en" sz="1200" dirty="0">
                <a:solidFill>
                  <a:srgbClr val="1F2328"/>
                </a:solidFill>
              </a:rPr>
              <a:t>Incident: Hazira gas terminal condensate release and fire · 2020-09-24</a:t>
            </a:r>
            <a:endParaRPr lang="en" sz="1200" dirty="0"/>
          </a:p>
          <a:p>
            <a:pPr>
              <a:spcAft>
                <a:spcPts val="0"/>
              </a:spcAft>
              <a:buNone/>
            </a:pPr>
            <a:r>
              <a:rPr lang="en" sz="1200" dirty="0">
                <a:solidFill>
                  <a:srgbClr val="1F2328"/>
                </a:solidFill>
              </a:rPr>
              <a:t>Learning purposes: not a statutory document. Derived from a ProbeMatrix investigation export; learnings are evidence-linked but should be validated by the organisation before adoption. Draft learnings: the investigation status is in progress. · Learnings drafted by an AI agent from AI-assisted findings</a:t>
            </a:r>
            <a:endParaRPr lang="en" sz="1200" dirty="0"/>
          </a:p>
          <a:p>
            <a:pPr>
              <a:spcAft>
                <a:spcPts val="0"/>
              </a:spcAft>
              <a:buNone/>
            </a:pPr>
            <a:r>
              <a:rPr lang="en" sz="1200" dirty="0">
                <a:solidFill>
                  <a:srgbClr val="1F2328"/>
                </a:solidFill>
              </a:rPr>
              <a:t>DRAFT</a:t>
            </a:r>
            <a:endParaRPr lang="en" sz="1200" dirty="0"/>
          </a:p>
          <a:p>
            <a:pPr>
              <a:spcAft>
                <a:spcPts val="0"/>
              </a:spcAft>
              <a:buNone/>
            </a:pPr>
            <a:r>
              <a:rPr lang="en" sz="1200" dirty="0">
                <a:solidFill>
                  <a:srgbClr val="1F2328"/>
                </a:solidFill>
              </a:rPr>
              <a:t>Review: draft · Classification: internal · Version 1.0</a:t>
            </a:r>
            <a:endParaRPr lang="en" sz="1200" dirty="0"/>
          </a:p>
          <a:p>
            <a:pPr>
              <a:spcAft>
                <a:spcPts val="0"/>
              </a:spcAft>
              <a:buNone/>
            </a:pPr>
            <a:r>
              <a:rPr lang="en" sz="1200" dirty="0">
                <a:solidFill>
                  <a:srgbClr val="1F2328"/>
                </a:solidFill>
              </a:rPr>
              <a:t>Draft because: the investigation status is in progress; no finding is marked as edited by a person</a:t>
            </a:r>
            <a:endParaRPr lang="en" sz="1200" dirty="0"/>
          </a:p>
          <a:p>
            <a:pPr>
              <a:spcAft>
                <a:spcPts val="0"/>
              </a:spcAft>
              <a:buNone/>
            </a:pPr>
            <a:endParaRPr lang="en" sz="1200" dirty="0"/>
          </a:p>
          <a:p>
            <a:pPr>
              <a:spcAft>
                <a:spcPts val="0"/>
              </a:spcAft>
              <a:buNone/>
            </a:pPr>
            <a:r>
              <a:rPr lang="en" sz="1200" dirty="0">
                <a:solidFill>
                  <a:srgbClr val="1F2328"/>
                </a:solidFill>
              </a:rPr>
              <a:t>Data quality and limits:</a:t>
            </a:r>
            <a:endParaRPr lang="en" sz="1200" dirty="0"/>
          </a:p>
          <a:p>
            <a:pPr>
              <a:spcAft>
                <a:spcPts val="0"/>
              </a:spcAft>
              <a:buNone/>
            </a:pPr>
            <a:r>
              <a:rPr lang="en" sz="1200" dirty="0">
                <a:solidFill>
                  <a:srgbClr val="1F2328"/>
                </a:solidFill>
              </a:rPr>
              <a:t>- Draft learnings from an unreviewed analysis: the export's investigation status is in progress and no finding is marked as edited by a person. Validate every item before the session.</a:t>
            </a:r>
            <a:endParaRPr lang="en" sz="12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pPr>
              <a:spcAft>
                <a:spcPts val="0"/>
              </a:spcAft>
              <a:buNone/>
            </a:pPr>
            <a:r>
              <a:rPr lang="en" sz="1200" dirty="0">
                <a:solidFill>
                  <a:srgbClr val="1F2328"/>
                </a:solidFill>
              </a:rPr>
              <a:t>No specification, no fit: a seal that does not match the original is a change, not a spare.</a:t>
            </a:r>
            <a:endParaRPr lang="en" sz="1200" dirty="0"/>
          </a:p>
          <a:p>
            <a:pPr>
              <a:spcAft>
                <a:spcPts val="0"/>
              </a:spcAft>
              <a:buNone/>
            </a:pPr>
            <a:r>
              <a:rPr lang="en" sz="1200" dirty="0">
                <a:solidFill>
                  <a:srgbClr val="1F2328"/>
                </a:solidFill>
              </a:rPr>
              <a:t>Cites: FND-8C0BB623; EVD-8645</a:t>
            </a:r>
            <a:endParaRPr lang="en" sz="1200" dirty="0"/>
          </a:p>
          <a:p>
            <a:pPr>
              <a:spcAft>
                <a:spcPts val="0"/>
              </a:spcAft>
              <a:buNone/>
            </a:pPr>
            <a:r>
              <a:rPr lang="en" sz="1200" dirty="0">
                <a:solidFill>
                  <a:srgbClr val="1F2328"/>
                </a:solidFill>
              </a:rPr>
              <a:t>A joint you opened is not proven until it has passed a recorded test to the written test pressure.</a:t>
            </a:r>
            <a:endParaRPr lang="en" sz="1200" dirty="0"/>
          </a:p>
          <a:p>
            <a:pPr>
              <a:spcAft>
                <a:spcPts val="0"/>
              </a:spcAft>
              <a:buNone/>
            </a:pPr>
            <a:r>
              <a:rPr lang="en" sz="1200" dirty="0">
                <a:solidFill>
                  <a:srgbClr val="1F2328"/>
                </a:solidFill>
              </a:rPr>
              <a:t>Cites: FND-212DC9B7; EVD-2894</a:t>
            </a:r>
            <a:endParaRPr lang="en" sz="1200" dirty="0"/>
          </a:p>
          <a:p>
            <a:pPr>
              <a:spcAft>
                <a:spcPts val="0"/>
              </a:spcAft>
              <a:buNone/>
            </a:pPr>
            <a:r>
              <a:rPr lang="en" sz="1200" dirty="0">
                <a:solidFill>
                  <a:srgbClr val="1F2328"/>
                </a:solidFill>
              </a:rPr>
              <a:t>When the same fault comes back, say so on the job record; a repeat is a warning, not a routine job.</a:t>
            </a:r>
            <a:endParaRPr lang="en" sz="1200" dirty="0"/>
          </a:p>
          <a:p>
            <a:pPr>
              <a:spcAft>
                <a:spcPts val="0"/>
              </a:spcAft>
              <a:buNone/>
            </a:pPr>
            <a:r>
              <a:rPr lang="en" sz="1200" dirty="0">
                <a:solidFill>
                  <a:srgbClr val="1F2328"/>
                </a:solidFill>
              </a:rPr>
              <a:t>Cites: FND-69067A1C; EVD-1494</a:t>
            </a:r>
            <a:endParaRPr lang="en" sz="1200" dirty="0"/>
          </a:p>
          <a:p>
            <a:pPr>
              <a:spcAft>
                <a:spcPts val="0"/>
              </a:spcAft>
              <a:buNone/>
            </a:pPr>
            <a:endParaRPr lang="en" sz="1200" dirty="0"/>
          </a:p>
          <a:p>
            <a:pPr>
              <a:spcAft>
                <a:spcPts val="0"/>
              </a:spcAft>
              <a:buNone/>
            </a:pPr>
            <a:r>
              <a:rPr lang="en" sz="1200" dirty="0">
                <a:solidFill>
                  <a:srgbClr val="1F2328"/>
                </a:solidFill>
              </a:rPr>
              <a:t>Cited records:</a:t>
            </a:r>
            <a:endParaRPr lang="en" sz="1200" dirty="0"/>
          </a:p>
          <a:p>
            <a:pPr>
              <a:spcAft>
                <a:spcPts val="0"/>
              </a:spcAft>
              <a:buNone/>
            </a:pPr>
            <a:r>
              <a:rPr lang="en" sz="1200" dirty="0">
                <a:solidFill>
                  <a:srgbClr val="1F2328"/>
                </a:solidFill>
              </a:rPr>
              <a:t>FND-8C0BB623: Maintenance Team - Gasket Replacement Without OEM Spec · L1 · rating 4</a:t>
            </a:r>
            <a:endParaRPr lang="en" sz="1200" dirty="0"/>
          </a:p>
          <a:p>
            <a:pPr>
              <a:spcAft>
                <a:spcPts val="0"/>
              </a:spcAft>
              <a:buNone/>
            </a:pPr>
            <a:r>
              <a:rPr lang="en" sz="1200" dirty="0">
                <a:solidFill>
                  <a:srgbClr val="1F2328"/>
                </a:solidFill>
              </a:rPr>
              <a:t>EVD-8645: document</a:t>
            </a:r>
            <a:endParaRPr lang="en" sz="1200" dirty="0"/>
          </a:p>
          <a:p>
            <a:pPr>
              <a:spcAft>
                <a:spcPts val="0"/>
              </a:spcAft>
              <a:buNone/>
            </a:pPr>
            <a:r>
              <a:rPr lang="en" sz="1200" dirty="0">
                <a:solidFill>
                  <a:srgbClr val="1F2328"/>
                </a:solidFill>
              </a:rPr>
              <a:t>FND-212DC9B7: Maintenance Team - No Hydrostatic Test After Gasket Replacement · L1 · rating 4</a:t>
            </a:r>
            <a:endParaRPr lang="en" sz="1200" dirty="0"/>
          </a:p>
          <a:p>
            <a:pPr>
              <a:spcAft>
                <a:spcPts val="0"/>
              </a:spcAft>
              <a:buNone/>
            </a:pPr>
            <a:r>
              <a:rPr lang="en" sz="1200" dirty="0">
                <a:solidFill>
                  <a:srgbClr val="1F2328"/>
                </a:solidFill>
              </a:rPr>
              <a:t>EVD-2894: document</a:t>
            </a:r>
            <a:endParaRPr lang="en" sz="1200" dirty="0"/>
          </a:p>
          <a:p>
            <a:pPr>
              <a:spcAft>
                <a:spcPts val="0"/>
              </a:spcAft>
              <a:buNone/>
            </a:pPr>
            <a:r>
              <a:rPr lang="en" sz="1200" dirty="0">
                <a:solidFill>
                  <a:srgbClr val="1F2328"/>
                </a:solidFill>
              </a:rPr>
              <a:t>FND-69067A1C: Chronically failing meter 310FT01 kept in service across three gasket replacements in 22 months · L2 · rating 4</a:t>
            </a:r>
            <a:endParaRPr lang="en" sz="1200" dirty="0"/>
          </a:p>
          <a:p>
            <a:pPr>
              <a:spcAft>
                <a:spcPts val="0"/>
              </a:spcAft>
              <a:buNone/>
            </a:pPr>
            <a:r>
              <a:rPr lang="en" sz="1200" dirty="0">
                <a:solidFill>
                  <a:srgbClr val="1F2328"/>
                </a:solidFill>
              </a:rPr>
              <a:t>EVD-1494: document</a:t>
            </a:r>
            <a:endParaRPr lang="en" sz="12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pPr>
              <a:spcAft>
                <a:spcPts val="0"/>
              </a:spcAft>
              <a:buNone/>
            </a:pPr>
            <a:r>
              <a:rPr lang="en" sz="1200" dirty="0">
                <a:solidFill>
                  <a:srgbClr val="1F2328"/>
                </a:solidFill>
              </a:rPr>
              <a:t>1. On 18 Sep 2020 the seal on a 1986 condensate meter at the gas terminal was changed. The maker's specification had been lost, so a locally bought round O-ring was fitted, as had…</a:t>
            </a:r>
            <a:endParaRPr lang="en" sz="1200" dirty="0"/>
          </a:p>
          <a:p>
            <a:pPr>
              <a:spcAft>
                <a:spcPts val="0"/>
              </a:spcAft>
              <a:buNone/>
            </a:pPr>
            <a:r>
              <a:rPr lang="en" sz="1200" dirty="0">
                <a:solidFill>
                  <a:srgbClr val="1F2328"/>
                </a:solidFill>
              </a:rPr>
              <a:t>Text: On 18 Sep 2020 the seal on a 1986 condensate meter at the gas terminal was changed. The maker's specification had been lost, so a locally bought round O-ring was fitted, as had become regular practice, and the system was brought only to operating pressure, with no test to design pressure [FND-8C0BB623; FND-212DC9B7; EVD-8645; EVD-2894]. The meter went back on line the next day and was in use on 24 Sep, when that seal was the probable source of a release that later caught fire [FND-15279F97; EVD-2894].</a:t>
            </a:r>
            <a:endParaRPr lang="en" sz="1200" dirty="0"/>
          </a:p>
          <a:p>
            <a:pPr>
              <a:spcAft>
                <a:spcPts val="0"/>
              </a:spcAft>
              <a:buNone/>
            </a:pPr>
            <a:r>
              <a:rPr lang="en" sz="1200" dirty="0">
                <a:solidFill>
                  <a:srgbClr val="1F2328"/>
                </a:solidFill>
              </a:rPr>
              <a:t>Cites: FND-8C0BB623; FND-212DC9B7; EVD-8645; EVD-2894; FND-15279F97</a:t>
            </a:r>
            <a:endParaRPr lang="en" sz="1200" dirty="0"/>
          </a:p>
          <a:p>
            <a:pPr>
              <a:spcAft>
                <a:spcPts val="0"/>
              </a:spcAft>
              <a:buNone/>
            </a:pPr>
            <a:endParaRPr lang="en" sz="1200" dirty="0"/>
          </a:p>
          <a:p>
            <a:pPr>
              <a:spcAft>
                <a:spcPts val="0"/>
              </a:spcAft>
              <a:buNone/>
            </a:pPr>
            <a:r>
              <a:rPr lang="en" sz="1200" dirty="0">
                <a:solidFill>
                  <a:srgbClr val="1F2328"/>
                </a:solidFill>
              </a:rPr>
              <a:t>Cited records:</a:t>
            </a:r>
            <a:endParaRPr lang="en" sz="1200" dirty="0"/>
          </a:p>
          <a:p>
            <a:pPr>
              <a:spcAft>
                <a:spcPts val="0"/>
              </a:spcAft>
              <a:buNone/>
            </a:pPr>
            <a:r>
              <a:rPr lang="en" sz="1200" dirty="0">
                <a:solidFill>
                  <a:srgbClr val="1F2328"/>
                </a:solidFill>
              </a:rPr>
              <a:t>FND-8C0BB623: Maintenance Team - Gasket Replacement Without OEM Spec · L1 · rating 4</a:t>
            </a:r>
            <a:endParaRPr lang="en" sz="1200" dirty="0"/>
          </a:p>
          <a:p>
            <a:pPr>
              <a:spcAft>
                <a:spcPts val="0"/>
              </a:spcAft>
              <a:buNone/>
            </a:pPr>
            <a:r>
              <a:rPr lang="en" sz="1200" dirty="0">
                <a:solidFill>
                  <a:srgbClr val="1F2328"/>
                </a:solidFill>
              </a:rPr>
              <a:t>FND-212DC9B7: Maintenance Team - No Hydrostatic Test After Gasket Replacement · L1 · rating 4</a:t>
            </a:r>
            <a:endParaRPr lang="en" sz="1200" dirty="0"/>
          </a:p>
          <a:p>
            <a:pPr>
              <a:spcAft>
                <a:spcPts val="0"/>
              </a:spcAft>
              <a:buNone/>
            </a:pPr>
            <a:r>
              <a:rPr lang="en" sz="1200" dirty="0">
                <a:solidFill>
                  <a:srgbClr val="1F2328"/>
                </a:solidFill>
              </a:rPr>
              <a:t>EVD-8645: document</a:t>
            </a:r>
            <a:endParaRPr lang="en" sz="1200" dirty="0"/>
          </a:p>
          <a:p>
            <a:pPr>
              <a:spcAft>
                <a:spcPts val="0"/>
              </a:spcAft>
              <a:buNone/>
            </a:pPr>
            <a:r>
              <a:rPr lang="en" sz="1200" dirty="0">
                <a:solidFill>
                  <a:srgbClr val="1F2328"/>
                </a:solidFill>
              </a:rPr>
              <a:t>EVD-2894: document</a:t>
            </a:r>
            <a:endParaRPr lang="en" sz="1200" dirty="0"/>
          </a:p>
          <a:p>
            <a:pPr>
              <a:spcAft>
                <a:spcPts val="0"/>
              </a:spcAft>
              <a:buNone/>
            </a:pPr>
            <a:r>
              <a:rPr lang="en" sz="1200" dirty="0">
                <a:solidFill>
                  <a:srgbClr val="1F2328"/>
                </a:solidFill>
              </a:rPr>
              <a:t>FND-15279F97: Post-maintenance testing - 18 Sep 2020 gasket replacement · L1 · rating 4</a:t>
            </a:r>
            <a:endParaRPr lang="en" sz="12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pPr>
              <a:spcAft>
                <a:spcPts val="0"/>
              </a:spcAft>
              <a:buNone/>
            </a:pPr>
            <a:r>
              <a:rPr lang="en" sz="1200" dirty="0">
                <a:solidFill>
                  <a:srgbClr val="1F2328"/>
                </a:solidFill>
              </a:rPr>
              <a:t>1. The meter was built for a rectangular-slot gasket; the round O-ring was a local substitute, bought with no specification or quality check.</a:t>
            </a:r>
            <a:endParaRPr lang="en" sz="1200" dirty="0"/>
          </a:p>
          <a:p>
            <a:pPr>
              <a:spcAft>
                <a:spcPts val="0"/>
              </a:spcAft>
              <a:buNone/>
            </a:pPr>
            <a:r>
              <a:rPr lang="en" sz="1200" dirty="0">
                <a:solidFill>
                  <a:srgbClr val="1F2328"/>
                </a:solidFill>
              </a:rPr>
              <a:t>Text: The meter was built for a rectangular-slot gasket; the round O-ring was a local substitute, bought with no specification or quality check [FND-7A32AC87; EVD-8645].</a:t>
            </a:r>
            <a:endParaRPr lang="en" sz="1200" dirty="0"/>
          </a:p>
          <a:p>
            <a:pPr>
              <a:spcAft>
                <a:spcPts val="0"/>
              </a:spcAft>
              <a:buNone/>
            </a:pPr>
            <a:r>
              <a:rPr lang="en" sz="1200" dirty="0">
                <a:solidFill>
                  <a:srgbClr val="1F2328"/>
                </a:solidFill>
              </a:rPr>
              <a:t>Cites: FND-7A32AC87; EVD-8645</a:t>
            </a:r>
            <a:endParaRPr lang="en" sz="1200" dirty="0"/>
          </a:p>
          <a:p>
            <a:pPr>
              <a:spcAft>
                <a:spcPts val="0"/>
              </a:spcAft>
              <a:buNone/>
            </a:pPr>
            <a:endParaRPr lang="en" sz="1200" dirty="0"/>
          </a:p>
          <a:p>
            <a:pPr>
              <a:spcAft>
                <a:spcPts val="0"/>
              </a:spcAft>
              <a:buNone/>
            </a:pPr>
            <a:r>
              <a:rPr lang="en" sz="1200" dirty="0">
                <a:solidFill>
                  <a:srgbClr val="1F2328"/>
                </a:solidFill>
              </a:rPr>
              <a:t>2. This was the third seal change on the same meter in about 22 months, and a malfunction notification had been raised the day before the last one. None of the repeats led to a…</a:t>
            </a:r>
            <a:endParaRPr lang="en" sz="1200" dirty="0"/>
          </a:p>
          <a:p>
            <a:pPr>
              <a:spcAft>
                <a:spcPts val="0"/>
              </a:spcAft>
              <a:buNone/>
            </a:pPr>
            <a:r>
              <a:rPr lang="en" sz="1200" dirty="0">
                <a:solidFill>
                  <a:srgbClr val="1F2328"/>
                </a:solidFill>
              </a:rPr>
              <a:t>Text: This was the third seal change on the same meter in about 22 months, and a malfunction notification had been raised the day before the last one. None of the repeats led to a review of why it kept leaking [FND-69067A1C; FND-82FC718D; EVD-1494; EVD-0591].</a:t>
            </a:r>
            <a:endParaRPr lang="en" sz="1200" dirty="0"/>
          </a:p>
          <a:p>
            <a:pPr>
              <a:spcAft>
                <a:spcPts val="0"/>
              </a:spcAft>
              <a:buNone/>
            </a:pPr>
            <a:r>
              <a:rPr lang="en" sz="1200" dirty="0">
                <a:solidFill>
                  <a:srgbClr val="1F2328"/>
                </a:solidFill>
              </a:rPr>
              <a:t>Cites: FND-69067A1C; FND-82FC718D; EVD-1494; EVD-0591</a:t>
            </a:r>
            <a:endParaRPr lang="en" sz="1200" dirty="0"/>
          </a:p>
          <a:p>
            <a:pPr>
              <a:spcAft>
                <a:spcPts val="0"/>
              </a:spcAft>
              <a:buNone/>
            </a:pPr>
            <a:endParaRPr lang="en" sz="1200" dirty="0"/>
          </a:p>
          <a:p>
            <a:pPr>
              <a:spcAft>
                <a:spcPts val="0"/>
              </a:spcAft>
              <a:buNone/>
            </a:pPr>
            <a:r>
              <a:rPr lang="en" sz="1200" dirty="0">
                <a:solidFill>
                  <a:srgbClr val="1F2328"/>
                </a:solidFill>
              </a:rPr>
              <a:t>3. No written procedure covered testing these high-pressure meters before they went back into service, so holding at operating pressure became the normal check.</a:t>
            </a:r>
            <a:endParaRPr lang="en" sz="1200" dirty="0"/>
          </a:p>
          <a:p>
            <a:pPr>
              <a:spcAft>
                <a:spcPts val="0"/>
              </a:spcAft>
              <a:buNone/>
            </a:pPr>
            <a:r>
              <a:rPr lang="en" sz="1200" dirty="0">
                <a:solidFill>
                  <a:srgbClr val="1F2328"/>
                </a:solidFill>
              </a:rPr>
              <a:t>Text: No written procedure covered testing these high-pressure meters before they went back into service, so holding at operating pressure became the normal check [FND-257C1100; EVD-2894].</a:t>
            </a:r>
            <a:endParaRPr lang="en" sz="1200" dirty="0"/>
          </a:p>
          <a:p>
            <a:pPr>
              <a:spcAft>
                <a:spcPts val="0"/>
              </a:spcAft>
              <a:buNone/>
            </a:pPr>
            <a:r>
              <a:rPr lang="en" sz="1200" dirty="0">
                <a:solidFill>
                  <a:srgbClr val="1F2328"/>
                </a:solidFill>
              </a:rPr>
              <a:t>Cites: FND-257C1100; EVD-2894</a:t>
            </a:r>
            <a:endParaRPr lang="en" sz="1200" dirty="0"/>
          </a:p>
          <a:p>
            <a:pPr>
              <a:spcAft>
                <a:spcPts val="0"/>
              </a:spcAft>
              <a:buNone/>
            </a:pPr>
            <a:endParaRPr lang="en" sz="1200" dirty="0"/>
          </a:p>
          <a:p>
            <a:pPr>
              <a:spcAft>
                <a:spcPts val="0"/>
              </a:spcAft>
              <a:buNone/>
            </a:pPr>
            <a:r>
              <a:rPr lang="en" sz="1200" dirty="0">
                <a:solidFill>
                  <a:srgbClr val="1F2328"/>
                </a:solidFill>
              </a:rPr>
              <a:t>Cited records:</a:t>
            </a:r>
            <a:endParaRPr lang="en" sz="1200" dirty="0"/>
          </a:p>
          <a:p>
            <a:pPr>
              <a:spcAft>
                <a:spcPts val="0"/>
              </a:spcAft>
              <a:buNone/>
            </a:pPr>
            <a:r>
              <a:rPr lang="en" sz="1200" dirty="0">
                <a:solidFill>
                  <a:srgbClr val="1F2328"/>
                </a:solidFill>
              </a:rPr>
              <a:t>FND-7A32AC87: Maintenance Team - Wrong Choice: Substitute O-ring for OEM Rectangular-Slot Gasket · L1 · rating 4</a:t>
            </a:r>
            <a:endParaRPr lang="en" sz="1200" dirty="0"/>
          </a:p>
          <a:p>
            <a:pPr>
              <a:spcAft>
                <a:spcPts val="0"/>
              </a:spcAft>
              <a:buNone/>
            </a:pPr>
            <a:r>
              <a:rPr lang="en" sz="1200" dirty="0">
                <a:solidFill>
                  <a:srgbClr val="1F2328"/>
                </a:solidFill>
              </a:rPr>
              <a:t>EVD-8645: document</a:t>
            </a:r>
            <a:endParaRPr lang="en" sz="1200" dirty="0"/>
          </a:p>
          <a:p>
            <a:pPr>
              <a:spcAft>
                <a:spcPts val="0"/>
              </a:spcAft>
              <a:buNone/>
            </a:pPr>
            <a:r>
              <a:rPr lang="en" sz="1200" dirty="0">
                <a:solidFill>
                  <a:srgbClr val="1F2328"/>
                </a:solidFill>
              </a:rPr>
              <a:t>FND-69067A1C: Chronically failing meter 310FT01 kept in service across three gasket replacements in 22 months · L2 · rating 4</a:t>
            </a:r>
            <a:endParaRPr lang="en" sz="1200" dirty="0"/>
          </a:p>
          <a:p>
            <a:pPr>
              <a:spcAft>
                <a:spcPts val="0"/>
              </a:spcAft>
              <a:buNone/>
            </a:pPr>
            <a:r>
              <a:rPr lang="en" sz="1200" dirty="0">
                <a:solidFill>
                  <a:srgbClr val="1F2328"/>
                </a:solidFill>
              </a:rPr>
              <a:t>FND-82FC718D: Recurring gasket failures on 310FT01 treated as routine maintenance instead of reliability warning · L4 · rating 4</a:t>
            </a:r>
            <a:endParaRPr lang="en" sz="1200" dirty="0"/>
          </a:p>
          <a:p>
            <a:pPr>
              <a:spcAft>
                <a:spcPts val="0"/>
              </a:spcAft>
              <a:buNone/>
            </a:pPr>
            <a:r>
              <a:rPr lang="en" sz="1200" dirty="0">
                <a:solidFill>
                  <a:srgbClr val="1F2328"/>
                </a:solidFill>
              </a:rPr>
              <a:t>EVD-1494: document</a:t>
            </a:r>
            <a:endParaRPr lang="en" sz="1200" dirty="0"/>
          </a:p>
          <a:p>
            <a:pPr>
              <a:spcAft>
                <a:spcPts val="0"/>
              </a:spcAft>
              <a:buNone/>
            </a:pPr>
            <a:r>
              <a:rPr lang="en" sz="1200" dirty="0">
                <a:solidFill>
                  <a:srgbClr val="1F2328"/>
                </a:solidFill>
              </a:rPr>
              <a:t>EVD-0591: log_record</a:t>
            </a:r>
            <a:endParaRPr lang="en" sz="1200" dirty="0"/>
          </a:p>
          <a:p>
            <a:pPr>
              <a:spcAft>
                <a:spcPts val="0"/>
              </a:spcAft>
              <a:buNone/>
            </a:pPr>
            <a:r>
              <a:rPr lang="en" sz="1200" dirty="0">
                <a:solidFill>
                  <a:srgbClr val="1F2328"/>
                </a:solidFill>
              </a:rPr>
              <a:t>FND-257C1100: No standard operating procedure existed for calibration and return-to-service of the high-pressure meters, including mandatory hydrotest to design pressure · L3 · rating 4</a:t>
            </a:r>
            <a:endParaRPr lang="en" sz="1200" dirty="0"/>
          </a:p>
          <a:p>
            <a:pPr>
              <a:spcAft>
                <a:spcPts val="0"/>
              </a:spcAft>
              <a:buNone/>
            </a:pPr>
            <a:r>
              <a:rPr lang="en" sz="1200" dirty="0">
                <a:solidFill>
                  <a:srgbClr val="1F2328"/>
                </a:solidFill>
              </a:rPr>
              <a:t>EVD-2894: document</a:t>
            </a:r>
            <a:endParaRPr lang="en" sz="12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pPr>
              <a:spcAft>
                <a:spcPts val="0"/>
              </a:spcAft>
              <a:buNone/>
            </a:pPr>
            <a:r>
              <a:rPr lang="en" sz="1200" dirty="0">
                <a:solidFill>
                  <a:srgbClr val="1F2328"/>
                </a:solidFill>
              </a:rPr>
              <a:t>1. Check the part against the groove and the specification before you fit it. If nobody can show a specification, stop and ask the supervisor.</a:t>
            </a:r>
            <a:endParaRPr lang="en" sz="1200" dirty="0"/>
          </a:p>
          <a:p>
            <a:pPr>
              <a:spcAft>
                <a:spcPts val="0"/>
              </a:spcAft>
              <a:buNone/>
            </a:pPr>
            <a:r>
              <a:rPr lang="en" sz="1200" dirty="0">
                <a:solidFill>
                  <a:srgbClr val="1F2328"/>
                </a:solidFill>
              </a:rPr>
              <a:t>Text: Check the part against the groove and the specification before you fit it. If nobody can show a specification, stop and ask the supervisor.</a:t>
            </a:r>
            <a:endParaRPr lang="en" sz="1200" dirty="0"/>
          </a:p>
          <a:p>
            <a:pPr>
              <a:spcAft>
                <a:spcPts val="0"/>
              </a:spcAft>
              <a:buNone/>
            </a:pPr>
            <a:r>
              <a:rPr lang="en" sz="1200" dirty="0">
                <a:solidFill>
                  <a:srgbClr val="1F2328"/>
                </a:solidFill>
              </a:rPr>
              <a:t>When: before fitting a seal or gasket on a pressure part</a:t>
            </a:r>
            <a:endParaRPr lang="en" sz="1200" dirty="0"/>
          </a:p>
          <a:p>
            <a:pPr>
              <a:spcAft>
                <a:spcPts val="0"/>
              </a:spcAft>
              <a:buNone/>
            </a:pPr>
            <a:r>
              <a:rPr lang="en" sz="1200" dirty="0">
                <a:solidFill>
                  <a:srgbClr val="1F2328"/>
                </a:solidFill>
              </a:rPr>
              <a:t>Cites: FND-89962239; EVD-8645</a:t>
            </a:r>
            <a:endParaRPr lang="en" sz="1200" dirty="0"/>
          </a:p>
          <a:p>
            <a:pPr>
              <a:spcAft>
                <a:spcPts val="0"/>
              </a:spcAft>
              <a:buNone/>
            </a:pPr>
            <a:endParaRPr lang="en" sz="1200" dirty="0"/>
          </a:p>
          <a:p>
            <a:pPr>
              <a:spcAft>
                <a:spcPts val="0"/>
              </a:spcAft>
              <a:buNone/>
            </a:pPr>
            <a:r>
              <a:rPr lang="en" sz="1200" dirty="0">
                <a:solidFill>
                  <a:srgbClr val="1F2328"/>
                </a:solidFill>
              </a:rPr>
              <a:t>2. Before you hand the equipment back, ask for the written test pressure and the witness, and write the test result on the job record; if no test was done, write that.</a:t>
            </a:r>
            <a:endParaRPr lang="en" sz="1200" dirty="0"/>
          </a:p>
          <a:p>
            <a:pPr>
              <a:spcAft>
                <a:spcPts val="0"/>
              </a:spcAft>
              <a:buNone/>
            </a:pPr>
            <a:r>
              <a:rPr lang="en" sz="1200" dirty="0">
                <a:solidFill>
                  <a:srgbClr val="1F2328"/>
                </a:solidFill>
              </a:rPr>
              <a:t>Hold point: yes</a:t>
            </a:r>
            <a:endParaRPr lang="en" sz="1200" dirty="0"/>
          </a:p>
          <a:p>
            <a:pPr>
              <a:spcAft>
                <a:spcPts val="0"/>
              </a:spcAft>
              <a:buNone/>
            </a:pPr>
            <a:r>
              <a:rPr lang="en" sz="1200" dirty="0">
                <a:solidFill>
                  <a:srgbClr val="1F2328"/>
                </a:solidFill>
              </a:rPr>
              <a:t>Text: Before you hand the equipment back, ask for the written test pressure and the witness, and write the test result on the job record; if no test was done, write that.</a:t>
            </a:r>
            <a:endParaRPr lang="en" sz="1200" dirty="0"/>
          </a:p>
          <a:p>
            <a:pPr>
              <a:spcAft>
                <a:spcPts val="0"/>
              </a:spcAft>
              <a:buNone/>
            </a:pPr>
            <a:r>
              <a:rPr lang="en" sz="1200" dirty="0">
                <a:solidFill>
                  <a:srgbClr val="1F2328"/>
                </a:solidFill>
              </a:rPr>
              <a:t>When: before return to service</a:t>
            </a:r>
            <a:endParaRPr lang="en" sz="1200" dirty="0"/>
          </a:p>
          <a:p>
            <a:pPr>
              <a:spcAft>
                <a:spcPts val="0"/>
              </a:spcAft>
              <a:buNone/>
            </a:pPr>
            <a:r>
              <a:rPr lang="en" sz="1200" dirty="0">
                <a:solidFill>
                  <a:srgbClr val="1F2328"/>
                </a:solidFill>
              </a:rPr>
              <a:t>Cites: FND-15279F97; EVD-2894</a:t>
            </a:r>
            <a:endParaRPr lang="en" sz="1200" dirty="0"/>
          </a:p>
          <a:p>
            <a:pPr>
              <a:spcAft>
                <a:spcPts val="0"/>
              </a:spcAft>
              <a:buNone/>
            </a:pPr>
            <a:endParaRPr lang="en" sz="1200" dirty="0"/>
          </a:p>
          <a:p>
            <a:pPr>
              <a:spcAft>
                <a:spcPts val="0"/>
              </a:spcAft>
              <a:buNone/>
            </a:pPr>
            <a:r>
              <a:rPr lang="en" sz="1200" dirty="0">
                <a:solidFill>
                  <a:srgbClr val="1F2328"/>
                </a:solidFill>
              </a:rPr>
              <a:t>3. Write "repeat failure" on the job record when you fix the same fault again, and tell the supervisor how often you have seen it.</a:t>
            </a:r>
            <a:endParaRPr lang="en" sz="1200" dirty="0"/>
          </a:p>
          <a:p>
            <a:pPr>
              <a:spcAft>
                <a:spcPts val="0"/>
              </a:spcAft>
              <a:buNone/>
            </a:pPr>
            <a:r>
              <a:rPr lang="en" sz="1200" dirty="0">
                <a:solidFill>
                  <a:srgbClr val="1F2328"/>
                </a:solidFill>
              </a:rPr>
              <a:t>Text: Write "repeat failure" on the job record when you fix the same fault again, and tell the supervisor how often you have seen it.</a:t>
            </a:r>
            <a:endParaRPr lang="en" sz="1200" dirty="0"/>
          </a:p>
          <a:p>
            <a:pPr>
              <a:spcAft>
                <a:spcPts val="0"/>
              </a:spcAft>
              <a:buNone/>
            </a:pPr>
            <a:r>
              <a:rPr lang="en" sz="1200" dirty="0">
                <a:solidFill>
                  <a:srgbClr val="1F2328"/>
                </a:solidFill>
              </a:rPr>
              <a:t>When: when a fault comes back</a:t>
            </a:r>
            <a:endParaRPr lang="en" sz="1200" dirty="0"/>
          </a:p>
          <a:p>
            <a:pPr>
              <a:spcAft>
                <a:spcPts val="0"/>
              </a:spcAft>
              <a:buNone/>
            </a:pPr>
            <a:r>
              <a:rPr lang="en" sz="1200" dirty="0">
                <a:solidFill>
                  <a:srgbClr val="1F2328"/>
                </a:solidFill>
              </a:rPr>
              <a:t>Cites: FND-69067A1C; EVD-1494</a:t>
            </a:r>
            <a:endParaRPr lang="en" sz="1200" dirty="0"/>
          </a:p>
          <a:p>
            <a:pPr>
              <a:spcAft>
                <a:spcPts val="0"/>
              </a:spcAft>
              <a:buNone/>
            </a:pPr>
            <a:endParaRPr lang="en" sz="1200" dirty="0"/>
          </a:p>
          <a:p>
            <a:pPr>
              <a:spcAft>
                <a:spcPts val="0"/>
              </a:spcAft>
              <a:buNone/>
            </a:pPr>
            <a:r>
              <a:rPr lang="en" sz="1200" dirty="0">
                <a:solidFill>
                  <a:srgbClr val="1F2328"/>
                </a:solidFill>
              </a:rPr>
              <a:t>Cited records:</a:t>
            </a:r>
            <a:endParaRPr lang="en" sz="1200" dirty="0"/>
          </a:p>
          <a:p>
            <a:pPr>
              <a:spcAft>
                <a:spcPts val="0"/>
              </a:spcAft>
              <a:buNone/>
            </a:pPr>
            <a:r>
              <a:rPr lang="en" sz="1200" dirty="0">
                <a:solidFill>
                  <a:srgbClr val="1F2328"/>
                </a:solidFill>
              </a:rPr>
              <a:t>FND-89962239: Gasket replacement using non-standard material - 18 Sep 2020 · L1 · rating 4</a:t>
            </a:r>
            <a:endParaRPr lang="en" sz="1200" dirty="0"/>
          </a:p>
          <a:p>
            <a:pPr>
              <a:spcAft>
                <a:spcPts val="0"/>
              </a:spcAft>
              <a:buNone/>
            </a:pPr>
            <a:r>
              <a:rPr lang="en" sz="1200" dirty="0">
                <a:solidFill>
                  <a:srgbClr val="1F2328"/>
                </a:solidFill>
              </a:rPr>
              <a:t>EVD-8645: document</a:t>
            </a:r>
            <a:endParaRPr lang="en" sz="1200" dirty="0"/>
          </a:p>
          <a:p>
            <a:pPr>
              <a:spcAft>
                <a:spcPts val="0"/>
              </a:spcAft>
              <a:buNone/>
            </a:pPr>
            <a:r>
              <a:rPr lang="en" sz="1200" dirty="0">
                <a:solidFill>
                  <a:srgbClr val="1F2328"/>
                </a:solidFill>
              </a:rPr>
              <a:t>FND-15279F97: Post-maintenance testing - 18 Sep 2020 gasket replacement · L1 · rating 4</a:t>
            </a:r>
            <a:endParaRPr lang="en" sz="1200" dirty="0"/>
          </a:p>
          <a:p>
            <a:pPr>
              <a:spcAft>
                <a:spcPts val="0"/>
              </a:spcAft>
              <a:buNone/>
            </a:pPr>
            <a:r>
              <a:rPr lang="en" sz="1200" dirty="0">
                <a:solidFill>
                  <a:srgbClr val="1F2328"/>
                </a:solidFill>
              </a:rPr>
              <a:t>EVD-2894: document</a:t>
            </a:r>
            <a:endParaRPr lang="en" sz="1200" dirty="0"/>
          </a:p>
          <a:p>
            <a:pPr>
              <a:spcAft>
                <a:spcPts val="0"/>
              </a:spcAft>
              <a:buNone/>
            </a:pPr>
            <a:r>
              <a:rPr lang="en" sz="1200" dirty="0">
                <a:solidFill>
                  <a:srgbClr val="1F2328"/>
                </a:solidFill>
              </a:rPr>
              <a:t>FND-69067A1C: Chronically failing meter 310FT01 kept in service across three gasket replacements in 22 months · L2 · rating 4</a:t>
            </a:r>
            <a:endParaRPr lang="en" sz="1200" dirty="0"/>
          </a:p>
          <a:p>
            <a:pPr>
              <a:spcAft>
                <a:spcPts val="0"/>
              </a:spcAft>
              <a:buNone/>
            </a:pPr>
            <a:r>
              <a:rPr lang="en" sz="1200" dirty="0">
                <a:solidFill>
                  <a:srgbClr val="1F2328"/>
                </a:solidFill>
              </a:rPr>
              <a:t>EVD-1494: document</a:t>
            </a:r>
            <a:endParaRPr lang="en" sz="12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pPr>
              <a:spcAft>
                <a:spcPts val="0"/>
              </a:spcAft>
              <a:buNone/>
            </a:pPr>
            <a:r>
              <a:rPr lang="en" sz="1200" dirty="0">
                <a:solidFill>
                  <a:srgbClr val="1F2328"/>
                </a:solidFill>
              </a:rPr>
              <a:t>1. Which pressure parts on our unit have no specification we can find?</a:t>
            </a:r>
            <a:endParaRPr lang="en" sz="1200" dirty="0"/>
          </a:p>
          <a:p>
            <a:pPr>
              <a:spcAft>
                <a:spcPts val="0"/>
              </a:spcAft>
              <a:buNone/>
            </a:pPr>
            <a:r>
              <a:rPr lang="en" sz="1200" dirty="0">
                <a:solidFill>
                  <a:srgbClr val="1F2328"/>
                </a:solidFill>
              </a:rPr>
              <a:t>Question: Which pressure parts on our unit have no specification we can find?</a:t>
            </a:r>
            <a:endParaRPr lang="en" sz="1200" dirty="0"/>
          </a:p>
          <a:p>
            <a:pPr>
              <a:spcAft>
                <a:spcPts val="0"/>
              </a:spcAft>
              <a:buNone/>
            </a:pPr>
            <a:r>
              <a:rPr lang="en" sz="1200" dirty="0">
                <a:solidFill>
                  <a:srgbClr val="1F2328"/>
                </a:solidFill>
              </a:rPr>
              <a:t>Why it matters: The seal on this meter had no specification on file, so a substitute became the normal part [FND-B356F15B; EVD-8645].</a:t>
            </a:r>
            <a:endParaRPr lang="en" sz="1200" dirty="0"/>
          </a:p>
          <a:p>
            <a:pPr>
              <a:spcAft>
                <a:spcPts val="0"/>
              </a:spcAft>
              <a:buNone/>
            </a:pPr>
            <a:r>
              <a:rPr lang="en" sz="1200" dirty="0">
                <a:solidFill>
                  <a:srgbClr val="1F2328"/>
                </a:solidFill>
              </a:rPr>
              <a:t>Answer: A good answer names the parts, where their specification should be kept, and who the crew asks when a spare differs from the original.</a:t>
            </a:r>
            <a:endParaRPr lang="en" sz="1200" dirty="0"/>
          </a:p>
          <a:p>
            <a:pPr>
              <a:spcAft>
                <a:spcPts val="0"/>
              </a:spcAft>
              <a:buNone/>
            </a:pPr>
            <a:r>
              <a:rPr lang="en" sz="1200" dirty="0">
                <a:solidFill>
                  <a:srgbClr val="1F2328"/>
                </a:solidFill>
              </a:rPr>
              <a:t>Cites: FND-B356F15B; EVD-8645</a:t>
            </a:r>
            <a:endParaRPr lang="en" sz="1200" dirty="0"/>
          </a:p>
          <a:p>
            <a:pPr>
              <a:spcAft>
                <a:spcPts val="0"/>
              </a:spcAft>
              <a:buNone/>
            </a:pPr>
            <a:endParaRPr lang="en" sz="1200" dirty="0"/>
          </a:p>
          <a:p>
            <a:pPr>
              <a:spcAft>
                <a:spcPts val="0"/>
              </a:spcAft>
              <a:buNone/>
            </a:pPr>
            <a:r>
              <a:rPr lang="en" sz="1200" dirty="0">
                <a:solidFill>
                  <a:srgbClr val="1F2328"/>
                </a:solidFill>
              </a:rPr>
              <a:t>2. What test proves a joint we have just made, and where is the result written?</a:t>
            </a:r>
            <a:endParaRPr lang="en" sz="1200" dirty="0"/>
          </a:p>
          <a:p>
            <a:pPr>
              <a:spcAft>
                <a:spcPts val="0"/>
              </a:spcAft>
              <a:buNone/>
            </a:pPr>
            <a:r>
              <a:rPr lang="en" sz="1200" dirty="0">
                <a:solidFill>
                  <a:srgbClr val="1F2328"/>
                </a:solidFill>
              </a:rPr>
              <a:t>Question: What test proves a joint we have just made, and where is the result written?</a:t>
            </a:r>
            <a:endParaRPr lang="en" sz="1200" dirty="0"/>
          </a:p>
          <a:p>
            <a:pPr>
              <a:spcAft>
                <a:spcPts val="0"/>
              </a:spcAft>
              <a:buNone/>
            </a:pPr>
            <a:r>
              <a:rPr lang="en" sz="1200" dirty="0">
                <a:solidFill>
                  <a:srgbClr val="1F2328"/>
                </a:solidFill>
              </a:rPr>
              <a:t>Why it matters: After the seal change the system was only brought to operating pressure, with no test to design pressure [FND-7C5ED5B3; EVD-2894].</a:t>
            </a:r>
            <a:endParaRPr lang="en" sz="1200" dirty="0"/>
          </a:p>
          <a:p>
            <a:pPr>
              <a:spcAft>
                <a:spcPts val="0"/>
              </a:spcAft>
              <a:buNone/>
            </a:pPr>
            <a:r>
              <a:rPr lang="en" sz="1200" dirty="0">
                <a:solidFill>
                  <a:srgbClr val="1F2328"/>
                </a:solidFill>
              </a:rPr>
              <a:t>Answer: A good answer gives the test, the test pressure, who witnesses it and where the result is recorded before operations accept the equipment.</a:t>
            </a:r>
            <a:endParaRPr lang="en" sz="1200" dirty="0"/>
          </a:p>
          <a:p>
            <a:pPr>
              <a:spcAft>
                <a:spcPts val="0"/>
              </a:spcAft>
              <a:buNone/>
            </a:pPr>
            <a:r>
              <a:rPr lang="en" sz="1200" dirty="0">
                <a:solidFill>
                  <a:srgbClr val="1F2328"/>
                </a:solidFill>
              </a:rPr>
              <a:t>Cites: FND-7C5ED5B3; EVD-2894</a:t>
            </a:r>
            <a:endParaRPr lang="en" sz="1200" dirty="0"/>
          </a:p>
          <a:p>
            <a:pPr>
              <a:spcAft>
                <a:spcPts val="0"/>
              </a:spcAft>
              <a:buNone/>
            </a:pPr>
            <a:endParaRPr lang="en" sz="1200" dirty="0"/>
          </a:p>
          <a:p>
            <a:pPr>
              <a:spcAft>
                <a:spcPts val="0"/>
              </a:spcAft>
              <a:buNone/>
            </a:pPr>
            <a:r>
              <a:rPr lang="en" sz="1200" dirty="0">
                <a:solidFill>
                  <a:srgbClr val="1F2328"/>
                </a:solidFill>
              </a:rPr>
              <a:t>3. Which items do we keep fixing, and who decides whether we repair again or look for the cause?</a:t>
            </a:r>
            <a:endParaRPr lang="en" sz="1200" dirty="0"/>
          </a:p>
          <a:p>
            <a:pPr>
              <a:spcAft>
                <a:spcPts val="0"/>
              </a:spcAft>
              <a:buNone/>
            </a:pPr>
            <a:r>
              <a:rPr lang="en" sz="1200" dirty="0">
                <a:solidFill>
                  <a:srgbClr val="1F2328"/>
                </a:solidFill>
              </a:rPr>
              <a:t>Question: Which items do we keep fixing, and who decides whether we repair again or look for the cause?</a:t>
            </a:r>
            <a:endParaRPr lang="en" sz="1200" dirty="0"/>
          </a:p>
          <a:p>
            <a:pPr>
              <a:spcAft>
                <a:spcPts val="0"/>
              </a:spcAft>
              <a:buNone/>
            </a:pPr>
            <a:r>
              <a:rPr lang="en" sz="1200" dirty="0">
                <a:solidFill>
                  <a:srgbClr val="1F2328"/>
                </a:solidFill>
              </a:rPr>
              <a:t>Why it matters: Repeat seal failures on this meter were handled as routine repairs [FND-82FC718D; EVD-1494].</a:t>
            </a:r>
            <a:endParaRPr lang="en" sz="1200" dirty="0"/>
          </a:p>
          <a:p>
            <a:pPr>
              <a:spcAft>
                <a:spcPts val="0"/>
              </a:spcAft>
              <a:buNone/>
            </a:pPr>
            <a:r>
              <a:rPr lang="en" sz="1200" dirty="0">
                <a:solidFill>
                  <a:srgbClr val="1F2328"/>
                </a:solidFill>
              </a:rPr>
              <a:t>Answer: A good answer names the items, says where a repeat would show on the job record, and names the role that starts a cause review.</a:t>
            </a:r>
            <a:endParaRPr lang="en" sz="1200" dirty="0"/>
          </a:p>
          <a:p>
            <a:pPr>
              <a:spcAft>
                <a:spcPts val="0"/>
              </a:spcAft>
              <a:buNone/>
            </a:pPr>
            <a:r>
              <a:rPr lang="en" sz="1200" dirty="0">
                <a:solidFill>
                  <a:srgbClr val="1F2328"/>
                </a:solidFill>
              </a:rPr>
              <a:t>Cites: FND-82FC718D; EVD-1494</a:t>
            </a:r>
            <a:endParaRPr lang="en" sz="1200" dirty="0"/>
          </a:p>
          <a:p>
            <a:pPr>
              <a:spcAft>
                <a:spcPts val="0"/>
              </a:spcAft>
              <a:buNone/>
            </a:pPr>
            <a:endParaRPr lang="en" sz="1200" dirty="0"/>
          </a:p>
          <a:p>
            <a:pPr>
              <a:spcAft>
                <a:spcPts val="0"/>
              </a:spcAft>
              <a:buNone/>
            </a:pPr>
            <a:r>
              <a:rPr lang="en" sz="1200" dirty="0">
                <a:solidFill>
                  <a:srgbClr val="1F2328"/>
                </a:solidFill>
              </a:rPr>
              <a:t>Cited records:</a:t>
            </a:r>
            <a:endParaRPr lang="en" sz="1200" dirty="0"/>
          </a:p>
          <a:p>
            <a:pPr>
              <a:spcAft>
                <a:spcPts val="0"/>
              </a:spcAft>
              <a:buNone/>
            </a:pPr>
            <a:r>
              <a:rPr lang="en" sz="1200" dirty="0">
                <a:solidFill>
                  <a:srgbClr val="1F2328"/>
                </a:solidFill>
              </a:rPr>
              <a:t>FND-B356F15B: Gasket Replacement Procedure - Material Specification Bypass · L1 · rating 4</a:t>
            </a:r>
            <a:endParaRPr lang="en" sz="1200" dirty="0"/>
          </a:p>
          <a:p>
            <a:pPr>
              <a:spcAft>
                <a:spcPts val="0"/>
              </a:spcAft>
              <a:buNone/>
            </a:pPr>
            <a:r>
              <a:rPr lang="en" sz="1200" dirty="0">
                <a:solidFill>
                  <a:srgbClr val="1F2328"/>
                </a:solidFill>
              </a:rPr>
              <a:t>EVD-8645: document</a:t>
            </a:r>
            <a:endParaRPr lang="en" sz="1200" dirty="0"/>
          </a:p>
          <a:p>
            <a:pPr>
              <a:spcAft>
                <a:spcPts val="0"/>
              </a:spcAft>
              <a:buNone/>
            </a:pPr>
            <a:r>
              <a:rPr lang="en" sz="1200" dirty="0">
                <a:solidFill>
                  <a:srgbClr val="1F2328"/>
                </a:solidFill>
              </a:rPr>
              <a:t>FND-7C5ED5B3: Maintenance Team - Hydrostatic Test Requirement After Gasket Replacement · L1 · rating 4</a:t>
            </a:r>
            <a:endParaRPr lang="en" sz="1200" dirty="0"/>
          </a:p>
          <a:p>
            <a:pPr>
              <a:spcAft>
                <a:spcPts val="0"/>
              </a:spcAft>
              <a:buNone/>
            </a:pPr>
            <a:r>
              <a:rPr lang="en" sz="1200" dirty="0">
                <a:solidFill>
                  <a:srgbClr val="1F2328"/>
                </a:solidFill>
              </a:rPr>
              <a:t>EVD-2894: document</a:t>
            </a:r>
            <a:endParaRPr lang="en" sz="1200" dirty="0"/>
          </a:p>
          <a:p>
            <a:pPr>
              <a:spcAft>
                <a:spcPts val="0"/>
              </a:spcAft>
              <a:buNone/>
            </a:pPr>
            <a:r>
              <a:rPr lang="en" sz="1200" dirty="0">
                <a:solidFill>
                  <a:srgbClr val="1F2328"/>
                </a:solidFill>
              </a:rPr>
              <a:t>FND-82FC718D: Recurring gasket failures on 310FT01 treated as routine maintenance instead of reliability warning · L4 · rating 4</a:t>
            </a:r>
            <a:endParaRPr lang="en" sz="1200" dirty="0"/>
          </a:p>
          <a:p>
            <a:pPr>
              <a:spcAft>
                <a:spcPts val="0"/>
              </a:spcAft>
              <a:buNone/>
            </a:pPr>
            <a:r>
              <a:rPr lang="en" sz="1200" dirty="0">
                <a:solidFill>
                  <a:srgbClr val="1F2328"/>
                </a:solidFill>
              </a:rPr>
              <a:t>EVD-1494: document</a:t>
            </a:r>
            <a:endParaRPr lang="en" sz="120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pPr>
              <a:spcAft>
                <a:spcPts val="0"/>
              </a:spcAft>
              <a:buNone/>
            </a:pPr>
            <a:r>
              <a:rPr lang="en" sz="1200" dirty="0">
                <a:solidFill>
                  <a:srgbClr val="1F2328"/>
                </a:solidFill>
              </a:rPr>
              <a:t>1. Test what you disturb</a:t>
            </a:r>
            <a:endParaRPr lang="en" sz="1200" dirty="0"/>
          </a:p>
          <a:p>
            <a:pPr>
              <a:spcAft>
                <a:spcPts val="0"/>
              </a:spcAft>
              <a:buNone/>
            </a:pPr>
            <a:r>
              <a:rPr lang="en" sz="1200" dirty="0">
                <a:solidFill>
                  <a:srgbClr val="1F2328"/>
                </a:solidFill>
              </a:rPr>
              <a:t>Title: Test what you disturb</a:t>
            </a:r>
            <a:endParaRPr lang="en" sz="1200" dirty="0"/>
          </a:p>
          <a:p>
            <a:pPr>
              <a:spcAft>
                <a:spcPts val="0"/>
              </a:spcAft>
              <a:buNone/>
            </a:pPr>
            <a:r>
              <a:rPr lang="en" sz="1200" dirty="0">
                <a:solidFill>
                  <a:srgbClr val="1F2328"/>
                </a:solidFill>
              </a:rPr>
              <a:t>Channel: video</a:t>
            </a:r>
            <a:endParaRPr lang="en" sz="1200" dirty="0"/>
          </a:p>
          <a:p>
            <a:pPr>
              <a:spcAft>
                <a:spcPts val="0"/>
              </a:spcAft>
              <a:buNone/>
            </a:pPr>
            <a:r>
              <a:rPr lang="en" sz="1200" dirty="0">
                <a:solidFill>
                  <a:srgbClr val="1F2328"/>
                </a:solidFill>
              </a:rPr>
              <a:t>Purpose: A one-minute clip to open the session before the questions.</a:t>
            </a:r>
            <a:endParaRPr lang="en" sz="1200" dirty="0"/>
          </a:p>
          <a:p>
            <a:pPr>
              <a:spcAft>
                <a:spcPts val="0"/>
              </a:spcAft>
              <a:buNone/>
            </a:pPr>
            <a:r>
              <a:rPr lang="en" sz="1200" dirty="0">
                <a:solidFill>
                  <a:srgbClr val="1F2328"/>
                </a:solidFill>
              </a:rPr>
              <a:t>Segments:</a:t>
            </a:r>
            <a:endParaRPr lang="en" sz="1200" dirty="0"/>
          </a:p>
          <a:p>
            <a:pPr>
              <a:spcAft>
                <a:spcPts val="0"/>
              </a:spcAft>
              <a:buNone/>
            </a:pPr>
            <a:r>
              <a:rPr lang="en" sz="1200" dirty="0">
                <a:solidFill>
                  <a:srgbClr val="1F2328"/>
                </a:solidFill>
              </a:rPr>
              <a:t>- {"visual": "A metering skid, and an old meter with its retaining plate off.", "narration": "This condensate meter dated from 1986. Its seal had been changed three times in under two years.", "seconds": 15, "on_screen": "Same meter, third seal change", "cites": ["FND-69067A1C", "EVD-1494"]}</a:t>
            </a:r>
            <a:endParaRPr lang="en" sz="1200" dirty="0"/>
          </a:p>
          <a:p>
            <a:pPr>
              <a:spcAft>
                <a:spcPts val="0"/>
              </a:spcAft>
              <a:buNone/>
            </a:pPr>
            <a:r>
              <a:rPr lang="en" sz="1200" dirty="0">
                <a:solidFill>
                  <a:srgbClr val="1F2328"/>
                </a:solidFill>
              </a:rPr>
              <a:t>- {"visual": "A round O-ring held next to a rectangular groove.", "narration": "The maker's specification was lost, so a locally bought O-ring was fitted, as usual.", "seconds": 15, "on_screen": "No specification, no fit", "cites": ["FND-8C0BB623", "EVD-8645"]}</a:t>
            </a:r>
            <a:endParaRPr lang="en" sz="1200" dirty="0"/>
          </a:p>
          <a:p>
            <a:pPr>
              <a:spcAft>
                <a:spcPts val="0"/>
              </a:spcAft>
              <a:buNone/>
            </a:pPr>
            <a:r>
              <a:rPr lang="en" sz="1200" dirty="0">
                <a:solidFill>
                  <a:srgbClr val="1F2328"/>
                </a:solidFill>
              </a:rPr>
              <a:t>- {"visual": "A pressure gauge rising to its normal operating mark and stopping there.", "narration": "The joint was held at operating pressure and handed back. It was never tested to design pressure.", "seconds": 15, "on_screen": "Test to the written pressure", "cites": ["FND-212DC9B7", "EVD-2894"]}</a:t>
            </a:r>
            <a:endParaRPr lang="en" sz="1200" dirty="0"/>
          </a:p>
          <a:p>
            <a:pPr>
              <a:spcAft>
                <a:spcPts val="0"/>
              </a:spcAft>
              <a:buNone/>
            </a:pPr>
            <a:r>
              <a:rPr lang="en" sz="1200" dirty="0">
                <a:solidFill>
                  <a:srgbClr val="1F2328"/>
                </a:solidFill>
              </a:rPr>
              <a:t>- {"visual": "A crew member writes a test result on a job record and shows it to the supervisor.", "narration": "Six days later that seal was the probable source of a release that caught fire. Before you hand back, ask for the test.", "seconds": 15, "on_screen": "No recorded test, no hand-back", "cites": ["FND-15279F97", "EVD-2894"]}</a:t>
            </a:r>
            <a:endParaRPr lang="en" sz="1200" dirty="0"/>
          </a:p>
          <a:p>
            <a:pPr>
              <a:spcAft>
                <a:spcPts val="0"/>
              </a:spcAft>
              <a:buNone/>
            </a:pPr>
            <a:r>
              <a:rPr lang="en" sz="1200" dirty="0">
                <a:solidFill>
                  <a:srgbClr val="1F2328"/>
                </a:solidFill>
              </a:rPr>
              <a:t>Cites: FND-8C0BB623; FND-212DC9B7; FND-69067A1C; EVD-1494; EVD-8645; EVD-2894; FND-15279F97</a:t>
            </a:r>
            <a:endParaRPr lang="en" sz="1200" dirty="0"/>
          </a:p>
          <a:p>
            <a:pPr>
              <a:spcAft>
                <a:spcPts val="0"/>
              </a:spcAft>
              <a:buNone/>
            </a:pPr>
            <a:endParaRPr lang="en" sz="1200" dirty="0"/>
          </a:p>
          <a:p>
            <a:pPr>
              <a:spcAft>
                <a:spcPts val="0"/>
              </a:spcAft>
              <a:buNone/>
            </a:pPr>
            <a:r>
              <a:rPr lang="en" sz="1200" dirty="0">
                <a:solidFill>
                  <a:srgbClr val="1F2328"/>
                </a:solidFill>
              </a:rPr>
              <a:t>Cited records:</a:t>
            </a:r>
            <a:endParaRPr lang="en" sz="1200" dirty="0"/>
          </a:p>
          <a:p>
            <a:pPr>
              <a:spcAft>
                <a:spcPts val="0"/>
              </a:spcAft>
              <a:buNone/>
            </a:pPr>
            <a:r>
              <a:rPr lang="en" sz="1200" dirty="0">
                <a:solidFill>
                  <a:srgbClr val="1F2328"/>
                </a:solidFill>
              </a:rPr>
              <a:t>FND-8C0BB623: Maintenance Team - Gasket Replacement Without OEM Spec · L1 · rating 4</a:t>
            </a:r>
            <a:endParaRPr lang="en" sz="1200" dirty="0"/>
          </a:p>
          <a:p>
            <a:pPr>
              <a:spcAft>
                <a:spcPts val="0"/>
              </a:spcAft>
              <a:buNone/>
            </a:pPr>
            <a:r>
              <a:rPr lang="en" sz="1200" dirty="0">
                <a:solidFill>
                  <a:srgbClr val="1F2328"/>
                </a:solidFill>
              </a:rPr>
              <a:t>FND-212DC9B7: Maintenance Team - No Hydrostatic Test After Gasket Replacement · L1 · rating 4</a:t>
            </a:r>
            <a:endParaRPr lang="en" sz="1200" dirty="0"/>
          </a:p>
          <a:p>
            <a:pPr>
              <a:spcAft>
                <a:spcPts val="0"/>
              </a:spcAft>
              <a:buNone/>
            </a:pPr>
            <a:r>
              <a:rPr lang="en" sz="1200" dirty="0">
                <a:solidFill>
                  <a:srgbClr val="1F2328"/>
                </a:solidFill>
              </a:rPr>
              <a:t>FND-69067A1C: Chronically failing meter 310FT01 kept in service across three gasket replacements in 22 months · L2 · rating 4</a:t>
            </a:r>
            <a:endParaRPr lang="en" sz="1200" dirty="0"/>
          </a:p>
          <a:p>
            <a:pPr>
              <a:spcAft>
                <a:spcPts val="0"/>
              </a:spcAft>
              <a:buNone/>
            </a:pPr>
            <a:r>
              <a:rPr lang="en" sz="1200" dirty="0">
                <a:solidFill>
                  <a:srgbClr val="1F2328"/>
                </a:solidFill>
              </a:rPr>
              <a:t>EVD-1494: document</a:t>
            </a:r>
            <a:endParaRPr lang="en" sz="1200" dirty="0"/>
          </a:p>
          <a:p>
            <a:pPr>
              <a:spcAft>
                <a:spcPts val="0"/>
              </a:spcAft>
              <a:buNone/>
            </a:pPr>
            <a:r>
              <a:rPr lang="en" sz="1200" dirty="0">
                <a:solidFill>
                  <a:srgbClr val="1F2328"/>
                </a:solidFill>
              </a:rPr>
              <a:t>EVD-8645: document</a:t>
            </a:r>
            <a:endParaRPr lang="en" sz="1200" dirty="0"/>
          </a:p>
          <a:p>
            <a:pPr>
              <a:spcAft>
                <a:spcPts val="0"/>
              </a:spcAft>
              <a:buNone/>
            </a:pPr>
            <a:r>
              <a:rPr lang="en" sz="1200" dirty="0">
                <a:solidFill>
                  <a:srgbClr val="1F2328"/>
                </a:solidFill>
              </a:rPr>
              <a:t>EVD-2894: document</a:t>
            </a:r>
            <a:endParaRPr lang="en" sz="1200" dirty="0"/>
          </a:p>
          <a:p>
            <a:pPr>
              <a:spcAft>
                <a:spcPts val="0"/>
              </a:spcAft>
              <a:buNone/>
            </a:pPr>
            <a:r>
              <a:rPr lang="en" sz="1200" dirty="0">
                <a:solidFill>
                  <a:srgbClr val="1F2328"/>
                </a:solidFill>
              </a:rPr>
              <a:t>FND-15279F97: Post-maintenance testing - 18 Sep 2020 gasket replacement · L1 · rating 4</a:t>
            </a:r>
            <a:endParaRPr lang="en" sz="120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pPr>
              <a:spcAft>
                <a:spcPts val="0"/>
              </a:spcAft>
              <a:buNone/>
            </a:pPr>
            <a:r>
              <a:rPr lang="en" sz="1200" dirty="0">
                <a:solidFill>
                  <a:srgbClr val="1F2328"/>
                </a:solidFill>
              </a:rPr>
              <a:t>This pack cites 8 of 128 relevant findings.</a:t>
            </a:r>
            <a:endParaRPr lang="en" sz="1200" dirty="0"/>
          </a:p>
          <a:p>
            <a:pPr>
              <a:spcAft>
                <a:spcPts val="0"/>
              </a:spcAft>
              <a:buNone/>
            </a:pPr>
            <a:r>
              <a:rPr lang="en" sz="1200" dirty="0">
                <a:solidFill>
                  <a:srgbClr val="1F2328"/>
                </a:solidFill>
              </a:rPr>
              <a:t>8 of 49 top-rated relevant findings cited.</a:t>
            </a:r>
            <a:endParaRPr lang="en" sz="1200" dirty="0"/>
          </a:p>
          <a:p>
            <a:pPr>
              <a:spcAft>
                <a:spcPts val="0"/>
              </a:spcAft>
              <a:buNone/>
            </a:pPr>
            <a:r>
              <a:rPr lang="en" sz="1200" dirty="0">
                <a:solidFill>
                  <a:srgbClr val="1F2328"/>
                </a:solidFill>
              </a:rPr>
              <a:t>Learning purposes: not a statutory document. Derived from a ProbeMatrix investigation export; learnings are evidence-linked but should be validated by the organisation before adoption. Draft learnings: the investigation status is in progress. · Learnings drafted by an AI agent from AI-assisted findings</a:t>
            </a:r>
            <a:endParaRPr lang="en" sz="1200" dirty="0"/>
          </a:p>
          <a:p>
            <a:pPr>
              <a:spcAft>
                <a:spcPts val="0"/>
              </a:spcAft>
              <a:buNone/>
            </a:pPr>
            <a:r>
              <a:rPr lang="en" sz="1200" dirty="0">
                <a:solidFill>
                  <a:srgbClr val="1F2328"/>
                </a:solidFill>
              </a:rPr>
              <a:t>Generated with ProbeMatrix Learnings Coach v2.0.0a8 (open source, MIT) from a ProbeMatrix four-level human-factors investigation. ProbeMatrix by Eyekyam: ashley@eyekyam.com</a:t>
            </a:r>
            <a:endParaRPr lang="en" sz="1200" dirty="0"/>
          </a:p>
          <a:p>
            <a:pPr>
              <a:spcAft>
                <a:spcPts val="0"/>
              </a:spcAft>
              <a:buNone/>
            </a:pPr>
            <a:endParaRPr lang="en" sz="1200" dirty="0"/>
          </a:p>
          <a:p>
            <a:pPr>
              <a:spcAft>
                <a:spcPts val="0"/>
              </a:spcAft>
              <a:buNone/>
            </a:pPr>
            <a:r>
              <a:rPr lang="en" sz="1200" dirty="0">
                <a:solidFill>
                  <a:srgbClr val="1F2328"/>
                </a:solidFill>
              </a:rPr>
              <a:t>Limits of this pack:</a:t>
            </a:r>
            <a:endParaRPr lang="en" sz="1200" dirty="0"/>
          </a:p>
          <a:p>
            <a:pPr>
              <a:spcAft>
                <a:spcPts val="0"/>
              </a:spcAft>
              <a:buNone/>
            </a:pPr>
            <a:r>
              <a:rPr lang="en" sz="1200" dirty="0">
                <a:solidFill>
                  <a:srgbClr val="1F2328"/>
                </a:solidFill>
              </a:rPr>
              <a:t>- This session is built from the frontline Learning Cards for LR-01, LR-02 and LR-05 and uses the same story; the cards are what the crew keep afterwards.</a:t>
            </a:r>
            <a:endParaRPr lang="en" sz="1200" dirty="0"/>
          </a:p>
          <a:p>
            <a:pPr>
              <a:spcAft>
                <a:spcPts val="0"/>
              </a:spcAft>
              <a:buNone/>
            </a:pPr>
            <a:r>
              <a:rPr lang="en" sz="1200" dirty="0">
                <a:solidFill>
                  <a:srgbClr val="1F2328"/>
                </a:solidFill>
              </a:rPr>
              <a:t>- The organisation's fixes (re-establishing the specification, a return-to-service procedure, a repeat-failure trigger) are for supervisor-coach and manager-coach; they are mentioned here only so crews recognise the trap.</a:t>
            </a:r>
            <a:endParaRPr lang="en" sz="12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marL="0" algn="l" defTabSz="914400" eaLnBrk="1" hangingPunct="1">
        <a:defRPr sz="3200" kern="1200">
          <a:solidFill>
            <a:schemeClr val="tx1"/>
          </a:solidFill>
          <a:latin typeface="+mn-lt"/>
          <a:ea typeface="+mn-ea"/>
          <a:cs typeface="+mn-cs"/>
        </a:defRPr>
      </a:lvl1pPr>
    </p:titleStyle>
    <p:bodyStyle>
      <a:lvl1pPr marL="0" algn="l" defTabSz="914400" eaLnBrk="1" hangingPunct="1">
        <a:defRPr sz="1800" kern="1200">
          <a:solidFill>
            <a:schemeClr val="tx1"/>
          </a:solidFill>
          <a:latin typeface="+mn-lt"/>
          <a:ea typeface="+mn-ea"/>
          <a:cs typeface="+mn-cs"/>
        </a:defRPr>
      </a:lvl1pPr>
    </p:bodyStyle>
    <p:otherStyle>
      <a:lvl1pPr marL="0" algn="l" defTabSz="914400" eaLnBrk="1" hangingPunct="1">
        <a:defRPr sz="1800" kern="1200">
          <a:solidFill>
            <a:schemeClr val="tx1"/>
          </a:solidFill>
          <a:latin typeface="+mn-lt"/>
          <a:ea typeface="+mn-ea"/>
          <a:cs typeface="+mn-cs"/>
        </a:defRPr>
      </a:lvl1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57200" y="1188720"/>
            <a:ext cx="11277600" cy="1554480"/>
          </a:xfrm>
          <a:prstGeom prst="rect">
            <a:avLst/>
          </a:prstGeom>
          <a:noFill/>
          <a:ln>
            <a:noFill/>
          </a:ln>
        </p:spPr>
        <p:txBody>
          <a:bodyPr wrap="square" lIns="91440" tIns="45720" rIns="91440" bIns="45720" anchor="b" rtlCol="0">
            <a:normAutofit/>
          </a:bodyPr>
          <a:lstStyle/>
          <a:p>
            <a:pPr algn="ctr">
              <a:spcAft>
                <a:spcPts val="0"/>
              </a:spcAft>
              <a:buNone/>
            </a:pPr>
            <a:r>
              <a:rPr lang="en" sz="4000" b="1" dirty="0">
                <a:solidFill>
                  <a:srgbClr val="0077B6"/>
                </a:solidFill>
              </a:rPr>
              <a:t>Safety Moment: Test what you disturb (Gas terminal release and fire, 2020)</a:t>
            </a:r>
            <a:endParaRPr lang="en" sz="4000" dirty="0"/>
          </a:p>
        </p:txBody>
      </p:sp>
      <p:sp>
        <p:nvSpPr>
          <p:cNvPr id="3" name="Body"/>
          <p:cNvSpPr txBox="1"/>
          <p:nvPr/>
        </p:nvSpPr>
        <p:spPr>
          <a:xfrm>
            <a:off x="457200" y="2834640"/>
            <a:ext cx="11277600" cy="3246120"/>
          </a:xfrm>
          <a:prstGeom prst="rect">
            <a:avLst/>
          </a:prstGeom>
          <a:noFill/>
          <a:ln>
            <a:noFill/>
          </a:ln>
        </p:spPr>
        <p:txBody>
          <a:bodyPr wrap="square" lIns="91440" tIns="45720" rIns="91440" bIns="45720" anchor="t" rtlCol="0">
            <a:normAutofit/>
          </a:bodyPr>
          <a:lstStyle/>
          <a:p>
            <a:pPr>
              <a:spcAft>
                <a:spcPts val="600"/>
              </a:spcAft>
              <a:buNone/>
            </a:pPr>
            <a:r>
              <a:rPr lang="en" sz="1800" dirty="0">
                <a:solidFill>
                  <a:srgbClr val="1F2328"/>
                </a:solidFill>
              </a:rPr>
              <a:t>Audience: Session leaders (T2): maintenance and shift supervisors and trainers running a ten-minute session for maintenance and instrument crews (T1)</a:t>
            </a:r>
            <a:endParaRPr lang="en" sz="1800" dirty="0"/>
          </a:p>
          <a:p>
            <a:pPr>
              <a:spcAft>
                <a:spcPts val="600"/>
              </a:spcAft>
              <a:buNone/>
            </a:pPr>
            <a:r>
              <a:rPr lang="en" sz="1800" dirty="0">
                <a:solidFill>
                  <a:srgbClr val="1F2328"/>
                </a:solidFill>
              </a:rPr>
              <a:t>Incident: Hazira gas terminal condensate release and fire · 2020-09-24</a:t>
            </a:r>
            <a:endParaRPr lang="en" sz="1800" dirty="0"/>
          </a:p>
          <a:p>
            <a:pPr>
              <a:spcAft>
                <a:spcPts val="300"/>
              </a:spcAft>
              <a:buNone/>
            </a:pPr>
            <a:r>
              <a:rPr lang="en" sz="1400" dirty="0">
                <a:solidFill>
                  <a:srgbClr val="57606A"/>
                </a:solidFill>
              </a:rPr>
              <a:t>Learning purposes: not a statutory document. Derived from a ProbeMatrix investigation export; learnings are evidence-linked but should be validated by the organisation before adoption. Draft learnings: the investigation status is in progress. · Learnings drafted by an AI agent from AI-assisted findings</a:t>
            </a:r>
            <a:endParaRPr lang="en" sz="1400" dirty="0"/>
          </a:p>
          <a:p>
            <a:pPr>
              <a:spcAft>
                <a:spcPts val="300"/>
              </a:spcAft>
              <a:buNone/>
            </a:pPr>
            <a:r>
              <a:rPr lang="en" sz="1400" dirty="0">
                <a:solidFill>
                  <a:srgbClr val="57606A"/>
                </a:solidFill>
              </a:rPr>
              <a:t>DRAFT</a:t>
            </a:r>
            <a:endParaRPr lang="en" sz="1400" dirty="0"/>
          </a:p>
          <a:p>
            <a:pPr>
              <a:spcAft>
                <a:spcPts val="300"/>
              </a:spcAft>
              <a:buNone/>
            </a:pPr>
            <a:r>
              <a:rPr lang="en" sz="1400" dirty="0">
                <a:solidFill>
                  <a:srgbClr val="57606A"/>
                </a:solidFill>
              </a:rPr>
              <a:t>Review: draft · Classification: internal · Version 1.0</a:t>
            </a:r>
            <a:endParaRPr lang="en" sz="1400" dirty="0"/>
          </a:p>
          <a:p>
            <a:pPr>
              <a:spcAft>
                <a:spcPts val="300"/>
              </a:spcAft>
              <a:buNone/>
            </a:pPr>
            <a:r>
              <a:rPr lang="en" sz="1400" dirty="0">
                <a:solidFill>
                  <a:srgbClr val="57606A"/>
                </a:solidFill>
              </a:rPr>
              <a:t>Draft because: the investigation status is in progress; no finding is marked as edited by a person</a:t>
            </a:r>
            <a:endParaRPr lang="en" sz="1400" dirty="0"/>
          </a:p>
        </p:txBody>
      </p:sp>
      <p:sp>
        <p:nvSpPr>
          <p:cNvPr id="4" name="Footer"/>
          <p:cNvSpPr txBox="1"/>
          <p:nvPr/>
        </p:nvSpPr>
        <p:spPr>
          <a:xfrm>
            <a:off x="457200" y="6172200"/>
            <a:ext cx="11277600" cy="548640"/>
          </a:xfrm>
          <a:prstGeom prst="rect">
            <a:avLst/>
          </a:prstGeom>
          <a:noFill/>
          <a:ln>
            <a:noFill/>
          </a:ln>
        </p:spPr>
        <p:txBody>
          <a:bodyPr wrap="square" lIns="0" tIns="0" rIns="0" bIns="0" anchor="b" rtlCol="0">
            <a:noAutofit/>
          </a:bodyPr>
          <a:lstStyle/>
          <a:p>
            <a:pPr>
              <a:spcAft>
                <a:spcPts val="0"/>
              </a:spcAft>
              <a:buNone/>
            </a:pPr>
            <a:r>
              <a:rPr lang="en" sz="900" dirty="0">
                <a:solidFill>
                  <a:srgbClr val="57606A"/>
                </a:solidFill>
              </a:rPr>
              <a:t>Learning purposes: not a statutory document · Generated with ProbeMatrix Learnings Coach v2.0.0a8 (open source, MIT) from a ProbeMatrix four-level human-factors investigation. ProbeMatrix by Eyekyam: ashley@eyekyam.com</a:t>
            </a:r>
            <a:endParaRPr lang="en" sz="900" dirty="0"/>
          </a:p>
        </p:txBody>
      </p:sp>
      <p:sp>
        <p:nvSpPr>
          <p:cNvPr id="5" name="Draft"/>
          <p:cNvSpPr txBox="1"/>
          <p:nvPr/>
        </p:nvSpPr>
        <p:spPr>
          <a:xfrm>
            <a:off x="10271760" y="365760"/>
            <a:ext cx="1463040" cy="457200"/>
          </a:xfrm>
          <a:prstGeom prst="rect">
            <a:avLst/>
          </a:prstGeom>
          <a:noFill/>
          <a:ln w="19050">
            <a:solidFill>
              <a:srgbClr val="C2410C"/>
            </a:solidFill>
          </a:ln>
        </p:spPr>
        <p:txBody>
          <a:bodyPr wrap="square" lIns="91440" tIns="45720" rIns="91440" bIns="45720" anchor="ctr" rtlCol="0">
            <a:noAutofit/>
          </a:bodyPr>
          <a:lstStyle/>
          <a:p>
            <a:pPr algn="ctr">
              <a:spcAft>
                <a:spcPts val="0"/>
              </a:spcAft>
              <a:buNone/>
            </a:pPr>
            <a:r>
              <a:rPr lang="en" sz="2000" b="1" dirty="0">
                <a:solidFill>
                  <a:srgbClr val="C2410C"/>
                </a:solidFill>
              </a:rPr>
              <a:t>DRAFT</a:t>
            </a:r>
            <a:endParaRPr lang="en"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57200" y="274320"/>
            <a:ext cx="9631680" cy="868680"/>
          </a:xfrm>
          <a:prstGeom prst="rect">
            <a:avLst/>
          </a:prstGeom>
          <a:noFill/>
          <a:ln>
            <a:noFill/>
          </a:ln>
        </p:spPr>
        <p:txBody>
          <a:bodyPr wrap="square" lIns="91440" tIns="45720" rIns="91440" bIns="45720" anchor="ctr" rtlCol="0">
            <a:normAutofit/>
          </a:bodyPr>
          <a:lstStyle/>
          <a:p>
            <a:pPr>
              <a:spcAft>
                <a:spcPts val="0"/>
              </a:spcAft>
              <a:buNone/>
            </a:pPr>
            <a:r>
              <a:rPr lang="en" sz="2800" b="1" dirty="0">
                <a:solidFill>
                  <a:srgbClr val="0077B6"/>
                </a:solidFill>
              </a:rPr>
              <a:t>Bottom line</a:t>
            </a:r>
            <a:endParaRPr lang="en" sz="2800" dirty="0"/>
          </a:p>
        </p:txBody>
      </p:sp>
      <p:sp>
        <p:nvSpPr>
          <p:cNvPr id="3" name="Body"/>
          <p:cNvSpPr txBox="1"/>
          <p:nvPr/>
        </p:nvSpPr>
        <p:spPr>
          <a:xfrm>
            <a:off x="457200" y="1234440"/>
            <a:ext cx="11277600" cy="4846320"/>
          </a:xfrm>
          <a:prstGeom prst="rect">
            <a:avLst/>
          </a:prstGeom>
          <a:noFill/>
          <a:ln>
            <a:noFill/>
          </a:ln>
        </p:spPr>
        <p:txBody>
          <a:bodyPr wrap="square" lIns="91440" tIns="45720" rIns="91440" bIns="45720" anchor="t" rtlCol="0">
            <a:normAutofit/>
          </a:bodyPr>
          <a:lstStyle/>
          <a:p>
            <a:pPr marL="342900" indent="-342900">
              <a:spcAft>
                <a:spcPts val="600"/>
              </a:spcAft>
              <a:buFont typeface="Arial"/>
              <a:buChar char="•"/>
            </a:pPr>
            <a:r>
              <a:rPr lang="en" sz="1800" dirty="0">
                <a:solidFill>
                  <a:srgbClr val="1F2328"/>
                </a:solidFill>
              </a:rPr>
              <a:t>No specification, no fit: a seal that does not match the original is a change, not a spare.</a:t>
            </a:r>
            <a:endParaRPr lang="en" sz="1800" dirty="0"/>
          </a:p>
          <a:p>
            <a:pPr marL="342900" indent="-342900">
              <a:spcAft>
                <a:spcPts val="600"/>
              </a:spcAft>
              <a:buFont typeface="Arial"/>
              <a:buChar char="•"/>
            </a:pPr>
            <a:r>
              <a:rPr lang="en" sz="1800" dirty="0">
                <a:solidFill>
                  <a:srgbClr val="1F2328"/>
                </a:solidFill>
              </a:rPr>
              <a:t>A joint you opened is not proven until it has passed a recorded test to the written test pressure.</a:t>
            </a:r>
            <a:endParaRPr lang="en" sz="1800" dirty="0"/>
          </a:p>
          <a:p>
            <a:pPr marL="342900" indent="-342900">
              <a:spcAft>
                <a:spcPts val="600"/>
              </a:spcAft>
              <a:buFont typeface="Arial"/>
              <a:buChar char="•"/>
            </a:pPr>
            <a:r>
              <a:rPr lang="en" sz="1800" dirty="0">
                <a:solidFill>
                  <a:srgbClr val="1F2328"/>
                </a:solidFill>
              </a:rPr>
              <a:t>When the same fault comes back, say so on the job record; a repeat is a warning, not a routine job.</a:t>
            </a:r>
            <a:endParaRPr lang="en" sz="1800" dirty="0"/>
          </a:p>
        </p:txBody>
      </p:sp>
      <p:sp>
        <p:nvSpPr>
          <p:cNvPr id="4" name="Footer"/>
          <p:cNvSpPr txBox="1"/>
          <p:nvPr/>
        </p:nvSpPr>
        <p:spPr>
          <a:xfrm>
            <a:off x="457200" y="6172200"/>
            <a:ext cx="11277600" cy="548640"/>
          </a:xfrm>
          <a:prstGeom prst="rect">
            <a:avLst/>
          </a:prstGeom>
          <a:noFill/>
          <a:ln>
            <a:noFill/>
          </a:ln>
        </p:spPr>
        <p:txBody>
          <a:bodyPr wrap="square" lIns="0" tIns="0" rIns="0" bIns="0" anchor="b" rtlCol="0">
            <a:noAutofit/>
          </a:bodyPr>
          <a:lstStyle/>
          <a:p>
            <a:pPr>
              <a:spcAft>
                <a:spcPts val="0"/>
              </a:spcAft>
              <a:buNone/>
            </a:pPr>
            <a:r>
              <a:rPr lang="en" sz="900" dirty="0">
                <a:solidFill>
                  <a:srgbClr val="57606A"/>
                </a:solidFill>
              </a:rPr>
              <a:t>Learning purposes: not a statutory document · Generated with ProbeMatrix Learnings Coach v2.0.0a8 (open source, MIT) from a ProbeMatrix four-level human-factors investigation. ProbeMatrix by Eyekyam: ashley@eyekyam.com</a:t>
            </a:r>
            <a:endParaRPr lang="en" sz="900" dirty="0"/>
          </a:p>
        </p:txBody>
      </p:sp>
      <p:sp>
        <p:nvSpPr>
          <p:cNvPr id="5" name="Draft"/>
          <p:cNvSpPr txBox="1"/>
          <p:nvPr/>
        </p:nvSpPr>
        <p:spPr>
          <a:xfrm>
            <a:off x="10271760" y="365760"/>
            <a:ext cx="1463040" cy="457200"/>
          </a:xfrm>
          <a:prstGeom prst="rect">
            <a:avLst/>
          </a:prstGeom>
          <a:noFill/>
          <a:ln w="19050">
            <a:solidFill>
              <a:srgbClr val="C2410C"/>
            </a:solidFill>
          </a:ln>
        </p:spPr>
        <p:txBody>
          <a:bodyPr wrap="square" lIns="91440" tIns="45720" rIns="91440" bIns="45720" anchor="ctr" rtlCol="0">
            <a:noAutofit/>
          </a:bodyPr>
          <a:lstStyle/>
          <a:p>
            <a:pPr algn="ctr">
              <a:spcAft>
                <a:spcPts val="0"/>
              </a:spcAft>
              <a:buNone/>
            </a:pPr>
            <a:r>
              <a:rPr lang="en" sz="2000" b="1" dirty="0">
                <a:solidFill>
                  <a:srgbClr val="C2410C"/>
                </a:solidFill>
              </a:rPr>
              <a:t>DRAFT</a:t>
            </a:r>
            <a:endParaRPr lang="en"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57200" y="274320"/>
            <a:ext cx="9631680" cy="868680"/>
          </a:xfrm>
          <a:prstGeom prst="rect">
            <a:avLst/>
          </a:prstGeom>
          <a:noFill/>
          <a:ln>
            <a:noFill/>
          </a:ln>
        </p:spPr>
        <p:txBody>
          <a:bodyPr wrap="square" lIns="91440" tIns="45720" rIns="91440" bIns="45720" anchor="ctr" rtlCol="0">
            <a:normAutofit/>
          </a:bodyPr>
          <a:lstStyle/>
          <a:p>
            <a:pPr>
              <a:spcAft>
                <a:spcPts val="0"/>
              </a:spcAft>
              <a:buNone/>
            </a:pPr>
            <a:r>
              <a:rPr lang="en" sz="2800" b="1" dirty="0">
                <a:solidFill>
                  <a:srgbClr val="0077B6"/>
                </a:solidFill>
              </a:rPr>
              <a:t>What happened</a:t>
            </a:r>
            <a:endParaRPr lang="en" sz="2800" dirty="0"/>
          </a:p>
        </p:txBody>
      </p:sp>
      <p:sp>
        <p:nvSpPr>
          <p:cNvPr id="3" name="Body"/>
          <p:cNvSpPr txBox="1"/>
          <p:nvPr/>
        </p:nvSpPr>
        <p:spPr>
          <a:xfrm>
            <a:off x="457200" y="1234440"/>
            <a:ext cx="11277600" cy="4846320"/>
          </a:xfrm>
          <a:prstGeom prst="rect">
            <a:avLst/>
          </a:prstGeom>
          <a:noFill/>
          <a:ln>
            <a:noFill/>
          </a:ln>
        </p:spPr>
        <p:txBody>
          <a:bodyPr wrap="square" lIns="91440" tIns="45720" rIns="91440" bIns="45720" anchor="t" rtlCol="0">
            <a:normAutofit/>
          </a:bodyPr>
          <a:lstStyle/>
          <a:p>
            <a:pPr marL="342900" indent="-342900">
              <a:spcAft>
                <a:spcPts val="600"/>
              </a:spcAft>
              <a:buFont typeface="Arial"/>
              <a:buChar char="•"/>
            </a:pPr>
            <a:r>
              <a:rPr lang="en" sz="1800" dirty="0">
                <a:solidFill>
                  <a:srgbClr val="1F2328"/>
                </a:solidFill>
              </a:rPr>
              <a:t>On 18 Sep 2020 the seal on a 1986 condensate meter at the gas terminal was changed. The maker's specification had been lost, so a locally bought round O-ring was fitted, as had become regular practice, and the system was brought only to operating pressure, with no test to design pressure. The meter went back on line the next day and was in use on 24 Sep, when that seal was the probable source of a release that later caught fire.</a:t>
            </a:r>
            <a:endParaRPr lang="en" sz="1800" dirty="0"/>
          </a:p>
        </p:txBody>
      </p:sp>
      <p:sp>
        <p:nvSpPr>
          <p:cNvPr id="4" name="Footer"/>
          <p:cNvSpPr txBox="1"/>
          <p:nvPr/>
        </p:nvSpPr>
        <p:spPr>
          <a:xfrm>
            <a:off x="457200" y="6172200"/>
            <a:ext cx="11277600" cy="548640"/>
          </a:xfrm>
          <a:prstGeom prst="rect">
            <a:avLst/>
          </a:prstGeom>
          <a:noFill/>
          <a:ln>
            <a:noFill/>
          </a:ln>
        </p:spPr>
        <p:txBody>
          <a:bodyPr wrap="square" lIns="0" tIns="0" rIns="0" bIns="0" anchor="b" rtlCol="0">
            <a:noAutofit/>
          </a:bodyPr>
          <a:lstStyle/>
          <a:p>
            <a:pPr>
              <a:spcAft>
                <a:spcPts val="0"/>
              </a:spcAft>
              <a:buNone/>
            </a:pPr>
            <a:r>
              <a:rPr lang="en" sz="900" dirty="0">
                <a:solidFill>
                  <a:srgbClr val="57606A"/>
                </a:solidFill>
              </a:rPr>
              <a:t>Learning purposes: not a statutory document · Generated with ProbeMatrix Learnings Coach v2.0.0a8 (open source, MIT) from a ProbeMatrix four-level human-factors investigation. ProbeMatrix by Eyekyam: ashley@eyekyam.com</a:t>
            </a:r>
            <a:endParaRPr lang="en" sz="900" dirty="0"/>
          </a:p>
        </p:txBody>
      </p:sp>
      <p:sp>
        <p:nvSpPr>
          <p:cNvPr id="5" name="Draft"/>
          <p:cNvSpPr txBox="1"/>
          <p:nvPr/>
        </p:nvSpPr>
        <p:spPr>
          <a:xfrm>
            <a:off x="10271760" y="365760"/>
            <a:ext cx="1463040" cy="457200"/>
          </a:xfrm>
          <a:prstGeom prst="rect">
            <a:avLst/>
          </a:prstGeom>
          <a:noFill/>
          <a:ln w="19050">
            <a:solidFill>
              <a:srgbClr val="C2410C"/>
            </a:solidFill>
          </a:ln>
        </p:spPr>
        <p:txBody>
          <a:bodyPr wrap="square" lIns="91440" tIns="45720" rIns="91440" bIns="45720" anchor="ctr" rtlCol="0">
            <a:noAutofit/>
          </a:bodyPr>
          <a:lstStyle/>
          <a:p>
            <a:pPr algn="ctr">
              <a:spcAft>
                <a:spcPts val="0"/>
              </a:spcAft>
              <a:buNone/>
            </a:pPr>
            <a:r>
              <a:rPr lang="en" sz="2000" b="1" dirty="0">
                <a:solidFill>
                  <a:srgbClr val="C2410C"/>
                </a:solidFill>
              </a:rPr>
              <a:t>DRAFT</a:t>
            </a:r>
            <a:endParaRPr lang="en"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57200" y="274320"/>
            <a:ext cx="9631680" cy="868680"/>
          </a:xfrm>
          <a:prstGeom prst="rect">
            <a:avLst/>
          </a:prstGeom>
          <a:noFill/>
          <a:ln>
            <a:noFill/>
          </a:ln>
        </p:spPr>
        <p:txBody>
          <a:bodyPr wrap="square" lIns="91440" tIns="45720" rIns="91440" bIns="45720" anchor="ctr" rtlCol="0">
            <a:normAutofit/>
          </a:bodyPr>
          <a:lstStyle/>
          <a:p>
            <a:pPr>
              <a:spcAft>
                <a:spcPts val="0"/>
              </a:spcAft>
              <a:buNone/>
            </a:pPr>
            <a:r>
              <a:rPr lang="en" sz="2800" b="1" dirty="0">
                <a:solidFill>
                  <a:srgbClr val="0077B6"/>
                </a:solidFill>
              </a:rPr>
              <a:t>Did you know?</a:t>
            </a:r>
            <a:endParaRPr lang="en" sz="2800" dirty="0"/>
          </a:p>
        </p:txBody>
      </p:sp>
      <p:sp>
        <p:nvSpPr>
          <p:cNvPr id="3" name="Body"/>
          <p:cNvSpPr txBox="1"/>
          <p:nvPr/>
        </p:nvSpPr>
        <p:spPr>
          <a:xfrm>
            <a:off x="457200" y="1234440"/>
            <a:ext cx="11277600" cy="4846320"/>
          </a:xfrm>
          <a:prstGeom prst="rect">
            <a:avLst/>
          </a:prstGeom>
          <a:noFill/>
          <a:ln>
            <a:noFill/>
          </a:ln>
        </p:spPr>
        <p:txBody>
          <a:bodyPr wrap="square" lIns="91440" tIns="45720" rIns="91440" bIns="45720" anchor="t" rtlCol="0">
            <a:normAutofit/>
          </a:bodyPr>
          <a:lstStyle/>
          <a:p>
            <a:pPr marL="342900" indent="-342900">
              <a:spcAft>
                <a:spcPts val="600"/>
              </a:spcAft>
              <a:buFont typeface="Arial"/>
              <a:buChar char="•"/>
            </a:pPr>
            <a:r>
              <a:rPr lang="en" sz="1800" dirty="0">
                <a:solidFill>
                  <a:srgbClr val="1F2328"/>
                </a:solidFill>
              </a:rPr>
              <a:t>The meter was built for a rectangular-slot gasket; the round O-ring was a local substitute, bought with no specification or quality check.</a:t>
            </a:r>
            <a:endParaRPr lang="en" sz="1800" dirty="0"/>
          </a:p>
          <a:p>
            <a:pPr marL="342900" indent="-342900">
              <a:spcAft>
                <a:spcPts val="600"/>
              </a:spcAft>
              <a:buFont typeface="Arial"/>
              <a:buChar char="•"/>
            </a:pPr>
            <a:r>
              <a:rPr lang="en" sz="1800" dirty="0">
                <a:solidFill>
                  <a:srgbClr val="1F2328"/>
                </a:solidFill>
              </a:rPr>
              <a:t>This was the third seal change on the same meter in about 22 months, and a malfunction notification had been raised the day before the last one. None of the repeats led to a review of why it kept leaking.</a:t>
            </a:r>
            <a:endParaRPr lang="en" sz="1800" dirty="0"/>
          </a:p>
          <a:p>
            <a:pPr marL="342900" indent="-342900">
              <a:spcAft>
                <a:spcPts val="600"/>
              </a:spcAft>
              <a:buFont typeface="Arial"/>
              <a:buChar char="•"/>
            </a:pPr>
            <a:r>
              <a:rPr lang="en" sz="1800" dirty="0">
                <a:solidFill>
                  <a:srgbClr val="1F2328"/>
                </a:solidFill>
              </a:rPr>
              <a:t>No written procedure covered testing these high-pressure meters before they went back into service, so holding at operating pressure became the normal check.</a:t>
            </a:r>
            <a:endParaRPr lang="en" sz="1800" dirty="0"/>
          </a:p>
        </p:txBody>
      </p:sp>
      <p:sp>
        <p:nvSpPr>
          <p:cNvPr id="4" name="Footer"/>
          <p:cNvSpPr txBox="1"/>
          <p:nvPr/>
        </p:nvSpPr>
        <p:spPr>
          <a:xfrm>
            <a:off x="457200" y="6172200"/>
            <a:ext cx="11277600" cy="548640"/>
          </a:xfrm>
          <a:prstGeom prst="rect">
            <a:avLst/>
          </a:prstGeom>
          <a:noFill/>
          <a:ln>
            <a:noFill/>
          </a:ln>
        </p:spPr>
        <p:txBody>
          <a:bodyPr wrap="square" lIns="0" tIns="0" rIns="0" bIns="0" anchor="b" rtlCol="0">
            <a:noAutofit/>
          </a:bodyPr>
          <a:lstStyle/>
          <a:p>
            <a:pPr>
              <a:spcAft>
                <a:spcPts val="0"/>
              </a:spcAft>
              <a:buNone/>
            </a:pPr>
            <a:r>
              <a:rPr lang="en" sz="900" dirty="0">
                <a:solidFill>
                  <a:srgbClr val="57606A"/>
                </a:solidFill>
              </a:rPr>
              <a:t>Learning purposes: not a statutory document · Generated with ProbeMatrix Learnings Coach v2.0.0a8 (open source, MIT) from a ProbeMatrix four-level human-factors investigation. ProbeMatrix by Eyekyam: ashley@eyekyam.com</a:t>
            </a:r>
            <a:endParaRPr lang="en" sz="900" dirty="0"/>
          </a:p>
        </p:txBody>
      </p:sp>
      <p:sp>
        <p:nvSpPr>
          <p:cNvPr id="5" name="Draft"/>
          <p:cNvSpPr txBox="1"/>
          <p:nvPr/>
        </p:nvSpPr>
        <p:spPr>
          <a:xfrm>
            <a:off x="10271760" y="365760"/>
            <a:ext cx="1463040" cy="457200"/>
          </a:xfrm>
          <a:prstGeom prst="rect">
            <a:avLst/>
          </a:prstGeom>
          <a:noFill/>
          <a:ln w="19050">
            <a:solidFill>
              <a:srgbClr val="C2410C"/>
            </a:solidFill>
          </a:ln>
        </p:spPr>
        <p:txBody>
          <a:bodyPr wrap="square" lIns="91440" tIns="45720" rIns="91440" bIns="45720" anchor="ctr" rtlCol="0">
            <a:noAutofit/>
          </a:bodyPr>
          <a:lstStyle/>
          <a:p>
            <a:pPr algn="ctr">
              <a:spcAft>
                <a:spcPts val="0"/>
              </a:spcAft>
              <a:buNone/>
            </a:pPr>
            <a:r>
              <a:rPr lang="en" sz="2000" b="1" dirty="0">
                <a:solidFill>
                  <a:srgbClr val="C2410C"/>
                </a:solidFill>
              </a:rPr>
              <a:t>DRAFT</a:t>
            </a:r>
            <a:endParaRPr lang="en"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57200" y="274320"/>
            <a:ext cx="9631680" cy="868680"/>
          </a:xfrm>
          <a:prstGeom prst="rect">
            <a:avLst/>
          </a:prstGeom>
          <a:noFill/>
          <a:ln>
            <a:noFill/>
          </a:ln>
        </p:spPr>
        <p:txBody>
          <a:bodyPr wrap="square" lIns="91440" tIns="45720" rIns="91440" bIns="45720" anchor="ctr" rtlCol="0">
            <a:normAutofit/>
          </a:bodyPr>
          <a:lstStyle/>
          <a:p>
            <a:pPr>
              <a:spcAft>
                <a:spcPts val="0"/>
              </a:spcAft>
              <a:buNone/>
            </a:pPr>
            <a:r>
              <a:rPr lang="en" sz="2800" b="1" dirty="0">
                <a:solidFill>
                  <a:srgbClr val="0077B6"/>
                </a:solidFill>
              </a:rPr>
              <a:t>What you can do</a:t>
            </a:r>
            <a:endParaRPr lang="en" sz="2800" dirty="0"/>
          </a:p>
        </p:txBody>
      </p:sp>
      <p:sp>
        <p:nvSpPr>
          <p:cNvPr id="3" name="Body"/>
          <p:cNvSpPr txBox="1"/>
          <p:nvPr/>
        </p:nvSpPr>
        <p:spPr>
          <a:xfrm>
            <a:off x="457200" y="1234440"/>
            <a:ext cx="11277600" cy="4846320"/>
          </a:xfrm>
          <a:prstGeom prst="rect">
            <a:avLst/>
          </a:prstGeom>
          <a:noFill/>
          <a:ln>
            <a:noFill/>
          </a:ln>
        </p:spPr>
        <p:txBody>
          <a:bodyPr wrap="square" lIns="91440" tIns="45720" rIns="91440" bIns="45720" anchor="t" rtlCol="0">
            <a:normAutofit/>
          </a:bodyPr>
          <a:lstStyle/>
          <a:p>
            <a:pPr marL="342900" indent="-342900">
              <a:spcAft>
                <a:spcPts val="600"/>
              </a:spcAft>
              <a:buFont typeface="Arial"/>
              <a:buChar char="•"/>
            </a:pPr>
            <a:r>
              <a:rPr lang="en" sz="1800" dirty="0">
                <a:solidFill>
                  <a:srgbClr val="1F2328"/>
                </a:solidFill>
              </a:rPr>
              <a:t>Check the part against the groove and the specification before you fit it. If nobody can show a specification, stop and ask the supervisor.</a:t>
            </a:r>
            <a:endParaRPr lang="en" sz="1800" dirty="0"/>
          </a:p>
          <a:p>
            <a:pPr marL="342900" indent="-342900">
              <a:spcAft>
                <a:spcPts val="600"/>
              </a:spcAft>
              <a:buFont typeface="Arial"/>
              <a:buChar char="•"/>
            </a:pPr>
            <a:r>
              <a:rPr lang="en" sz="1800" dirty="0">
                <a:solidFill>
                  <a:srgbClr val="1F2328"/>
                </a:solidFill>
              </a:rPr>
              <a:t>Before you hand the equipment back, ask for the written test pressure and the witness, and write the test result on the job record; if no test was done, write that.</a:t>
            </a:r>
            <a:endParaRPr lang="en" sz="1800" dirty="0"/>
          </a:p>
          <a:p>
            <a:pPr marL="342900" indent="-342900">
              <a:spcAft>
                <a:spcPts val="600"/>
              </a:spcAft>
              <a:buFont typeface="Arial"/>
              <a:buChar char="•"/>
            </a:pPr>
            <a:r>
              <a:rPr lang="en" sz="1800" dirty="0">
                <a:solidFill>
                  <a:srgbClr val="1F2328"/>
                </a:solidFill>
              </a:rPr>
              <a:t>Write "repeat failure" on the job record when you fix the same fault again, and tell the supervisor how often you have seen it.</a:t>
            </a:r>
            <a:endParaRPr lang="en" sz="1800" dirty="0"/>
          </a:p>
        </p:txBody>
      </p:sp>
      <p:sp>
        <p:nvSpPr>
          <p:cNvPr id="4" name="Footer"/>
          <p:cNvSpPr txBox="1"/>
          <p:nvPr/>
        </p:nvSpPr>
        <p:spPr>
          <a:xfrm>
            <a:off x="457200" y="6172200"/>
            <a:ext cx="11277600" cy="548640"/>
          </a:xfrm>
          <a:prstGeom prst="rect">
            <a:avLst/>
          </a:prstGeom>
          <a:noFill/>
          <a:ln>
            <a:noFill/>
          </a:ln>
        </p:spPr>
        <p:txBody>
          <a:bodyPr wrap="square" lIns="0" tIns="0" rIns="0" bIns="0" anchor="b" rtlCol="0">
            <a:noAutofit/>
          </a:bodyPr>
          <a:lstStyle/>
          <a:p>
            <a:pPr>
              <a:spcAft>
                <a:spcPts val="0"/>
              </a:spcAft>
              <a:buNone/>
            </a:pPr>
            <a:r>
              <a:rPr lang="en" sz="900" dirty="0">
                <a:solidFill>
                  <a:srgbClr val="57606A"/>
                </a:solidFill>
              </a:rPr>
              <a:t>Learning purposes: not a statutory document · Generated with ProbeMatrix Learnings Coach v2.0.0a8 (open source, MIT) from a ProbeMatrix four-level human-factors investigation. ProbeMatrix by Eyekyam: ashley@eyekyam.com</a:t>
            </a:r>
            <a:endParaRPr lang="en" sz="900" dirty="0"/>
          </a:p>
        </p:txBody>
      </p:sp>
      <p:sp>
        <p:nvSpPr>
          <p:cNvPr id="5" name="Draft"/>
          <p:cNvSpPr txBox="1"/>
          <p:nvPr/>
        </p:nvSpPr>
        <p:spPr>
          <a:xfrm>
            <a:off x="10271760" y="365760"/>
            <a:ext cx="1463040" cy="457200"/>
          </a:xfrm>
          <a:prstGeom prst="rect">
            <a:avLst/>
          </a:prstGeom>
          <a:noFill/>
          <a:ln w="19050">
            <a:solidFill>
              <a:srgbClr val="C2410C"/>
            </a:solidFill>
          </a:ln>
        </p:spPr>
        <p:txBody>
          <a:bodyPr wrap="square" lIns="91440" tIns="45720" rIns="91440" bIns="45720" anchor="ctr" rtlCol="0">
            <a:noAutofit/>
          </a:bodyPr>
          <a:lstStyle/>
          <a:p>
            <a:pPr algn="ctr">
              <a:spcAft>
                <a:spcPts val="0"/>
              </a:spcAft>
              <a:buNone/>
            </a:pPr>
            <a:r>
              <a:rPr lang="en" sz="2000" b="1" dirty="0">
                <a:solidFill>
                  <a:srgbClr val="C2410C"/>
                </a:solidFill>
              </a:rPr>
              <a:t>DRAFT</a:t>
            </a:r>
            <a:endParaRPr lang="en"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57200" y="274320"/>
            <a:ext cx="9631680" cy="868680"/>
          </a:xfrm>
          <a:prstGeom prst="rect">
            <a:avLst/>
          </a:prstGeom>
          <a:noFill/>
          <a:ln>
            <a:noFill/>
          </a:ln>
        </p:spPr>
        <p:txBody>
          <a:bodyPr wrap="square" lIns="91440" tIns="45720" rIns="91440" bIns="45720" anchor="ctr" rtlCol="0">
            <a:normAutofit/>
          </a:bodyPr>
          <a:lstStyle/>
          <a:p>
            <a:pPr>
              <a:spcAft>
                <a:spcPts val="0"/>
              </a:spcAft>
              <a:buNone/>
            </a:pPr>
            <a:r>
              <a:rPr lang="en" sz="2800" b="1" dirty="0">
                <a:solidFill>
                  <a:srgbClr val="0077B6"/>
                </a:solidFill>
              </a:rPr>
              <a:t>Questions for the crew</a:t>
            </a:r>
            <a:endParaRPr lang="en" sz="2800" dirty="0"/>
          </a:p>
        </p:txBody>
      </p:sp>
      <p:sp>
        <p:nvSpPr>
          <p:cNvPr id="3" name="Body"/>
          <p:cNvSpPr txBox="1"/>
          <p:nvPr/>
        </p:nvSpPr>
        <p:spPr>
          <a:xfrm>
            <a:off x="457200" y="1234440"/>
            <a:ext cx="11277600" cy="4846320"/>
          </a:xfrm>
          <a:prstGeom prst="rect">
            <a:avLst/>
          </a:prstGeom>
          <a:noFill/>
          <a:ln>
            <a:noFill/>
          </a:ln>
        </p:spPr>
        <p:txBody>
          <a:bodyPr wrap="square" lIns="91440" tIns="45720" rIns="91440" bIns="45720" anchor="t" rtlCol="0">
            <a:normAutofit/>
          </a:bodyPr>
          <a:lstStyle/>
          <a:p>
            <a:pPr marL="342900" indent="-342900">
              <a:spcAft>
                <a:spcPts val="600"/>
              </a:spcAft>
              <a:buFont typeface="Arial"/>
              <a:buChar char="•"/>
            </a:pPr>
            <a:r>
              <a:rPr lang="en" sz="1800" dirty="0">
                <a:solidFill>
                  <a:srgbClr val="1F2328"/>
                </a:solidFill>
              </a:rPr>
              <a:t>Which pressure parts on our unit have no specification we can find?</a:t>
            </a:r>
            <a:endParaRPr lang="en" sz="1800" dirty="0"/>
          </a:p>
          <a:p>
            <a:pPr marL="342900" indent="-342900">
              <a:spcAft>
                <a:spcPts val="600"/>
              </a:spcAft>
              <a:buFont typeface="Arial"/>
              <a:buChar char="•"/>
            </a:pPr>
            <a:r>
              <a:rPr lang="en" sz="1800" dirty="0">
                <a:solidFill>
                  <a:srgbClr val="1F2328"/>
                </a:solidFill>
              </a:rPr>
              <a:t>What test proves a joint we have just made, and where is the result written?</a:t>
            </a:r>
            <a:endParaRPr lang="en" sz="1800" dirty="0"/>
          </a:p>
          <a:p>
            <a:pPr marL="342900" indent="-342900">
              <a:spcAft>
                <a:spcPts val="600"/>
              </a:spcAft>
              <a:buFont typeface="Arial"/>
              <a:buChar char="•"/>
            </a:pPr>
            <a:r>
              <a:rPr lang="en" sz="1800" dirty="0">
                <a:solidFill>
                  <a:srgbClr val="1F2328"/>
                </a:solidFill>
              </a:rPr>
              <a:t>Which items do we keep fixing, and who decides whether we repair again or look for the cause?</a:t>
            </a:r>
            <a:endParaRPr lang="en" sz="1800" dirty="0"/>
          </a:p>
        </p:txBody>
      </p:sp>
      <p:sp>
        <p:nvSpPr>
          <p:cNvPr id="4" name="Footer"/>
          <p:cNvSpPr txBox="1"/>
          <p:nvPr/>
        </p:nvSpPr>
        <p:spPr>
          <a:xfrm>
            <a:off x="457200" y="6172200"/>
            <a:ext cx="11277600" cy="548640"/>
          </a:xfrm>
          <a:prstGeom prst="rect">
            <a:avLst/>
          </a:prstGeom>
          <a:noFill/>
          <a:ln>
            <a:noFill/>
          </a:ln>
        </p:spPr>
        <p:txBody>
          <a:bodyPr wrap="square" lIns="0" tIns="0" rIns="0" bIns="0" anchor="b" rtlCol="0">
            <a:noAutofit/>
          </a:bodyPr>
          <a:lstStyle/>
          <a:p>
            <a:pPr>
              <a:spcAft>
                <a:spcPts val="0"/>
              </a:spcAft>
              <a:buNone/>
            </a:pPr>
            <a:r>
              <a:rPr lang="en" sz="900" dirty="0">
                <a:solidFill>
                  <a:srgbClr val="57606A"/>
                </a:solidFill>
              </a:rPr>
              <a:t>Learning purposes: not a statutory document · Generated with ProbeMatrix Learnings Coach v2.0.0a8 (open source, MIT) from a ProbeMatrix four-level human-factors investigation. ProbeMatrix by Eyekyam: ashley@eyekyam.com</a:t>
            </a:r>
            <a:endParaRPr lang="en" sz="900" dirty="0"/>
          </a:p>
        </p:txBody>
      </p:sp>
      <p:sp>
        <p:nvSpPr>
          <p:cNvPr id="5" name="Draft"/>
          <p:cNvSpPr txBox="1"/>
          <p:nvPr/>
        </p:nvSpPr>
        <p:spPr>
          <a:xfrm>
            <a:off x="10271760" y="365760"/>
            <a:ext cx="1463040" cy="457200"/>
          </a:xfrm>
          <a:prstGeom prst="rect">
            <a:avLst/>
          </a:prstGeom>
          <a:noFill/>
          <a:ln w="19050">
            <a:solidFill>
              <a:srgbClr val="C2410C"/>
            </a:solidFill>
          </a:ln>
        </p:spPr>
        <p:txBody>
          <a:bodyPr wrap="square" lIns="91440" tIns="45720" rIns="91440" bIns="45720" anchor="ctr" rtlCol="0">
            <a:noAutofit/>
          </a:bodyPr>
          <a:lstStyle/>
          <a:p>
            <a:pPr algn="ctr">
              <a:spcAft>
                <a:spcPts val="0"/>
              </a:spcAft>
              <a:buNone/>
            </a:pPr>
            <a:r>
              <a:rPr lang="en" sz="2000" b="1" dirty="0">
                <a:solidFill>
                  <a:srgbClr val="C2410C"/>
                </a:solidFill>
              </a:rPr>
              <a:t>DRAFT</a:t>
            </a:r>
            <a:endParaRPr lang="en"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57200" y="274320"/>
            <a:ext cx="9631680" cy="868680"/>
          </a:xfrm>
          <a:prstGeom prst="rect">
            <a:avLst/>
          </a:prstGeom>
          <a:noFill/>
          <a:ln>
            <a:noFill/>
          </a:ln>
        </p:spPr>
        <p:txBody>
          <a:bodyPr wrap="square" lIns="91440" tIns="45720" rIns="91440" bIns="45720" anchor="ctr" rtlCol="0">
            <a:normAutofit/>
          </a:bodyPr>
          <a:lstStyle/>
          <a:p>
            <a:pPr>
              <a:spcAft>
                <a:spcPts val="0"/>
              </a:spcAft>
              <a:buNone/>
            </a:pPr>
            <a:r>
              <a:rPr lang="en" sz="2800" b="1" dirty="0">
                <a:solidFill>
                  <a:srgbClr val="0077B6"/>
                </a:solidFill>
              </a:rPr>
              <a:t>Narration</a:t>
            </a:r>
            <a:endParaRPr lang="en" sz="2800" dirty="0"/>
          </a:p>
        </p:txBody>
      </p:sp>
      <p:sp>
        <p:nvSpPr>
          <p:cNvPr id="3" name="Body"/>
          <p:cNvSpPr txBox="1"/>
          <p:nvPr/>
        </p:nvSpPr>
        <p:spPr>
          <a:xfrm>
            <a:off x="457200" y="1234440"/>
            <a:ext cx="11277600" cy="4846320"/>
          </a:xfrm>
          <a:prstGeom prst="rect">
            <a:avLst/>
          </a:prstGeom>
          <a:noFill/>
          <a:ln>
            <a:noFill/>
          </a:ln>
        </p:spPr>
        <p:txBody>
          <a:bodyPr wrap="square" lIns="91440" tIns="45720" rIns="91440" bIns="45720" anchor="t" rtlCol="0">
            <a:normAutofit/>
          </a:bodyPr>
          <a:lstStyle/>
          <a:p>
            <a:pPr marL="342900" indent="-342900">
              <a:spcAft>
                <a:spcPts val="600"/>
              </a:spcAft>
              <a:buFont typeface="Arial"/>
              <a:buChar char="•"/>
            </a:pPr>
            <a:r>
              <a:rPr lang="en" sz="1800" dirty="0">
                <a:solidFill>
                  <a:srgbClr val="1F2328"/>
                </a:solidFill>
              </a:rPr>
              <a:t>Test what you disturb</a:t>
            </a:r>
            <a:endParaRPr lang="en" sz="1800" dirty="0"/>
          </a:p>
        </p:txBody>
      </p:sp>
      <p:sp>
        <p:nvSpPr>
          <p:cNvPr id="4" name="Footer"/>
          <p:cNvSpPr txBox="1"/>
          <p:nvPr/>
        </p:nvSpPr>
        <p:spPr>
          <a:xfrm>
            <a:off x="457200" y="6172200"/>
            <a:ext cx="11277600" cy="548640"/>
          </a:xfrm>
          <a:prstGeom prst="rect">
            <a:avLst/>
          </a:prstGeom>
          <a:noFill/>
          <a:ln>
            <a:noFill/>
          </a:ln>
        </p:spPr>
        <p:txBody>
          <a:bodyPr wrap="square" lIns="0" tIns="0" rIns="0" bIns="0" anchor="b" rtlCol="0">
            <a:noAutofit/>
          </a:bodyPr>
          <a:lstStyle/>
          <a:p>
            <a:pPr>
              <a:spcAft>
                <a:spcPts val="0"/>
              </a:spcAft>
              <a:buNone/>
            </a:pPr>
            <a:r>
              <a:rPr lang="en" sz="900" dirty="0">
                <a:solidFill>
                  <a:srgbClr val="57606A"/>
                </a:solidFill>
              </a:rPr>
              <a:t>Learning purposes: not a statutory document · Generated with ProbeMatrix Learnings Coach v2.0.0a8 (open source, MIT) from a ProbeMatrix four-level human-factors investigation. ProbeMatrix by Eyekyam: ashley@eyekyam.com</a:t>
            </a:r>
            <a:endParaRPr lang="en" sz="900" dirty="0"/>
          </a:p>
        </p:txBody>
      </p:sp>
      <p:sp>
        <p:nvSpPr>
          <p:cNvPr id="5" name="Draft"/>
          <p:cNvSpPr txBox="1"/>
          <p:nvPr/>
        </p:nvSpPr>
        <p:spPr>
          <a:xfrm>
            <a:off x="10271760" y="365760"/>
            <a:ext cx="1463040" cy="457200"/>
          </a:xfrm>
          <a:prstGeom prst="rect">
            <a:avLst/>
          </a:prstGeom>
          <a:noFill/>
          <a:ln w="19050">
            <a:solidFill>
              <a:srgbClr val="C2410C"/>
            </a:solidFill>
          </a:ln>
        </p:spPr>
        <p:txBody>
          <a:bodyPr wrap="square" lIns="91440" tIns="45720" rIns="91440" bIns="45720" anchor="ctr" rtlCol="0">
            <a:noAutofit/>
          </a:bodyPr>
          <a:lstStyle/>
          <a:p>
            <a:pPr algn="ctr">
              <a:spcAft>
                <a:spcPts val="0"/>
              </a:spcAft>
              <a:buNone/>
            </a:pPr>
            <a:r>
              <a:rPr lang="en" sz="2000" b="1" dirty="0">
                <a:solidFill>
                  <a:srgbClr val="C2410C"/>
                </a:solidFill>
              </a:rPr>
              <a:t>DRAFT</a:t>
            </a:r>
            <a:endParaRPr lang="en"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57200" y="274320"/>
            <a:ext cx="9631680" cy="868680"/>
          </a:xfrm>
          <a:prstGeom prst="rect">
            <a:avLst/>
          </a:prstGeom>
          <a:noFill/>
          <a:ln>
            <a:noFill/>
          </a:ln>
        </p:spPr>
        <p:txBody>
          <a:bodyPr wrap="square" lIns="91440" tIns="45720" rIns="91440" bIns="45720" anchor="ctr" rtlCol="0">
            <a:normAutofit/>
          </a:bodyPr>
          <a:lstStyle/>
          <a:p>
            <a:pPr>
              <a:spcAft>
                <a:spcPts val="0"/>
              </a:spcAft>
              <a:buNone/>
            </a:pPr>
            <a:r>
              <a:rPr lang="en" sz="2800" b="1" dirty="0">
                <a:solidFill>
                  <a:srgbClr val="0077B6"/>
                </a:solidFill>
              </a:rPr>
              <a:t>Coverage</a:t>
            </a:r>
            <a:endParaRPr lang="en" sz="2800" dirty="0"/>
          </a:p>
        </p:txBody>
      </p:sp>
      <p:sp>
        <p:nvSpPr>
          <p:cNvPr id="3" name="Body"/>
          <p:cNvSpPr txBox="1"/>
          <p:nvPr/>
        </p:nvSpPr>
        <p:spPr>
          <a:xfrm>
            <a:off x="457200" y="1234440"/>
            <a:ext cx="11277600" cy="4846320"/>
          </a:xfrm>
          <a:prstGeom prst="rect">
            <a:avLst/>
          </a:prstGeom>
          <a:noFill/>
          <a:ln>
            <a:noFill/>
          </a:ln>
        </p:spPr>
        <p:txBody>
          <a:bodyPr wrap="square" lIns="91440" tIns="45720" rIns="91440" bIns="45720" anchor="t" rtlCol="0">
            <a:normAutofit/>
          </a:bodyPr>
          <a:lstStyle/>
          <a:p>
            <a:pPr>
              <a:spcAft>
                <a:spcPts val="600"/>
              </a:spcAft>
              <a:buNone/>
            </a:pPr>
            <a:r>
              <a:rPr lang="en" sz="1800" dirty="0">
                <a:solidFill>
                  <a:srgbClr val="1F2328"/>
                </a:solidFill>
              </a:rPr>
              <a:t>This pack cites 8 of 128 relevant findings.</a:t>
            </a:r>
            <a:endParaRPr lang="en" sz="1800" dirty="0"/>
          </a:p>
          <a:p>
            <a:pPr>
              <a:spcAft>
                <a:spcPts val="600"/>
              </a:spcAft>
              <a:buNone/>
            </a:pPr>
            <a:r>
              <a:rPr lang="en" sz="1800" dirty="0">
                <a:solidFill>
                  <a:srgbClr val="1F2328"/>
                </a:solidFill>
              </a:rPr>
              <a:t>8 of 49 top-rated relevant findings cited.</a:t>
            </a:r>
            <a:endParaRPr lang="en" sz="1800" dirty="0"/>
          </a:p>
          <a:p>
            <a:pPr>
              <a:spcAft>
                <a:spcPts val="300"/>
              </a:spcAft>
              <a:buNone/>
            </a:pPr>
            <a:r>
              <a:rPr lang="en" sz="1400" dirty="0">
                <a:solidFill>
                  <a:srgbClr val="57606A"/>
                </a:solidFill>
              </a:rPr>
              <a:t>Learning purposes: not a statutory document. Derived from a ProbeMatrix investigation export; learnings are evidence-linked but should be validated by the organisation before adoption. Draft learnings: the investigation status is in progress. · Learnings drafted by an AI agent from AI-assisted findings</a:t>
            </a:r>
            <a:endParaRPr lang="en" sz="1400" dirty="0"/>
          </a:p>
          <a:p>
            <a:pPr>
              <a:spcAft>
                <a:spcPts val="300"/>
              </a:spcAft>
              <a:buNone/>
            </a:pPr>
            <a:r>
              <a:rPr lang="en" sz="1400" dirty="0">
                <a:solidFill>
                  <a:srgbClr val="57606A"/>
                </a:solidFill>
              </a:rPr>
              <a:t>Generated with ProbeMatrix Learnings Coach v2.0.0a8 (open source, MIT) from a ProbeMatrix four-level human-factors investigation. ProbeMatrix by Eyekyam: ashley@eyekyam.com</a:t>
            </a:r>
            <a:endParaRPr lang="en" sz="1400" dirty="0"/>
          </a:p>
        </p:txBody>
      </p:sp>
      <p:sp>
        <p:nvSpPr>
          <p:cNvPr id="4" name="Footer"/>
          <p:cNvSpPr txBox="1"/>
          <p:nvPr/>
        </p:nvSpPr>
        <p:spPr>
          <a:xfrm>
            <a:off x="457200" y="6172200"/>
            <a:ext cx="11277600" cy="548640"/>
          </a:xfrm>
          <a:prstGeom prst="rect">
            <a:avLst/>
          </a:prstGeom>
          <a:noFill/>
          <a:ln>
            <a:noFill/>
          </a:ln>
        </p:spPr>
        <p:txBody>
          <a:bodyPr wrap="square" lIns="0" tIns="0" rIns="0" bIns="0" anchor="b" rtlCol="0">
            <a:noAutofit/>
          </a:bodyPr>
          <a:lstStyle/>
          <a:p>
            <a:pPr>
              <a:spcAft>
                <a:spcPts val="0"/>
              </a:spcAft>
              <a:buNone/>
            </a:pPr>
            <a:r>
              <a:rPr lang="en" sz="900" dirty="0">
                <a:solidFill>
                  <a:srgbClr val="57606A"/>
                </a:solidFill>
              </a:rPr>
              <a:t>Learning purposes: not a statutory document · Generated with ProbeMatrix Learnings Coach v2.0.0a8 (open source, MIT) from a ProbeMatrix four-level human-factors investigation. ProbeMatrix by Eyekyam: ashley@eyekyam.com</a:t>
            </a:r>
            <a:endParaRPr lang="en" sz="900" dirty="0"/>
          </a:p>
        </p:txBody>
      </p:sp>
      <p:sp>
        <p:nvSpPr>
          <p:cNvPr id="5" name="Draft"/>
          <p:cNvSpPr txBox="1"/>
          <p:nvPr/>
        </p:nvSpPr>
        <p:spPr>
          <a:xfrm>
            <a:off x="10271760" y="365760"/>
            <a:ext cx="1463040" cy="457200"/>
          </a:xfrm>
          <a:prstGeom prst="rect">
            <a:avLst/>
          </a:prstGeom>
          <a:noFill/>
          <a:ln w="19050">
            <a:solidFill>
              <a:srgbClr val="C2410C"/>
            </a:solidFill>
          </a:ln>
        </p:spPr>
        <p:txBody>
          <a:bodyPr wrap="square" lIns="91440" tIns="45720" rIns="91440" bIns="45720" anchor="ctr" rtlCol="0">
            <a:noAutofit/>
          </a:bodyPr>
          <a:lstStyle/>
          <a:p>
            <a:pPr algn="ctr">
              <a:spcAft>
                <a:spcPts val="0"/>
              </a:spcAft>
              <a:buNone/>
            </a:pPr>
            <a:r>
              <a:rPr lang="en" sz="2000" b="1" dirty="0">
                <a:solidFill>
                  <a:srgbClr val="C2410C"/>
                </a:solidFill>
              </a:rPr>
              <a:t>DRAFT</a:t>
            </a:r>
            <a:endParaRPr lang="en" sz="2000" dirty="0"/>
          </a:p>
        </p:txBody>
      </p:sp>
    </p:spTree>
  </p:cSld>
  <p:clrMapOvr>
    <a:masterClrMapping/>
  </p:clrMapOvr>
</p:sld>
</file>

<file path=ppt/theme/theme1.xml><?xml version="1.0" encoding="utf-8"?>
<a:theme xmlns:a="http://schemas.openxmlformats.org/drawingml/2006/main" name="ProbeMatrix">
  <a:themeElements>
    <a:clrScheme name="ProbeMatrix">
      <a:dk1>
        <a:srgbClr val="1F2328"/>
      </a:dk1>
      <a:lt1>
        <a:srgbClr val="FFFFFF"/>
      </a:lt1>
      <a:dk2>
        <a:srgbClr val="1F3A4D"/>
      </a:dk2>
      <a:lt2>
        <a:srgbClr val="EEF2F5"/>
      </a:lt2>
      <a:accent1>
        <a:srgbClr val="0077B6"/>
      </a:accent1>
      <a:accent2>
        <a:srgbClr val="C2410C"/>
      </a:accent2>
      <a:accent3>
        <a:srgbClr val="2E7D32"/>
      </a:accent3>
      <a:accent4>
        <a:srgbClr val="6A4C93"/>
      </a:accent4>
      <a:accent5>
        <a:srgbClr val="8A6D00"/>
      </a:accent5>
      <a:accent6>
        <a:srgbClr val="57606A"/>
      </a:accent6>
      <a:hlink>
        <a:srgbClr val="0563C1"/>
      </a:hlink>
      <a:folHlink>
        <a:srgbClr val="954F72"/>
      </a:folHlink>
    </a:clrScheme>
    <a:fontScheme name="ProbeMatrix">
      <a:majorFont>
        <a:latin typeface="Calibri"/>
        <a:ea typeface=""/>
        <a:cs typeface=""/>
      </a:majorFont>
      <a:minorFont>
        <a:latin typeface="Calibri"/>
        <a:ea typeface=""/>
        <a:cs typeface=""/>
      </a:minorFont>
    </a:fontScheme>
    <a:fmtScheme name="ProbeMatrix">
      <a:fillStyleLst>
        <a:solidFill>
          <a:schemeClr val="phClr"/>
        </a:solidFill>
        <a:solidFill>
          <a:schemeClr val="phClr"/>
        </a:solidFill>
        <a:solidFill>
          <a:schemeClr val="phClr"/>
        </a:solidFill>
      </a:fillStyleLst>
      <a:lnStyleLst>
        <a:ln w="6350">
          <a:solidFill>
            <a:schemeClr val="phClr"/>
          </a:solidFill>
        </a:ln>
        <a:ln w="6350">
          <a:solidFill>
            <a:schemeClr val="phClr"/>
          </a:solidFill>
        </a:ln>
        <a:ln w="63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ProbeMatrix">
  <a:themeElements>
    <a:clrScheme name="ProbeMatrix">
      <a:dk1>
        <a:srgbClr val="1F2328"/>
      </a:dk1>
      <a:lt1>
        <a:srgbClr val="FFFFFF"/>
      </a:lt1>
      <a:dk2>
        <a:srgbClr val="1F3A4D"/>
      </a:dk2>
      <a:lt2>
        <a:srgbClr val="EEF2F5"/>
      </a:lt2>
      <a:accent1>
        <a:srgbClr val="0077B6"/>
      </a:accent1>
      <a:accent2>
        <a:srgbClr val="C2410C"/>
      </a:accent2>
      <a:accent3>
        <a:srgbClr val="2E7D32"/>
      </a:accent3>
      <a:accent4>
        <a:srgbClr val="6A4C93"/>
      </a:accent4>
      <a:accent5>
        <a:srgbClr val="8A6D00"/>
      </a:accent5>
      <a:accent6>
        <a:srgbClr val="57606A"/>
      </a:accent6>
      <a:hlink>
        <a:srgbClr val="0563C1"/>
      </a:hlink>
      <a:folHlink>
        <a:srgbClr val="954F72"/>
      </a:folHlink>
    </a:clrScheme>
    <a:fontScheme name="ProbeMatrix">
      <a:majorFont>
        <a:latin typeface="Calibri"/>
        <a:ea typeface=""/>
        <a:cs typeface=""/>
      </a:majorFont>
      <a:minorFont>
        <a:latin typeface="Calibri"/>
        <a:ea typeface=""/>
        <a:cs typeface=""/>
      </a:minorFont>
    </a:fontScheme>
    <a:fmtScheme name="ProbeMatrix">
      <a:fillStyleLst>
        <a:solidFill>
          <a:schemeClr val="phClr"/>
        </a:solidFill>
        <a:solidFill>
          <a:schemeClr val="phClr"/>
        </a:solidFill>
        <a:solidFill>
          <a:schemeClr val="phClr"/>
        </a:solidFill>
      </a:fillStyleLst>
      <a:lnStyleLst>
        <a:ln w="6350">
          <a:solidFill>
            <a:schemeClr val="phClr"/>
          </a:solidFill>
        </a:ln>
        <a:ln w="6350">
          <a:solidFill>
            <a:schemeClr val="phClr"/>
          </a:solidFill>
        </a:ln>
        <a:ln w="63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ProbeMatrix Learnings Coach</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Safety Moment: Test what you disturb (Gas terminal release and fire, 2020)</dc:title>
  <dcterms:created xsi:type="dcterms:W3CDTF">2026-10-28T00:00:00Z</dcterms:created>
  <dcterms:modified xsi:type="dcterms:W3CDTF">2026-10-28T00:00:00Z</dcterms:modified>
</cp:coreProperties>
</file>