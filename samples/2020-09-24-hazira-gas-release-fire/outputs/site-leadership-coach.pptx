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cNvSpPr>
            <a:spLocks noGrp="1" noRot="1" noChangeAspect="1"/>
          </p:cNvSpPr>
          <p:nvPr>
            <p:ph type="sldImg" idx="2"/>
          </p:nvPr>
        </p:nvSpPr>
        <p:spPr>
          <a:xfrm>
            <a:off x="381000" y="685800"/>
            <a:ext cx="6096000" cy="3429000"/>
          </a:xfrm>
          <a:prstGeom prst="rect">
            <a:avLst/>
          </a:prstGeom>
        </p:spPr>
      </p:sp>
      <p:sp>
        <p:nvSpPr>
          <p:cNvPr id="3" name="Notes"/>
          <p:cNvSpPr>
            <a:spLocks noGrp="1"/>
          </p:cNvSpPr>
          <p:nvPr>
            <p:ph type="body" sz="quarter" idx="3"/>
          </p:nvPr>
        </p:nvSpPr>
        <p:spPr>
          <a:xfrm>
            <a:off x="685800" y="4343400"/>
            <a:ext cx="5486400" cy="4114800"/>
          </a:xfrm>
          <a:prstGeom prst="rect">
            <a:avLst/>
          </a:prstGeom>
        </p:spPr>
        <p:txBody>
          <a:bodyPr/>
          <a:lstStyle/>
          <a:p>
            <a:endParaRPr lang="en-GB"/>
          </a:p>
        </p:txBody>
      </p:sp>
    </p:spTree>
  </p:cSld>
  <p:clrMap bg1="lt1" tx1="dk1" bg2="lt2" tx2="dk2" accent1="accent1" accent2="accent2" accent3="accent3" accent4="accent4" accent5="accent5" accent6="accent6" hlink="hlink" folHlink="folHlink"/>
  <p:notesStyle>
    <a:lvl1pPr marL="0" algn="l" defTabSz="914400" eaLnBrk="1"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Audience: T4 plant and asset leadership: the site leadership team</a:t>
            </a:r>
            <a:endParaRPr lang="en" sz="1200" dirty="0"/>
          </a:p>
          <a:p>
            <a:pPr>
              <a:spcAft>
                <a:spcPts val="0"/>
              </a:spcAft>
              <a:buNone/>
            </a:pPr>
            <a:r>
              <a:rPr lang="en" sz="1200" dirty="0">
                <a:solidFill>
                  <a:srgbClr val="1F2328"/>
                </a:solidFill>
              </a:rPr>
              <a:t>Incident: Hazira 2020 · 2020-09-24</a:t>
            </a:r>
            <a:endParaRPr lang="en" sz="1200" dirty="0"/>
          </a:p>
          <a:p>
            <a:pPr>
              <a:spcAft>
                <a:spcPts val="0"/>
              </a:spcAft>
              <a:buNone/>
            </a:pPr>
            <a:r>
              <a:rPr lang="en" sz="1200" dirty="0">
                <a:solidFill>
                  <a:srgbClr val="1F2328"/>
                </a:solidFill>
              </a:rPr>
              <a:t>Learning purposes: not a statutory document. Draft learnings from a ProbeMatrix investigation export; validate them before adoption. · Learnings drafted by an AI agent from AI-assisted findings</a:t>
            </a:r>
            <a:endParaRPr lang="en" sz="1200" dirty="0"/>
          </a:p>
          <a:p>
            <a:pPr>
              <a:spcAft>
                <a:spcPts val="0"/>
              </a:spcAft>
              <a:buNone/>
            </a:pPr>
            <a:r>
              <a:rPr lang="en" sz="1200" dirty="0">
                <a:solidFill>
                  <a:srgbClr val="1F2328"/>
                </a:solidFill>
              </a:rPr>
              <a:t>DRAFT</a:t>
            </a:r>
            <a:endParaRPr lang="en" sz="1200" dirty="0"/>
          </a:p>
          <a:p>
            <a:pPr>
              <a:spcAft>
                <a:spcPts val="0"/>
              </a:spcAft>
              <a:buNone/>
            </a:pPr>
            <a:r>
              <a:rPr lang="en" sz="1200" dirty="0">
                <a:solidFill>
                  <a:srgbClr val="1F2328"/>
                </a:solidFill>
              </a:rPr>
              <a:t>Review: draft · Classification: internal · Version 1.0</a:t>
            </a:r>
            <a:endParaRPr lang="en" sz="1200" dirty="0"/>
          </a:p>
          <a:p>
            <a:pPr>
              <a:spcAft>
                <a:spcPts val="0"/>
              </a:spcAft>
              <a:buNone/>
            </a:pPr>
            <a:r>
              <a:rPr lang="en" sz="1200" dirty="0">
                <a:solidFill>
                  <a:srgbClr val="1F2328"/>
                </a:solidFill>
              </a:rPr>
              <a:t>Draft because: the investigation status is in progress; no finding is marked as edited by a person</a:t>
            </a:r>
            <a:endParaRPr lang="en" sz="1200" dirty="0"/>
          </a:p>
          <a:p>
            <a:pPr>
              <a:spcAft>
                <a:spcPts val="0"/>
              </a:spcAft>
              <a:buNone/>
            </a:pPr>
            <a:endParaRPr lang="en" sz="1200" dirty="0"/>
          </a:p>
          <a:p>
            <a:pPr>
              <a:spcAft>
                <a:spcPts val="0"/>
              </a:spcAft>
              <a:buNone/>
            </a:pPr>
            <a:r>
              <a:rPr lang="en" sz="1200" dirty="0">
                <a:solidFill>
                  <a:srgbClr val="1F2328"/>
                </a:solidFill>
              </a:rPr>
              <a:t>Data quality and limits:</a:t>
            </a:r>
            <a:endParaRPr lang="en" sz="1200" dirty="0"/>
          </a:p>
          <a:p>
            <a:pPr>
              <a:spcAft>
                <a:spcPts val="0"/>
              </a:spcAft>
              <a:buNone/>
            </a:pPr>
            <a:r>
              <a:rPr lang="en" sz="1200" dirty="0">
                <a:solidFill>
                  <a:srgbClr val="1F2328"/>
                </a:solidFill>
              </a:rPr>
              <a:t>- Draft learnings from an unreviewed analysis: the export's Investigation Status is in_progress and no finding is marked as edited by a person, so this pack stays a draft until the investigation is completed and reviewed.</a:t>
            </a:r>
            <a:endParaRPr lang="en" sz="1200" dirty="0"/>
          </a:p>
          <a:p>
            <a:pPr>
              <a:spcAft>
                <a:spcPts val="0"/>
              </a:spcAft>
              <a:buNone/>
            </a:pPr>
            <a:r>
              <a:rPr lang="en" sz="1200" dirty="0">
                <a:solidFill>
                  <a:srgbClr val="1F2328"/>
                </a:solidFill>
              </a:rPr>
              <a:t>- One source date conflicts: the gasket-history record quotes a change on 18/09/2019, while its own note and the narrative place the most recent change on 18-Sep-2020. The timeline keeps the 2020 date and leaves the 2019 entry out. [EVD-1494]</a:t>
            </a:r>
            <a:endParaRPr lang="en"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The emergency plan gave the night shift no isolation criteria and no standing authority below the plant manager, so the decision to isolate travelled up a chain of phone calls while the cloud grew.</a:t>
            </a:r>
            <a:endParaRPr lang="en" sz="1200" dirty="0"/>
          </a:p>
          <a:p>
            <a:pPr>
              <a:spcAft>
                <a:spcPts val="0"/>
              </a:spcAft>
              <a:buNone/>
            </a:pPr>
            <a:r>
              <a:rPr lang="en" sz="1200" dirty="0">
                <a:solidFill>
                  <a:srgbClr val="1F2328"/>
                </a:solidFill>
              </a:rPr>
              <a:t>Cites: FND-82761CC5; FND-314D34C5; EVD-4052; EVD-3932</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FND-82761CC5: No delegated authority or criteria for emergency isolation in DMP and night-shift structure · L4 · rating 4</a:t>
            </a:r>
            <a:endParaRPr lang="en" sz="1200" dirty="0"/>
          </a:p>
          <a:p>
            <a:pPr>
              <a:spcAft>
                <a:spcPts val="0"/>
              </a:spcAft>
              <a:buNone/>
            </a:pPr>
            <a:r>
              <a:rPr lang="en" sz="1200" dirty="0">
                <a:solidFill>
                  <a:srgbClr val="1F2328"/>
                </a:solidFill>
              </a:rPr>
              <a:t>FND-314D34C5: Control Room Operators - DMP Isolation Decision Criteria · L1 · rating 4</a:t>
            </a:r>
            <a:endParaRPr lang="en" sz="1200" dirty="0"/>
          </a:p>
          <a:p>
            <a:pPr>
              <a:spcAft>
                <a:spcPts val="0"/>
              </a:spcAft>
              <a:buNone/>
            </a:pPr>
            <a:r>
              <a:rPr lang="en" sz="1200" dirty="0">
                <a:solidFill>
                  <a:srgbClr val="1F2328"/>
                </a:solidFill>
              </a:rPr>
              <a:t>EVD-4052: document</a:t>
            </a:r>
            <a:endParaRPr lang="en" sz="1200" dirty="0"/>
          </a:p>
          <a:p>
            <a:pPr>
              <a:spcAft>
                <a:spcPts val="0"/>
              </a:spcAft>
              <a:buNone/>
            </a:pPr>
            <a:r>
              <a:rPr lang="en" sz="1200" dirty="0">
                <a:solidFill>
                  <a:srgbClr val="1F2328"/>
                </a:solidFill>
              </a:rPr>
              <a:t>EVD-3932: document</a:t>
            </a:r>
            <a:endParaRPr lang="en"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Isolation and detection were set up so that someone had to reach the release: valves closed only by hand at the valve, and detection that only displayed an alarm.</a:t>
            </a:r>
            <a:endParaRPr lang="en" sz="1200" dirty="0"/>
          </a:p>
          <a:p>
            <a:pPr>
              <a:spcAft>
                <a:spcPts val="0"/>
              </a:spcAft>
              <a:buNone/>
            </a:pPr>
            <a:r>
              <a:rPr lang="en" sz="1200" dirty="0">
                <a:solidFill>
                  <a:srgbClr val="1F2328"/>
                </a:solidFill>
              </a:rPr>
              <a:t>Cites: FND-044D1DEC; FND-6155A1C2; EVD-3932; EVD-8657</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FND-044D1DEC: Emergency isolation valves MOV 54 and the Gas Terminal MOVs were local-manual only, with no remote control from the control room · L4 · rating 4</a:t>
            </a:r>
            <a:endParaRPr lang="en" sz="1200" dirty="0"/>
          </a:p>
          <a:p>
            <a:pPr>
              <a:spcAft>
                <a:spcPts val="0"/>
              </a:spcAft>
              <a:buNone/>
            </a:pPr>
            <a:r>
              <a:rPr lang="en" sz="1200" dirty="0">
                <a:solidFill>
                  <a:srgbClr val="1F2328"/>
                </a:solidFill>
              </a:rPr>
              <a:t>FND-6155A1C2: F&amp;G detection system had no auto-shutdown or fire-suppression interlock · L4 · rating 4</a:t>
            </a:r>
            <a:endParaRPr lang="en" sz="1200" dirty="0"/>
          </a:p>
          <a:p>
            <a:pPr>
              <a:spcAft>
                <a:spcPts val="0"/>
              </a:spcAft>
              <a:buNone/>
            </a:pPr>
            <a:r>
              <a:rPr lang="en" sz="1200" dirty="0">
                <a:solidFill>
                  <a:srgbClr val="1F2328"/>
                </a:solidFill>
              </a:rPr>
              <a:t>EVD-3932: document</a:t>
            </a:r>
            <a:endParaRPr lang="en" sz="1200" dirty="0"/>
          </a:p>
          <a:p>
            <a:pPr>
              <a:spcAft>
                <a:spcPts val="0"/>
              </a:spcAft>
              <a:buNone/>
            </a:pPr>
            <a:r>
              <a:rPr lang="en" sz="1200" dirty="0">
                <a:solidFill>
                  <a:srgbClr val="1F2328"/>
                </a:solidFill>
              </a:rPr>
              <a:t>EVD-8657: log_record</a:t>
            </a:r>
            <a:endParaRPr lang="en"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Workarounds became normal because nothing on site stopped them: a substitute seal used as regular practice, return to service at operating pressure only, and electrical fittings repaired only on breakdown.</a:t>
            </a:r>
            <a:endParaRPr lang="en" sz="1200" dirty="0"/>
          </a:p>
          <a:p>
            <a:pPr>
              <a:spcAft>
                <a:spcPts val="0"/>
              </a:spcAft>
              <a:buNone/>
            </a:pPr>
            <a:r>
              <a:rPr lang="en" sz="1200" dirty="0">
                <a:solidFill>
                  <a:srgbClr val="1F2328"/>
                </a:solidFill>
              </a:rPr>
              <a:t>Cites: FND-B440C1BF; FND-5919B328; FND-1280E788; EVD-8645; EVD-2894; EVD-6916</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FND-B440C1BF: Unassessed program risk of O-ring substitution for OEM rectangular-slot gasket · L4 · rating 4</a:t>
            </a:r>
            <a:endParaRPr lang="en" sz="1200" dirty="0"/>
          </a:p>
          <a:p>
            <a:pPr>
              <a:spcAft>
                <a:spcPts val="0"/>
              </a:spcAft>
              <a:buNone/>
            </a:pPr>
            <a:r>
              <a:rPr lang="en" sz="1200" dirty="0">
                <a:solidFill>
                  <a:srgbClr val="1F2328"/>
                </a:solidFill>
              </a:rPr>
              <a:t>FND-5919B328: Authorised return-to-service without the mandatory hydrostatic test · L3 · rating 4</a:t>
            </a:r>
            <a:endParaRPr lang="en" sz="1200" dirty="0"/>
          </a:p>
          <a:p>
            <a:pPr>
              <a:spcAft>
                <a:spcPts val="0"/>
              </a:spcAft>
              <a:buNone/>
            </a:pPr>
            <a:r>
              <a:rPr lang="en" sz="1200" dirty="0">
                <a:solidFill>
                  <a:srgbClr val="1F2328"/>
                </a:solidFill>
              </a:rPr>
              <a:t>FND-1280E788: Breakdown-maintenance philosophy for electrical/flame-proof equipment in Zone 1 areas · L4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EVD-6916: physical_item</a:t>
            </a:r>
            <a:endParaRPr lang="en"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Warnings were on record for years (repeat seal changes, pipe-wall loss, an unused change procedure), and none reached a leadership decision that changed the plant.</a:t>
            </a:r>
            <a:endParaRPr lang="en" sz="1200" dirty="0"/>
          </a:p>
          <a:p>
            <a:pPr>
              <a:spcAft>
                <a:spcPts val="0"/>
              </a:spcAft>
              <a:buNone/>
            </a:pPr>
            <a:r>
              <a:rPr lang="en" sz="1200" dirty="0">
                <a:solidFill>
                  <a:srgbClr val="1F2328"/>
                </a:solidFill>
              </a:rPr>
              <a:t>Cites: FND-8083ECAC; FND-1A251687; FND-0F19C9FC; EVD-1494; EVD-5527; EVD-2986</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FND-8083ECAC: MOC formal risk assessment not applied to the OEM-to-O-ring gasket substitution · L3 · rating 4</a:t>
            </a:r>
            <a:endParaRPr lang="en" sz="1200" dirty="0"/>
          </a:p>
          <a:p>
            <a:pPr>
              <a:spcAft>
                <a:spcPts val="0"/>
              </a:spcAft>
              <a:buNone/>
            </a:pPr>
            <a:r>
              <a:rPr lang="en" sz="1200" dirty="0">
                <a:solidFill>
                  <a:srgbClr val="1F2328"/>
                </a:solidFill>
              </a:rPr>
              <a:t>FND-1A251687: Chronic gasket failure on 310FT01 left to routine resealing — no OEM spares, root-cause or replacement programme · L4 · rating 4</a:t>
            </a:r>
            <a:endParaRPr lang="en" sz="1200" dirty="0"/>
          </a:p>
          <a:p>
            <a:pPr>
              <a:spcAft>
                <a:spcPts val="0"/>
              </a:spcAft>
              <a:buNone/>
            </a:pPr>
            <a:r>
              <a:rPr lang="en" sz="1200" dirty="0">
                <a:solidFill>
                  <a:srgbClr val="1F2328"/>
                </a:solidFill>
              </a:rPr>
              <a:t>FND-0F19C9FC: 2017 pipeline thickness-loss findings left unactioned for over three years · L4 · rating 3</a:t>
            </a:r>
            <a:endParaRPr lang="en" sz="1200" dirty="0"/>
          </a:p>
          <a:p>
            <a:pPr>
              <a:spcAft>
                <a:spcPts val="0"/>
              </a:spcAft>
              <a:buNone/>
            </a:pPr>
            <a:r>
              <a:rPr lang="en" sz="1200" dirty="0">
                <a:solidFill>
                  <a:srgbClr val="1F2328"/>
                </a:solidFill>
              </a:rPr>
              <a:t>EVD-1494: document</a:t>
            </a:r>
            <a:endParaRPr lang="en" sz="1200" dirty="0"/>
          </a:p>
          <a:p>
            <a:pPr>
              <a:spcAft>
                <a:spcPts val="0"/>
              </a:spcAft>
              <a:buNone/>
            </a:pPr>
            <a:r>
              <a:rPr lang="en" sz="1200" dirty="0">
                <a:solidFill>
                  <a:srgbClr val="1F2328"/>
                </a:solidFill>
              </a:rPr>
              <a:t>EVD-5527: document</a:t>
            </a:r>
            <a:endParaRPr lang="en" sz="1200" dirty="0"/>
          </a:p>
          <a:p>
            <a:pPr>
              <a:spcAft>
                <a:spcPts val="0"/>
              </a:spcAft>
              <a:buNone/>
            </a:pPr>
            <a:r>
              <a:rPr lang="en" sz="1200" dirty="0">
                <a:solidFill>
                  <a:srgbClr val="1F2328"/>
                </a:solidFill>
              </a:rPr>
              <a:t>EVD-2986: document</a:t>
            </a:r>
            <a:endParaRPr lang="en"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Decision: Give shift crews standing written authority to isolate and shut down on criteria written into the emergency plan</a:t>
            </a:r>
            <a:endParaRPr lang="en" sz="1200" dirty="0"/>
          </a:p>
          <a:p>
            <a:pPr>
              <a:spcAft>
                <a:spcPts val="0"/>
              </a:spcAft>
              <a:buNone/>
            </a:pPr>
            <a:r>
              <a:rPr lang="en" sz="1200" dirty="0">
                <a:solidFill>
                  <a:srgbClr val="1F2328"/>
                </a:solidFill>
              </a:rPr>
              <a:t>Options:</a:t>
            </a:r>
            <a:endParaRPr lang="en" sz="1200" dirty="0"/>
          </a:p>
          <a:p>
            <a:pPr>
              <a:spcAft>
                <a:spcPts val="0"/>
              </a:spcAft>
              <a:buNone/>
            </a:pPr>
            <a:r>
              <a:rPr lang="en" sz="1200" dirty="0">
                <a:solidFill>
                  <a:srgbClr val="1F2328"/>
                </a:solidFill>
              </a:rPr>
              <a:t>- Shift in-charge isolates on defined criteria and reports afterwards</a:t>
            </a:r>
            <a:endParaRPr lang="en" sz="1200" dirty="0"/>
          </a:p>
          <a:p>
            <a:pPr>
              <a:spcAft>
                <a:spcPts val="0"/>
              </a:spcAft>
              <a:buNone/>
            </a:pPr>
            <a:r>
              <a:rPr lang="en" sz="1200" dirty="0">
                <a:solidFill>
                  <a:srgbClr val="1F2328"/>
                </a:solidFill>
              </a:rPr>
              <a:t>- Control-room operator isolates on a confirmed release, shift in-charge confirms</a:t>
            </a:r>
            <a:endParaRPr lang="en" sz="1200" dirty="0"/>
          </a:p>
          <a:p>
            <a:pPr>
              <a:spcAft>
                <a:spcPts val="0"/>
              </a:spcAft>
              <a:buNone/>
            </a:pPr>
            <a:r>
              <a:rPr lang="en" sz="1200" dirty="0">
                <a:solidFill>
                  <a:srgbClr val="1F2328"/>
                </a:solidFill>
              </a:rPr>
              <a:t>Trade-offs: Delegation removes the escalation delay but means accepting some isolations that later prove unnecessary, with lost production; the leadership team has to back crews who isolate in good faith.</a:t>
            </a:r>
            <a:endParaRPr lang="en" sz="1200" dirty="0"/>
          </a:p>
          <a:p>
            <a:pPr>
              <a:spcAft>
                <a:spcPts val="0"/>
              </a:spcAft>
              <a:buNone/>
            </a:pPr>
            <a:r>
              <a:rPr lang="en" sz="1200" dirty="0">
                <a:solidFill>
                  <a:srgbClr val="1F2328"/>
                </a:solidFill>
              </a:rPr>
              <a:t>Owner: Operations function</a:t>
            </a:r>
            <a:endParaRPr lang="en" sz="1200" dirty="0"/>
          </a:p>
          <a:p>
            <a:pPr>
              <a:spcAft>
                <a:spcPts val="0"/>
              </a:spcAft>
              <a:buNone/>
            </a:pPr>
            <a:r>
              <a:rPr lang="en" sz="1200" dirty="0">
                <a:solidFill>
                  <a:srgbClr val="1F2328"/>
                </a:solidFill>
              </a:rPr>
              <a:t>Cites: FND-82761CC5; FND-314D34C5; FND-AE629313; EVD-4052; FND-81E3EEA0; FND-500E0B2D; FND-8DAFDADC; FND-7505B1AF; FND-2EC435D0; FND-BB4CC662</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FND-82761CC5: No delegated authority or criteria for emergency isolation in DMP and night-shift structure · L4 · rating 4</a:t>
            </a:r>
            <a:endParaRPr lang="en" sz="1200" dirty="0"/>
          </a:p>
          <a:p>
            <a:pPr>
              <a:spcAft>
                <a:spcPts val="0"/>
              </a:spcAft>
              <a:buNone/>
            </a:pPr>
            <a:r>
              <a:rPr lang="en" sz="1200" dirty="0">
                <a:solidFill>
                  <a:srgbClr val="1F2328"/>
                </a:solidFill>
              </a:rPr>
              <a:t>FND-314D34C5: Control Room Operators - DMP Isolation Decision Criteria · L1 · rating 4</a:t>
            </a:r>
            <a:endParaRPr lang="en" sz="1200" dirty="0"/>
          </a:p>
          <a:p>
            <a:pPr>
              <a:spcAft>
                <a:spcPts val="0"/>
              </a:spcAft>
              <a:buNone/>
            </a:pPr>
            <a:r>
              <a:rPr lang="en" sz="1200" dirty="0">
                <a:solidFill>
                  <a:srgbClr val="1F2328"/>
                </a:solidFill>
              </a:rPr>
              <a:t>FND-AE629313: Emergency isolation response - MOV 54 closure delay · L1 · rating 4</a:t>
            </a:r>
            <a:endParaRPr lang="en" sz="1200" dirty="0"/>
          </a:p>
          <a:p>
            <a:pPr>
              <a:spcAft>
                <a:spcPts val="0"/>
              </a:spcAft>
              <a:buNone/>
            </a:pPr>
            <a:r>
              <a:rPr lang="en" sz="1200" dirty="0">
                <a:solidFill>
                  <a:srgbClr val="1F2328"/>
                </a:solidFill>
              </a:rPr>
              <a:t>EVD-4052: document</a:t>
            </a:r>
            <a:endParaRPr lang="en" sz="1200" dirty="0"/>
          </a:p>
          <a:p>
            <a:pPr>
              <a:spcAft>
                <a:spcPts val="0"/>
              </a:spcAft>
              <a:buNone/>
            </a:pPr>
            <a:r>
              <a:rPr lang="en" sz="1200" dirty="0">
                <a:solidFill>
                  <a:srgbClr val="1F2328"/>
                </a:solidFill>
              </a:rPr>
              <a:t>FND-81E3EEA0: DMP/ERDMP hydrocarbon-leakage guidance omits isolation/stoppage decision criteria · L2 · rating 4</a:t>
            </a:r>
            <a:endParaRPr lang="en" sz="1200" dirty="0"/>
          </a:p>
          <a:p>
            <a:pPr>
              <a:spcAft>
                <a:spcPts val="0"/>
              </a:spcAft>
              <a:buNone/>
            </a:pPr>
            <a:r>
              <a:rPr lang="en" sz="1200" dirty="0">
                <a:solidFill>
                  <a:srgbClr val="1F2328"/>
                </a:solidFill>
              </a:rPr>
              <a:t>FND-500E0B2D: On-site DMP emergency response planning for hydrocarbon leakage · L2 · rating 4</a:t>
            </a:r>
            <a:endParaRPr lang="en" sz="1200" dirty="0"/>
          </a:p>
          <a:p>
            <a:pPr>
              <a:spcAft>
                <a:spcPts val="0"/>
              </a:spcAft>
              <a:buNone/>
            </a:pPr>
            <a:r>
              <a:rPr lang="en" sz="1200" dirty="0">
                <a:solidFill>
                  <a:srgbClr val="1F2328"/>
                </a:solidFill>
              </a:rPr>
              <a:t>FND-8DAFDADC: Emergency isolation authority not allocated to on-shift operators · L2 · rating 4</a:t>
            </a:r>
            <a:endParaRPr lang="en" sz="1200" dirty="0"/>
          </a:p>
          <a:p>
            <a:pPr>
              <a:spcAft>
                <a:spcPts val="0"/>
              </a:spcAft>
              <a:buNone/>
            </a:pPr>
            <a:r>
              <a:rPr lang="en" sz="1200" dirty="0">
                <a:solidFill>
                  <a:srgbClr val="1F2328"/>
                </a:solidFill>
              </a:rPr>
              <a:t>FND-7505B1AF: Steep authority gradient in emergency response · L2 · rating 4</a:t>
            </a:r>
            <a:endParaRPr lang="en" sz="1200" dirty="0"/>
          </a:p>
          <a:p>
            <a:pPr>
              <a:spcAft>
                <a:spcPts val="0"/>
              </a:spcAft>
              <a:buNone/>
            </a:pPr>
            <a:r>
              <a:rPr lang="en" sz="1200" dirty="0">
                <a:solidFill>
                  <a:srgbClr val="1F2328"/>
                </a:solidFill>
              </a:rPr>
              <a:t>FND-2EC435D0: DMP/ERDMP hydrocarbon-leak scenario lacked isolation/stoppage decision criteria · L3 · rating 4</a:t>
            </a:r>
            <a:endParaRPr lang="en" sz="1200" dirty="0"/>
          </a:p>
          <a:p>
            <a:pPr>
              <a:spcAft>
                <a:spcPts val="0"/>
              </a:spcAft>
              <a:buNone/>
            </a:pPr>
            <a:r>
              <a:rPr lang="en" sz="1200" dirty="0">
                <a:solidFill>
                  <a:srgbClr val="1F2328"/>
                </a:solidFill>
              </a:rPr>
              <a:t>FND-BB4CC662: Emergency isolation intent/criteria never communicated to night shift through DMP/standing orders · L3 · rating 4</a:t>
            </a:r>
            <a:endParaRPr lang="e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Decision: Needs corporate decision: fund remote operation of the emergency isolation valves for inventories that can form a large vapour cloud</a:t>
            </a:r>
            <a:endParaRPr lang="en" sz="1200" dirty="0"/>
          </a:p>
          <a:p>
            <a:pPr>
              <a:spcAft>
                <a:spcPts val="0"/>
              </a:spcAft>
              <a:buNone/>
            </a:pPr>
            <a:r>
              <a:rPr lang="en" sz="1200" dirty="0">
                <a:solidFill>
                  <a:srgbClr val="1F2328"/>
                </a:solidFill>
              </a:rPr>
              <a:t>Options:</a:t>
            </a:r>
            <a:endParaRPr lang="en" sz="1200" dirty="0"/>
          </a:p>
          <a:p>
            <a:pPr>
              <a:spcAft>
                <a:spcPts val="0"/>
              </a:spcAft>
              <a:buNone/>
            </a:pPr>
            <a:r>
              <a:rPr lang="en" sz="1200" dirty="0">
                <a:solidFill>
                  <a:srgbClr val="1F2328"/>
                </a:solidFill>
              </a:rPr>
              <a:t>- Remote operation from the control room</a:t>
            </a:r>
            <a:endParaRPr lang="en" sz="1200" dirty="0"/>
          </a:p>
          <a:p>
            <a:pPr>
              <a:spcAft>
                <a:spcPts val="0"/>
              </a:spcAft>
              <a:buNone/>
            </a:pPr>
            <a:r>
              <a:rPr lang="en" sz="1200" dirty="0">
                <a:solidFill>
                  <a:srgbClr val="1F2328"/>
                </a:solidFill>
              </a:rPr>
              <a:t>- Automatic closure on confirmed gas detection where justified</a:t>
            </a:r>
            <a:endParaRPr lang="en" sz="1200" dirty="0"/>
          </a:p>
          <a:p>
            <a:pPr>
              <a:spcAft>
                <a:spcPts val="0"/>
              </a:spcAft>
              <a:buNone/>
            </a:pPr>
            <a:r>
              <a:rPr lang="en" sz="1200" dirty="0">
                <a:solidFill>
                  <a:srgbClr val="1F2328"/>
                </a:solidFill>
              </a:rPr>
              <a:t>Trade-offs: Remote operation is likely to need capital and a shutdown window; without it, isolation still depends on reaching the valve through the release.</a:t>
            </a:r>
            <a:endParaRPr lang="en" sz="1200" dirty="0"/>
          </a:p>
          <a:p>
            <a:pPr>
              <a:spcAft>
                <a:spcPts val="0"/>
              </a:spcAft>
              <a:buNone/>
            </a:pPr>
            <a:r>
              <a:rPr lang="en" sz="1200" dirty="0">
                <a:solidFill>
                  <a:srgbClr val="1F2328"/>
                </a:solidFill>
              </a:rPr>
              <a:t>Owner: Engineering function</a:t>
            </a:r>
            <a:endParaRPr lang="en" sz="1200" dirty="0"/>
          </a:p>
          <a:p>
            <a:pPr>
              <a:spcAft>
                <a:spcPts val="0"/>
              </a:spcAft>
              <a:buNone/>
            </a:pPr>
            <a:r>
              <a:rPr lang="en" sz="1200" dirty="0">
                <a:solidFill>
                  <a:srgbClr val="1F2328"/>
                </a:solidFill>
              </a:rPr>
              <a:t>Cites: FND-044D1DEC; FND-4C645CB5; FND-31405D96; EVD-3932; FND-A19F3D9C; FND-9B406A83; FND-594A80E9; FND-BDD73BA2; FND-FD0EF0F5</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FND-044D1DEC: Emergency isolation valves MOV 54 and the Gas Terminal MOVs were local-manual only, with no remote control from the control room · L4 · rating 4</a:t>
            </a:r>
            <a:endParaRPr lang="en" sz="1200" dirty="0"/>
          </a:p>
          <a:p>
            <a:pPr>
              <a:spcAft>
                <a:spcPts val="0"/>
              </a:spcAft>
              <a:buNone/>
            </a:pPr>
            <a:r>
              <a:rPr lang="en" sz="1200" dirty="0">
                <a:solidFill>
                  <a:srgbClr val="1F2328"/>
                </a:solidFill>
              </a:rPr>
              <a:t>FND-4C645CB5: Emergency isolation MOVs not configured for remote operation from the control room · L2 · rating 4</a:t>
            </a:r>
            <a:endParaRPr lang="en" sz="1200" dirty="0"/>
          </a:p>
          <a:p>
            <a:pPr>
              <a:spcAft>
                <a:spcPts val="0"/>
              </a:spcAft>
              <a:buNone/>
            </a:pPr>
            <a:r>
              <a:rPr lang="en" sz="1200" dirty="0">
                <a:solidFill>
                  <a:srgbClr val="1F2328"/>
                </a:solidFill>
              </a:rPr>
              <a:t>FND-31405D96: Gas Terminal emergency isolation MOVs local-only, no remote operation from control room · L2 · rating 4</a:t>
            </a:r>
            <a:endParaRPr lang="en" sz="1200" dirty="0"/>
          </a:p>
          <a:p>
            <a:pPr>
              <a:spcAft>
                <a:spcPts val="0"/>
              </a:spcAft>
              <a:buNone/>
            </a:pPr>
            <a:r>
              <a:rPr lang="en" sz="1200" dirty="0">
                <a:solidFill>
                  <a:srgbClr val="1F2328"/>
                </a:solidFill>
              </a:rPr>
              <a:t>EVD-3932: document</a:t>
            </a:r>
            <a:endParaRPr lang="en" sz="1200" dirty="0"/>
          </a:p>
          <a:p>
            <a:pPr>
              <a:spcAft>
                <a:spcPts val="0"/>
              </a:spcAft>
              <a:buNone/>
            </a:pPr>
            <a:r>
              <a:rPr lang="en" sz="1200" dirty="0">
                <a:solidFill>
                  <a:srgbClr val="1F2328"/>
                </a:solidFill>
              </a:rPr>
              <a:t>FND-A19F3D9C: Emergency isolation capability and shift-authority planning · L2 · rating 3</a:t>
            </a:r>
            <a:endParaRPr lang="en" sz="1200" dirty="0"/>
          </a:p>
          <a:p>
            <a:pPr>
              <a:spcAft>
                <a:spcPts val="0"/>
              </a:spcAft>
              <a:buNone/>
            </a:pPr>
            <a:r>
              <a:rPr lang="en" sz="1200" dirty="0">
                <a:solidFill>
                  <a:srgbClr val="1F2328"/>
                </a:solidFill>
              </a:rPr>
              <a:t>FND-9B406A83: Condensate Vapour Cloud Obscuring Leak Source · L2 · rating 4</a:t>
            </a:r>
            <a:endParaRPr lang="en" sz="1200" dirty="0"/>
          </a:p>
          <a:p>
            <a:pPr>
              <a:spcAft>
                <a:spcPts val="0"/>
              </a:spcAft>
              <a:buNone/>
            </a:pPr>
            <a:r>
              <a:rPr lang="en" sz="1200" dirty="0">
                <a:solidFill>
                  <a:srgbClr val="1F2328"/>
                </a:solidFill>
              </a:rPr>
              <a:t>FND-594A80E9: GSP Shift In-charge and Overall Shift In-charge - 02:35-03:01 hrs · L2 · rating 4</a:t>
            </a:r>
            <a:endParaRPr lang="en" sz="1200" dirty="0"/>
          </a:p>
          <a:p>
            <a:pPr>
              <a:spcAft>
                <a:spcPts val="0"/>
              </a:spcAft>
              <a:buNone/>
            </a:pPr>
            <a:r>
              <a:rPr lang="en" sz="1200" dirty="0">
                <a:solidFill>
                  <a:srgbClr val="1F2328"/>
                </a:solidFill>
              </a:rPr>
              <a:t>FND-BDD73BA2: Vapour cloud density preventing personnel approach to leak source · L2 · rating 4</a:t>
            </a:r>
            <a:endParaRPr lang="en" sz="1200" dirty="0"/>
          </a:p>
          <a:p>
            <a:pPr>
              <a:spcAft>
                <a:spcPts val="0"/>
              </a:spcAft>
              <a:buNone/>
            </a:pPr>
            <a:r>
              <a:rPr lang="en" sz="1200" dirty="0">
                <a:solidFill>
                  <a:srgbClr val="1F2328"/>
                </a:solidFill>
              </a:rPr>
              <a:t>FND-FD0EF0F5: Gas Terminal CR Personnel - Vapour Cloud Visibility · L1 · rating 3</a:t>
            </a:r>
            <a:endParaRPr lang="en"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Decision: Needs corporate decision: approve fire and gas voting logic with automatic executive action for major-release areas</a:t>
            </a:r>
            <a:endParaRPr lang="en" sz="1200" dirty="0"/>
          </a:p>
          <a:p>
            <a:pPr>
              <a:spcAft>
                <a:spcPts val="0"/>
              </a:spcAft>
              <a:buNone/>
            </a:pPr>
            <a:r>
              <a:rPr lang="en" sz="1200" dirty="0">
                <a:solidFill>
                  <a:srgbClr val="1F2328"/>
                </a:solidFill>
              </a:rPr>
              <a:t>Options:</a:t>
            </a:r>
            <a:endParaRPr lang="en" sz="1200" dirty="0"/>
          </a:p>
          <a:p>
            <a:pPr>
              <a:spcAft>
                <a:spcPts val="0"/>
              </a:spcAft>
              <a:buNone/>
            </a:pPr>
            <a:r>
              <a:rPr lang="en" sz="1200" dirty="0">
                <a:solidFill>
                  <a:srgbClr val="1F2328"/>
                </a:solidFill>
              </a:rPr>
              <a:t>- Automatic shutdown and protection on confirmed detection</a:t>
            </a:r>
            <a:endParaRPr lang="en" sz="1200" dirty="0"/>
          </a:p>
          <a:p>
            <a:pPr>
              <a:spcAft>
                <a:spcPts val="0"/>
              </a:spcAft>
              <a:buNone/>
            </a:pPr>
            <a:r>
              <a:rPr lang="en" sz="1200" dirty="0">
                <a:solidFill>
                  <a:srgbClr val="1F2328"/>
                </a:solidFill>
              </a:rPr>
              <a:t>- Alarm with a timed operator action, backed by automatic action</a:t>
            </a:r>
            <a:endParaRPr lang="en" sz="1200" dirty="0"/>
          </a:p>
          <a:p>
            <a:pPr>
              <a:spcAft>
                <a:spcPts val="0"/>
              </a:spcAft>
              <a:buNone/>
            </a:pPr>
            <a:r>
              <a:rPr lang="en" sz="1200" dirty="0">
                <a:solidFill>
                  <a:srgbClr val="1F2328"/>
                </a:solidFill>
              </a:rPr>
              <a:t>Trade-offs: Automatic action brings spurious-trip risk and engineering cost; display-only detection left the response to a manual chain.</a:t>
            </a:r>
            <a:endParaRPr lang="en" sz="1200" dirty="0"/>
          </a:p>
          <a:p>
            <a:pPr>
              <a:spcAft>
                <a:spcPts val="0"/>
              </a:spcAft>
              <a:buNone/>
            </a:pPr>
            <a:r>
              <a:rPr lang="en" sz="1200" dirty="0">
                <a:solidFill>
                  <a:srgbClr val="1F2328"/>
                </a:solidFill>
              </a:rPr>
              <a:t>Owner: Engineering function</a:t>
            </a:r>
            <a:endParaRPr lang="en" sz="1200" dirty="0"/>
          </a:p>
          <a:p>
            <a:pPr>
              <a:spcAft>
                <a:spcPts val="0"/>
              </a:spcAft>
              <a:buNone/>
            </a:pPr>
            <a:r>
              <a:rPr lang="en" sz="1200" dirty="0">
                <a:solidFill>
                  <a:srgbClr val="1F2328"/>
                </a:solidFill>
              </a:rPr>
              <a:t>Cites: FND-6155A1C2; FND-4D7CF773; EVD-8657; FND-15B4E60F</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FND-6155A1C2: F&amp;G detection system had no auto-shutdown or fire-suppression interlock · L4 · rating 4</a:t>
            </a:r>
            <a:endParaRPr lang="en" sz="1200" dirty="0"/>
          </a:p>
          <a:p>
            <a:pPr>
              <a:spcAft>
                <a:spcPts val="0"/>
              </a:spcAft>
              <a:buNone/>
            </a:pPr>
            <a:r>
              <a:rPr lang="en" sz="1200" dirty="0">
                <a:solidFill>
                  <a:srgbClr val="1F2328"/>
                </a:solidFill>
              </a:rPr>
              <a:t>FND-4D7CF773: No policy required the F&amp;G detection system to be interlocked to automatic plant shutdown and fire-suppression activation · L3 · rating 4</a:t>
            </a:r>
            <a:endParaRPr lang="en" sz="1200" dirty="0"/>
          </a:p>
          <a:p>
            <a:pPr>
              <a:spcAft>
                <a:spcPts val="0"/>
              </a:spcAft>
              <a:buNone/>
            </a:pPr>
            <a:r>
              <a:rPr lang="en" sz="1200" dirty="0">
                <a:solidFill>
                  <a:srgbClr val="1F2328"/>
                </a:solidFill>
              </a:rPr>
              <a:t>EVD-8657: log_record</a:t>
            </a:r>
            <a:endParaRPr lang="en" sz="1200" dirty="0"/>
          </a:p>
          <a:p>
            <a:pPr>
              <a:spcAft>
                <a:spcPts val="0"/>
              </a:spcAft>
              <a:buNone/>
            </a:pPr>
            <a:r>
              <a:rPr lang="en" sz="1200" dirty="0">
                <a:solidFill>
                  <a:srgbClr val="1F2328"/>
                </a:solidFill>
              </a:rPr>
              <a:t>FND-15B4E60F: Gas Terminal emergency operations workspace — display-only F&amp;G, manual MOVs, single CCTV, no isolation criteria · L3 · rating 4</a:t>
            </a:r>
            <a:endParaRPr lang="en"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Decision: Give one function ownership of pressure-part specifications and of approving any substitute part</a:t>
            </a:r>
            <a:endParaRPr lang="en" sz="1200" dirty="0"/>
          </a:p>
          <a:p>
            <a:pPr>
              <a:spcAft>
                <a:spcPts val="0"/>
              </a:spcAft>
              <a:buNone/>
            </a:pPr>
            <a:r>
              <a:rPr lang="en" sz="1200" dirty="0">
                <a:solidFill>
                  <a:srgbClr val="1F2328"/>
                </a:solidFill>
              </a:rPr>
              <a:t>Options:</a:t>
            </a:r>
            <a:endParaRPr lang="en" sz="1200" dirty="0"/>
          </a:p>
          <a:p>
            <a:pPr>
              <a:spcAft>
                <a:spcPts val="0"/>
              </a:spcAft>
              <a:buNone/>
            </a:pPr>
            <a:r>
              <a:rPr lang="en" sz="1200" dirty="0">
                <a:solidFill>
                  <a:srgbClr val="1F2328"/>
                </a:solidFill>
              </a:rPr>
              <a:t>- Engineering function owns specifications; stores issue only against them</a:t>
            </a:r>
            <a:endParaRPr lang="en" sz="1200" dirty="0"/>
          </a:p>
          <a:p>
            <a:pPr>
              <a:spcAft>
                <a:spcPts val="0"/>
              </a:spcAft>
              <a:buNone/>
            </a:pPr>
            <a:r>
              <a:rPr lang="en" sz="1200" dirty="0">
                <a:solidFill>
                  <a:srgbClr val="1F2328"/>
                </a:solidFill>
              </a:rPr>
              <a:t>- Maintenance function owns them with engineering approval of substitutes</a:t>
            </a:r>
            <a:endParaRPr lang="en" sz="1200" dirty="0"/>
          </a:p>
          <a:p>
            <a:pPr>
              <a:spcAft>
                <a:spcPts val="0"/>
              </a:spcAft>
              <a:buNone/>
            </a:pPr>
            <a:r>
              <a:rPr lang="en" sz="1200" dirty="0">
                <a:solidFill>
                  <a:srgbClr val="1F2328"/>
                </a:solidFill>
              </a:rPr>
              <a:t>Trade-offs: One owner in engineering separates the person fitting the part from the person approving it, at the cost of an extra step for urgent repairs.</a:t>
            </a:r>
            <a:endParaRPr lang="en" sz="1200" dirty="0"/>
          </a:p>
          <a:p>
            <a:pPr>
              <a:spcAft>
                <a:spcPts val="0"/>
              </a:spcAft>
              <a:buNone/>
            </a:pPr>
            <a:r>
              <a:rPr lang="en" sz="1200" dirty="0">
                <a:solidFill>
                  <a:srgbClr val="1F2328"/>
                </a:solidFill>
              </a:rPr>
              <a:t>Owner: Engineering function</a:t>
            </a:r>
            <a:endParaRPr lang="en" sz="1200" dirty="0"/>
          </a:p>
          <a:p>
            <a:pPr>
              <a:spcAft>
                <a:spcPts val="0"/>
              </a:spcAft>
              <a:buNone/>
            </a:pPr>
            <a:r>
              <a:rPr lang="en" sz="1200" dirty="0">
                <a:solidFill>
                  <a:srgbClr val="1F2328"/>
                </a:solidFill>
              </a:rPr>
              <a:t>Cites: FND-B440C1BF; FND-DE30BD8B; EVD-8645</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FND-B440C1BF: Unassessed program risk of O-ring substitution for OEM rectangular-slot gasket · L4 · rating 4</a:t>
            </a:r>
            <a:endParaRPr lang="en" sz="1200" dirty="0"/>
          </a:p>
          <a:p>
            <a:pPr>
              <a:spcAft>
                <a:spcPts val="0"/>
              </a:spcAft>
              <a:buNone/>
            </a:pPr>
            <a:r>
              <a:rPr lang="en" sz="1200" dirty="0">
                <a:solidFill>
                  <a:srgbClr val="1F2328"/>
                </a:solidFill>
              </a:rPr>
              <a:t>FND-DE30BD8B: Management failed to provide any substitute-specification, procurement, or quality-control policy after the OEM gasket specification was lost · L3 · rating 4</a:t>
            </a:r>
            <a:endParaRPr lang="en" sz="1200" dirty="0"/>
          </a:p>
          <a:p>
            <a:pPr>
              <a:spcAft>
                <a:spcPts val="0"/>
              </a:spcAft>
              <a:buNone/>
            </a:pPr>
            <a:r>
              <a:rPr lang="en" sz="1200" dirty="0">
                <a:solidFill>
                  <a:srgbClr val="1F2328"/>
                </a:solidFill>
              </a:rPr>
              <a:t>EVD-8645: document</a:t>
            </a:r>
            <a:endParaRPr lang="en"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Decision: Treat return to service after pressure-boundary work as a hold point that operations accepts in writing against a test record</a:t>
            </a:r>
            <a:endParaRPr lang="en" sz="1200" dirty="0"/>
          </a:p>
          <a:p>
            <a:pPr>
              <a:spcAft>
                <a:spcPts val="0"/>
              </a:spcAft>
              <a:buNone/>
            </a:pPr>
            <a:r>
              <a:rPr lang="en" sz="1200" dirty="0">
                <a:solidFill>
                  <a:srgbClr val="1F2328"/>
                </a:solidFill>
              </a:rPr>
              <a:t>Options:</a:t>
            </a:r>
            <a:endParaRPr lang="en" sz="1200" dirty="0"/>
          </a:p>
          <a:p>
            <a:pPr>
              <a:spcAft>
                <a:spcPts val="0"/>
              </a:spcAft>
              <a:buNone/>
            </a:pPr>
            <a:r>
              <a:rPr lang="en" sz="1200" dirty="0">
                <a:solidFill>
                  <a:srgbClr val="1F2328"/>
                </a:solidFill>
              </a:rPr>
              <a:t>- Hold point with a design-pressure test record</a:t>
            </a:r>
            <a:endParaRPr lang="en" sz="1200" dirty="0"/>
          </a:p>
          <a:p>
            <a:pPr>
              <a:spcAft>
                <a:spcPts val="0"/>
              </a:spcAft>
              <a:buNone/>
            </a:pPr>
            <a:r>
              <a:rPr lang="en" sz="1200" dirty="0">
                <a:solidFill>
                  <a:srgbClr val="1F2328"/>
                </a:solidFill>
              </a:rPr>
              <a:t>- Hold point with an engineering-approved alternative test</a:t>
            </a:r>
            <a:endParaRPr lang="en" sz="1200" dirty="0"/>
          </a:p>
          <a:p>
            <a:pPr>
              <a:spcAft>
                <a:spcPts val="0"/>
              </a:spcAft>
              <a:buNone/>
            </a:pPr>
            <a:r>
              <a:rPr lang="en" sz="1200" dirty="0">
                <a:solidFill>
                  <a:srgbClr val="1F2328"/>
                </a:solidFill>
              </a:rPr>
              <a:t>Trade-offs: A hold point adds time before restart; without it the meter went back online after an operating-pressure soak only.</a:t>
            </a:r>
            <a:endParaRPr lang="en" sz="1200" dirty="0"/>
          </a:p>
          <a:p>
            <a:pPr>
              <a:spcAft>
                <a:spcPts val="0"/>
              </a:spcAft>
              <a:buNone/>
            </a:pPr>
            <a:r>
              <a:rPr lang="en" sz="1200" dirty="0">
                <a:solidFill>
                  <a:srgbClr val="1F2328"/>
                </a:solidFill>
              </a:rPr>
              <a:t>Owner: Operations function</a:t>
            </a:r>
            <a:endParaRPr lang="en" sz="1200" dirty="0"/>
          </a:p>
          <a:p>
            <a:pPr>
              <a:spcAft>
                <a:spcPts val="0"/>
              </a:spcAft>
              <a:buNone/>
            </a:pPr>
            <a:r>
              <a:rPr lang="en" sz="1200" dirty="0">
                <a:solidFill>
                  <a:srgbClr val="1F2328"/>
                </a:solidFill>
              </a:rPr>
              <a:t>Cites: FND-5919B328; EVD-2894; EVD-0185</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FND-5919B328: Authorised return-to-service without the mandatory hydrostatic test · L3 · rating 4</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EVD-0185: log_record</a:t>
            </a:r>
            <a:endParaRPr lang="en"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Decision: Fund replacement of old HPMV fittings in zoned areas with certified fittings, and move their maintenance from breakdown to planned inspection</a:t>
            </a:r>
            <a:endParaRPr lang="en" sz="1200" dirty="0"/>
          </a:p>
          <a:p>
            <a:pPr>
              <a:spcAft>
                <a:spcPts val="0"/>
              </a:spcAft>
              <a:buNone/>
            </a:pPr>
            <a:r>
              <a:rPr lang="en" sz="1200" dirty="0">
                <a:solidFill>
                  <a:srgbClr val="1F2328"/>
                </a:solidFill>
              </a:rPr>
              <a:t>Options:</a:t>
            </a:r>
            <a:endParaRPr lang="en" sz="1200" dirty="0"/>
          </a:p>
          <a:p>
            <a:pPr>
              <a:spcAft>
                <a:spcPts val="0"/>
              </a:spcAft>
              <a:buNone/>
            </a:pPr>
            <a:r>
              <a:rPr lang="en" sz="1200" dirty="0">
                <a:solidFill>
                  <a:srgbClr val="1F2328"/>
                </a:solidFill>
              </a:rPr>
              <a:t>- Replace all fittings in the zoned areas in one programme</a:t>
            </a:r>
            <a:endParaRPr lang="en" sz="1200" dirty="0"/>
          </a:p>
          <a:p>
            <a:pPr>
              <a:spcAft>
                <a:spcPts val="0"/>
              </a:spcAft>
              <a:buNone/>
            </a:pPr>
            <a:r>
              <a:rPr lang="en" sz="1200" dirty="0">
                <a:solidFill>
                  <a:srgbClr val="1F2328"/>
                </a:solidFill>
              </a:rPr>
              <a:t>- Inspect all now and replace on condition</a:t>
            </a:r>
            <a:endParaRPr lang="en" sz="1200" dirty="0"/>
          </a:p>
          <a:p>
            <a:pPr>
              <a:spcAft>
                <a:spcPts val="0"/>
              </a:spcAft>
              <a:buNone/>
            </a:pPr>
            <a:r>
              <a:rPr lang="en" sz="1200" dirty="0">
                <a:solidFill>
                  <a:srgbClr val="1F2328"/>
                </a:solidFill>
              </a:rPr>
              <a:t>Trade-offs: Full replacement costs more at once; inspect-and-replace leaves old fittings in service longer but finds the worst first.</a:t>
            </a:r>
            <a:endParaRPr lang="en" sz="1200" dirty="0"/>
          </a:p>
          <a:p>
            <a:pPr>
              <a:spcAft>
                <a:spcPts val="0"/>
              </a:spcAft>
              <a:buNone/>
            </a:pPr>
            <a:r>
              <a:rPr lang="en" sz="1200" dirty="0">
                <a:solidFill>
                  <a:srgbClr val="1F2328"/>
                </a:solidFill>
              </a:rPr>
              <a:t>Owner: Maintenance function</a:t>
            </a:r>
            <a:endParaRPr lang="en" sz="1200" dirty="0"/>
          </a:p>
          <a:p>
            <a:pPr>
              <a:spcAft>
                <a:spcPts val="0"/>
              </a:spcAft>
              <a:buNone/>
            </a:pPr>
            <a:r>
              <a:rPr lang="en" sz="1200" dirty="0">
                <a:solidFill>
                  <a:srgbClr val="1F2328"/>
                </a:solidFill>
              </a:rPr>
              <a:t>Cites: FND-1280E788; EVD-6916; EVD-0496</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FND-1280E788: Breakdown-maintenance philosophy for electrical/flame-proof equipment in Zone 1 areas · L4 · rating 4</a:t>
            </a:r>
            <a:endParaRPr lang="en" sz="1200" dirty="0"/>
          </a:p>
          <a:p>
            <a:pPr>
              <a:spcAft>
                <a:spcPts val="0"/>
              </a:spcAft>
              <a:buNone/>
            </a:pPr>
            <a:r>
              <a:rPr lang="en" sz="1200" dirty="0">
                <a:solidFill>
                  <a:srgbClr val="1F2328"/>
                </a:solidFill>
              </a:rPr>
              <a:t>EVD-6916: physical_item</a:t>
            </a:r>
            <a:endParaRPr lang="en" sz="1200" dirty="0"/>
          </a:p>
          <a:p>
            <a:pPr>
              <a:spcAft>
                <a:spcPts val="0"/>
              </a:spcAft>
              <a:buNone/>
            </a:pPr>
            <a:r>
              <a:rPr lang="en" sz="1200" dirty="0">
                <a:solidFill>
                  <a:srgbClr val="1F2328"/>
                </a:solidFill>
              </a:rPr>
              <a:t>EVD-0496: photograph</a:t>
            </a:r>
            <a:endParaRPr lang="en"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Decision: Allow no extension of a safety recommendation without the documented approval the procedure requires, and review overdue items monthly</a:t>
            </a:r>
            <a:endParaRPr lang="en" sz="1200" dirty="0"/>
          </a:p>
          <a:p>
            <a:pPr>
              <a:spcAft>
                <a:spcPts val="0"/>
              </a:spcAft>
              <a:buNone/>
            </a:pPr>
            <a:r>
              <a:rPr lang="en" sz="1200" dirty="0">
                <a:solidFill>
                  <a:srgbClr val="1F2328"/>
                </a:solidFill>
              </a:rPr>
              <a:t>Options:</a:t>
            </a:r>
            <a:endParaRPr lang="en" sz="1200" dirty="0"/>
          </a:p>
          <a:p>
            <a:pPr>
              <a:spcAft>
                <a:spcPts val="0"/>
              </a:spcAft>
              <a:buNone/>
            </a:pPr>
            <a:r>
              <a:rPr lang="en" sz="1200" dirty="0">
                <a:solidFill>
                  <a:srgbClr val="1F2328"/>
                </a:solidFill>
              </a:rPr>
              <a:t>- Monthly review by the leadership team</a:t>
            </a:r>
            <a:endParaRPr lang="en" sz="1200" dirty="0"/>
          </a:p>
          <a:p>
            <a:pPr>
              <a:spcAft>
                <a:spcPts val="0"/>
              </a:spcAft>
              <a:buNone/>
            </a:pPr>
            <a:r>
              <a:rPr lang="en" sz="1200" dirty="0">
                <a:solidFill>
                  <a:srgbClr val="1F2328"/>
                </a:solidFill>
              </a:rPr>
              <a:t>- Quarterly review with escalation of any unapproved extension</a:t>
            </a:r>
            <a:endParaRPr lang="en" sz="1200" dirty="0"/>
          </a:p>
          <a:p>
            <a:pPr>
              <a:spcAft>
                <a:spcPts val="0"/>
              </a:spcAft>
              <a:buNone/>
            </a:pPr>
            <a:r>
              <a:rPr lang="en" sz="1200" dirty="0">
                <a:solidFill>
                  <a:srgbClr val="1F2328"/>
                </a:solidFill>
              </a:rPr>
              <a:t>Trade-offs: A monthly review takes leadership time; the evidence shows extensions ran without the required approval.</a:t>
            </a:r>
            <a:endParaRPr lang="en" sz="1200" dirty="0"/>
          </a:p>
          <a:p>
            <a:pPr>
              <a:spcAft>
                <a:spcPts val="0"/>
              </a:spcAft>
              <a:buNone/>
            </a:pPr>
            <a:r>
              <a:rPr lang="en" sz="1200" dirty="0">
                <a:solidFill>
                  <a:srgbClr val="1F2328"/>
                </a:solidFill>
              </a:rPr>
              <a:t>Owner: HSE and process safety function</a:t>
            </a:r>
            <a:endParaRPr lang="en" sz="1200" dirty="0"/>
          </a:p>
          <a:p>
            <a:pPr>
              <a:spcAft>
                <a:spcPts val="0"/>
              </a:spcAft>
              <a:buNone/>
            </a:pPr>
            <a:r>
              <a:rPr lang="en" sz="1200" dirty="0">
                <a:solidFill>
                  <a:srgbClr val="1F2328"/>
                </a:solidFill>
              </a:rPr>
              <a:t>Cites: FND-850B270C; FND-5A742738; EVD-6852</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FND-850B270C: External safety audit recommendations overdue without required approval for extensions · L3 · rating 2</a:t>
            </a:r>
            <a:endParaRPr lang="en" sz="1200" dirty="0"/>
          </a:p>
          <a:p>
            <a:pPr>
              <a:spcAft>
                <a:spcPts val="0"/>
              </a:spcAft>
              <a:buNone/>
            </a:pPr>
            <a:r>
              <a:rPr lang="en" sz="1200" dirty="0">
                <a:solidFill>
                  <a:srgbClr val="1F2328"/>
                </a:solidFill>
              </a:rPr>
              <a:t>FND-5A742738: External Safety Audit February 2018 recommendations overdue with extension dates lacking documented competent-authority approval · L3 · rating 2</a:t>
            </a:r>
            <a:endParaRPr lang="en" sz="1200" dirty="0"/>
          </a:p>
          <a:p>
            <a:pPr>
              <a:spcAft>
                <a:spcPts val="0"/>
              </a:spcAft>
              <a:buNone/>
            </a:pPr>
            <a:r>
              <a:rPr lang="en" sz="1200" dirty="0">
                <a:solidFill>
                  <a:srgbClr val="1F2328"/>
                </a:solidFill>
              </a:rPr>
              <a:t>EVD-6852: document</a:t>
            </a:r>
            <a:endParaRPr lang="en"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The maintenance and spares programme, one of the two largest hubs in the causal links, did not supply a specification for the 1986 meter's gasket or a reliability review of…</a:t>
            </a:r>
            <a:endParaRPr lang="en" sz="1200" dirty="0"/>
          </a:p>
          <a:p>
            <a:pPr>
              <a:spcAft>
                <a:spcPts val="0"/>
              </a:spcAft>
              <a:buNone/>
            </a:pPr>
            <a:r>
              <a:rPr lang="en" sz="1200" dirty="0">
                <a:solidFill>
                  <a:srgbClr val="1F2328"/>
                </a:solidFill>
              </a:rPr>
              <a:t>Text: The maintenance and spares programme, one of the two largest hubs in the causal links, did not supply a specification for the 1986 meter's gasket or a reliability review of repeat failures. Supervision therefore could not act on the risk it saw, rules on the job were not enforced, and checklists were not followed at return to service. The pathway ends on a seal that was not to specification and was never tested to design pressure [FND-1A251687; FND-B440C1BF; FND-5919B328; EVD-8645; EVD-2894].</a:t>
            </a:r>
            <a:endParaRPr lang="en" sz="1200" dirty="0"/>
          </a:p>
          <a:p>
            <a:pPr>
              <a:spcAft>
                <a:spcPts val="0"/>
              </a:spcAft>
              <a:buNone/>
            </a:pPr>
            <a:r>
              <a:rPr lang="en" sz="1200" dirty="0">
                <a:solidFill>
                  <a:srgbClr val="1F2328"/>
                </a:solidFill>
              </a:rPr>
              <a:t>Cites: FND-1A251687; FND-B440C1BF; FND-5919B328; EVD-8645; EVD-2894; FND-DE30BD8B; FND-F0D015E1</a:t>
            </a:r>
            <a:endParaRPr lang="en" sz="1200" dirty="0"/>
          </a:p>
          <a:p>
            <a:pPr>
              <a:spcAft>
                <a:spcPts val="0"/>
              </a:spcAft>
              <a:buNone/>
            </a:pPr>
            <a:endParaRPr lang="en" sz="1200" dirty="0"/>
          </a:p>
          <a:p>
            <a:pPr>
              <a:spcAft>
                <a:spcPts val="0"/>
              </a:spcAft>
              <a:buNone/>
            </a:pPr>
            <a:r>
              <a:rPr lang="en" sz="1200" dirty="0">
                <a:solidFill>
                  <a:srgbClr val="1F2328"/>
                </a:solidFill>
              </a:rPr>
              <a:t>2. A culture that allowed unsafe work and applied risk management unevenly leads to gaps in the guidance supervisors gave and to routine deviations at the job. The findings read…</a:t>
            </a:r>
            <a:endParaRPr lang="en" sz="1200" dirty="0"/>
          </a:p>
          <a:p>
            <a:pPr>
              <a:spcAft>
                <a:spcPts val="0"/>
              </a:spcAft>
              <a:buNone/>
            </a:pPr>
            <a:r>
              <a:rPr lang="en" sz="1200" dirty="0">
                <a:solidFill>
                  <a:srgbClr val="1F2328"/>
                </a:solidFill>
              </a:rPr>
              <a:t>Text: A culture that allowed unsafe work and applied risk management unevenly leads to gaps in the guidance supervisors gave and to routine deviations at the job. The findings read this as norms, not choices by one person: the substitute O-ring was 'regular practice', and the change procedure was not used after 2018. The pathway ends on changes to the plant that nobody reviewed [FND-8083ECAC; FND-B440C1BF; EVD-2986; EVD-8645].</a:t>
            </a:r>
            <a:endParaRPr lang="en" sz="1200" dirty="0"/>
          </a:p>
          <a:p>
            <a:pPr>
              <a:spcAft>
                <a:spcPts val="0"/>
              </a:spcAft>
              <a:buNone/>
            </a:pPr>
            <a:r>
              <a:rPr lang="en" sz="1200" dirty="0">
                <a:solidFill>
                  <a:srgbClr val="1F2328"/>
                </a:solidFill>
              </a:rPr>
              <a:t>Cites: FND-8083ECAC; FND-B440C1BF; EVD-2986; EVD-8645; FND-ADF96860; FND-07080447; FND-6ECCE231; FND-9F8CA896; FND-922A04DB</a:t>
            </a:r>
            <a:endParaRPr lang="en" sz="1200" dirty="0"/>
          </a:p>
          <a:p>
            <a:pPr>
              <a:spcAft>
                <a:spcPts val="0"/>
              </a:spcAft>
              <a:buNone/>
            </a:pPr>
            <a:endParaRPr lang="en" sz="1200" dirty="0"/>
          </a:p>
          <a:p>
            <a:pPr>
              <a:spcAft>
                <a:spcPts val="0"/>
              </a:spcAft>
              <a:buNone/>
            </a:pPr>
            <a:r>
              <a:rPr lang="en" sz="1200" dirty="0">
                <a:solidFill>
                  <a:srgbClr val="1F2328"/>
                </a:solidFill>
              </a:rPr>
              <a:t>3. Command and control resources and the timing of upgrades lead to equipment that was not set up for an emergency and to automation that was not provided. The isolation valves had…</a:t>
            </a:r>
            <a:endParaRPr lang="en" sz="1200" dirty="0"/>
          </a:p>
          <a:p>
            <a:pPr>
              <a:spcAft>
                <a:spcPts val="0"/>
              </a:spcAft>
              <a:buNone/>
            </a:pPr>
            <a:r>
              <a:rPr lang="en" sz="1200" dirty="0">
                <a:solidFill>
                  <a:srgbClr val="1F2328"/>
                </a:solidFill>
              </a:rPr>
              <a:t>Text: Command and control resources and the timing of upgrades lead to equipment that was not set up for an emergency and to automation that was not provided. The isolation valves had no remote operation and the fire and gas system had no executive action. The pathway ends on an isolation that depended on people reaching the valve through the cloud [FND-044D1DEC; FND-6155A1C2; FND-9B406A83; EVD-3932].</a:t>
            </a:r>
            <a:endParaRPr lang="en" sz="1200" dirty="0"/>
          </a:p>
          <a:p>
            <a:pPr>
              <a:spcAft>
                <a:spcPts val="0"/>
              </a:spcAft>
              <a:buNone/>
            </a:pPr>
            <a:r>
              <a:rPr lang="en" sz="1200" dirty="0">
                <a:solidFill>
                  <a:srgbClr val="1F2328"/>
                </a:solidFill>
              </a:rPr>
              <a:t>Cites: FND-044D1DEC; FND-6155A1C2; FND-9B406A83; EVD-3932; FND-4C645CB5; FND-31405D96; FND-A19F3D9C; FND-594A80E9; FND-BDD73BA2; FND-FD0EF0F5</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FND-1A251687: Chronic gasket failure on 310FT01 left to routine resealing — no OEM spares, root-cause or replacement programme · L4 · rating 4</a:t>
            </a:r>
            <a:endParaRPr lang="en" sz="1200" dirty="0"/>
          </a:p>
          <a:p>
            <a:pPr>
              <a:spcAft>
                <a:spcPts val="0"/>
              </a:spcAft>
              <a:buNone/>
            </a:pPr>
            <a:r>
              <a:rPr lang="en" sz="1200" dirty="0">
                <a:solidFill>
                  <a:srgbClr val="1F2328"/>
                </a:solidFill>
              </a:rPr>
              <a:t>FND-B440C1BF: Unassessed program risk of O-ring substitution for OEM rectangular-slot gasket · L4 · rating 4</a:t>
            </a:r>
            <a:endParaRPr lang="en" sz="1200" dirty="0"/>
          </a:p>
          <a:p>
            <a:pPr>
              <a:spcAft>
                <a:spcPts val="0"/>
              </a:spcAft>
              <a:buNone/>
            </a:pPr>
            <a:r>
              <a:rPr lang="en" sz="1200" dirty="0">
                <a:solidFill>
                  <a:srgbClr val="1F2328"/>
                </a:solidFill>
              </a:rPr>
              <a:t>FND-5919B328: Authorised return-to-service without the mandatory hydrostatic test · L3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FND-DE30BD8B: Management failed to provide any substitute-specification, procurement, or quality-control policy after the OEM gasket specification was lost · L3 · rating 4</a:t>
            </a:r>
            <a:endParaRPr lang="en" sz="1200" dirty="0"/>
          </a:p>
          <a:p>
            <a:pPr>
              <a:spcAft>
                <a:spcPts val="0"/>
              </a:spcAft>
              <a:buNone/>
            </a:pPr>
            <a:r>
              <a:rPr lang="en" sz="1200" dirty="0">
                <a:solidFill>
                  <a:srgbClr val="1F2328"/>
                </a:solidFill>
              </a:rPr>
              <a:t>FND-F0D015E1: No formal risk assessment following the recurrent gasket failure pattern · L3 · rating 3</a:t>
            </a:r>
            <a:endParaRPr lang="en" sz="1200" dirty="0"/>
          </a:p>
          <a:p>
            <a:pPr>
              <a:spcAft>
                <a:spcPts val="0"/>
              </a:spcAft>
              <a:buNone/>
            </a:pPr>
            <a:r>
              <a:rPr lang="en" sz="1200" dirty="0">
                <a:solidFill>
                  <a:srgbClr val="1F2328"/>
                </a:solidFill>
              </a:rPr>
              <a:t>FND-8083ECAC: MOC formal risk assessment not applied to the OEM-to-O-ring gasket substitution · L3 · rating 4</a:t>
            </a:r>
            <a:endParaRPr lang="en" sz="1200" dirty="0"/>
          </a:p>
          <a:p>
            <a:pPr>
              <a:spcAft>
                <a:spcPts val="0"/>
              </a:spcAft>
              <a:buNone/>
            </a:pPr>
            <a:r>
              <a:rPr lang="en" sz="1200" dirty="0">
                <a:solidFill>
                  <a:srgbClr val="1F2328"/>
                </a:solidFill>
              </a:rPr>
              <a:t>EVD-2986: document</a:t>
            </a:r>
            <a:endParaRPr lang="en" sz="1200" dirty="0"/>
          </a:p>
          <a:p>
            <a:pPr>
              <a:spcAft>
                <a:spcPts val="0"/>
              </a:spcAft>
              <a:buNone/>
            </a:pPr>
            <a:r>
              <a:rPr lang="en" sz="1200" dirty="0">
                <a:solidFill>
                  <a:srgbClr val="1F2328"/>
                </a:solidFill>
              </a:rPr>
              <a:t>FND-ADF96860: MOC SOP published 2016 but not implemented since 2018 · L3 · rating 3</a:t>
            </a:r>
            <a:endParaRPr lang="en" sz="1200" dirty="0"/>
          </a:p>
          <a:p>
            <a:pPr>
              <a:spcAft>
                <a:spcPts val="0"/>
              </a:spcAft>
              <a:buNone/>
            </a:pPr>
            <a:r>
              <a:rPr lang="en" sz="1200" dirty="0">
                <a:solidFill>
                  <a:srgbClr val="1F2328"/>
                </a:solidFill>
              </a:rPr>
              <a:t>FND-07080447: Management of Change - zero MOCs implemented since 2018 · L3 · rating 3</a:t>
            </a:r>
            <a:endParaRPr lang="en" sz="1200" dirty="0"/>
          </a:p>
          <a:p>
            <a:pPr>
              <a:spcAft>
                <a:spcPts val="0"/>
              </a:spcAft>
              <a:buNone/>
            </a:pPr>
            <a:r>
              <a:rPr lang="en" sz="1200" dirty="0">
                <a:solidFill>
                  <a:srgbClr val="1F2328"/>
                </a:solidFill>
              </a:rPr>
              <a:t>FND-6ECCE231: Management of Change policy published in August 2016 was not implemented, with no MOCs since 2018 · L3 · rating 3</a:t>
            </a:r>
            <a:endParaRPr lang="en" sz="1200" dirty="0"/>
          </a:p>
          <a:p>
            <a:pPr>
              <a:spcAft>
                <a:spcPts val="0"/>
              </a:spcAft>
              <a:buNone/>
            </a:pPr>
            <a:r>
              <a:rPr lang="en" sz="1200" dirty="0">
                <a:solidFill>
                  <a:srgbClr val="1F2328"/>
                </a:solidFill>
              </a:rPr>
              <a:t>FND-9F8CA896: Management of Change SOP published Aug-2016 not enforced — zero MOCs since 2018 · L3 · rating 3</a:t>
            </a:r>
            <a:endParaRPr lang="en" sz="1200" dirty="0"/>
          </a:p>
          <a:p>
            <a:pPr>
              <a:spcAft>
                <a:spcPts val="0"/>
              </a:spcAft>
              <a:buNone/>
            </a:pPr>
            <a:r>
              <a:rPr lang="en" sz="1200" dirty="0">
                <a:solidFill>
                  <a:srgbClr val="1F2328"/>
                </a:solidFill>
              </a:rPr>
              <a:t>FND-922A04DB: Management of Change (MOC) programme published but not implemented since 2018 · L4 · rating 3</a:t>
            </a:r>
            <a:endParaRPr lang="en" sz="1200" dirty="0"/>
          </a:p>
          <a:p>
            <a:pPr>
              <a:spcAft>
                <a:spcPts val="0"/>
              </a:spcAft>
              <a:buNone/>
            </a:pPr>
            <a:r>
              <a:rPr lang="en" sz="1200" dirty="0">
                <a:solidFill>
                  <a:srgbClr val="1F2328"/>
                </a:solidFill>
              </a:rPr>
              <a:t>FND-044D1DEC: Emergency isolation valves MOV 54 and the Gas Terminal MOVs were local-manual only, with no remote control from the control room · L4 · rating 4</a:t>
            </a:r>
            <a:endParaRPr lang="en" sz="1200" dirty="0"/>
          </a:p>
          <a:p>
            <a:pPr>
              <a:spcAft>
                <a:spcPts val="0"/>
              </a:spcAft>
              <a:buNone/>
            </a:pPr>
            <a:r>
              <a:rPr lang="en" sz="1200" dirty="0">
                <a:solidFill>
                  <a:srgbClr val="1F2328"/>
                </a:solidFill>
              </a:rPr>
              <a:t>FND-6155A1C2: F&amp;G detection system had no auto-shutdown or fire-suppression interlock · L4 · rating 4</a:t>
            </a:r>
            <a:endParaRPr lang="en" sz="1200" dirty="0"/>
          </a:p>
          <a:p>
            <a:pPr>
              <a:spcAft>
                <a:spcPts val="0"/>
              </a:spcAft>
              <a:buNone/>
            </a:pPr>
            <a:r>
              <a:rPr lang="en" sz="1200" dirty="0">
                <a:solidFill>
                  <a:srgbClr val="1F2328"/>
                </a:solidFill>
              </a:rPr>
              <a:t>FND-9B406A83: Condensate Vapour Cloud Obscuring Leak Source · L2 · rating 4</a:t>
            </a:r>
            <a:endParaRPr lang="en" sz="1200" dirty="0"/>
          </a:p>
          <a:p>
            <a:pPr>
              <a:spcAft>
                <a:spcPts val="0"/>
              </a:spcAft>
              <a:buNone/>
            </a:pPr>
            <a:r>
              <a:rPr lang="en" sz="1200" dirty="0">
                <a:solidFill>
                  <a:srgbClr val="1F2328"/>
                </a:solidFill>
              </a:rPr>
              <a:t>EVD-3932: document</a:t>
            </a:r>
            <a:endParaRPr lang="en" sz="1200" dirty="0"/>
          </a:p>
          <a:p>
            <a:pPr>
              <a:spcAft>
                <a:spcPts val="0"/>
              </a:spcAft>
              <a:buNone/>
            </a:pPr>
            <a:r>
              <a:rPr lang="en" sz="1200" dirty="0">
                <a:solidFill>
                  <a:srgbClr val="1F2328"/>
                </a:solidFill>
              </a:rPr>
              <a:t>FND-4C645CB5: Emergency isolation MOVs not configured for remote operation from the control room · L2 · rating 4</a:t>
            </a:r>
            <a:endParaRPr lang="en" sz="1200" dirty="0"/>
          </a:p>
          <a:p>
            <a:pPr>
              <a:spcAft>
                <a:spcPts val="0"/>
              </a:spcAft>
              <a:buNone/>
            </a:pPr>
            <a:r>
              <a:rPr lang="en" sz="1200" dirty="0">
                <a:solidFill>
                  <a:srgbClr val="1F2328"/>
                </a:solidFill>
              </a:rPr>
              <a:t>FND-31405D96: Gas Terminal emergency isolation MOVs local-only, no remote operation from control room · L2 · rating 4</a:t>
            </a:r>
            <a:endParaRPr lang="en" sz="1200" dirty="0"/>
          </a:p>
          <a:p>
            <a:pPr>
              <a:spcAft>
                <a:spcPts val="0"/>
              </a:spcAft>
              <a:buNone/>
            </a:pPr>
            <a:r>
              <a:rPr lang="en" sz="1200" dirty="0">
                <a:solidFill>
                  <a:srgbClr val="1F2328"/>
                </a:solidFill>
              </a:rPr>
              <a:t>FND-A19F3D9C: Emergency isolation capability and shift-authority planning · L2 · rating 3</a:t>
            </a:r>
            <a:endParaRPr lang="en" sz="1200" dirty="0"/>
          </a:p>
          <a:p>
            <a:pPr>
              <a:spcAft>
                <a:spcPts val="0"/>
              </a:spcAft>
              <a:buNone/>
            </a:pPr>
            <a:r>
              <a:rPr lang="en" sz="1200" dirty="0">
                <a:solidFill>
                  <a:srgbClr val="1F2328"/>
                </a:solidFill>
              </a:rPr>
              <a:t>FND-594A80E9: GSP Shift In-charge and Overall Shift In-charge - 02:35-03:01 hrs · L2 · rating 4</a:t>
            </a:r>
            <a:endParaRPr lang="en" sz="1200" dirty="0"/>
          </a:p>
          <a:p>
            <a:pPr>
              <a:spcAft>
                <a:spcPts val="0"/>
              </a:spcAft>
              <a:buNone/>
            </a:pPr>
            <a:r>
              <a:rPr lang="en" sz="1200" dirty="0">
                <a:solidFill>
                  <a:srgbClr val="1F2328"/>
                </a:solidFill>
              </a:rPr>
              <a:t>FND-BDD73BA2: Vapour cloud density preventing personnel approach to leak source · L2 · rating 4</a:t>
            </a:r>
            <a:endParaRPr lang="en" sz="1200" dirty="0"/>
          </a:p>
          <a:p>
            <a:pPr>
              <a:spcAft>
                <a:spcPts val="0"/>
              </a:spcAft>
              <a:buNone/>
            </a:pPr>
            <a:r>
              <a:rPr lang="en" sz="1200" dirty="0">
                <a:solidFill>
                  <a:srgbClr val="1F2328"/>
                </a:solidFill>
              </a:rPr>
              <a:t>FND-FD0EF0F5: Gas Terminal CR Personnel - Vapour Cloud Visibility · L1 · rating 3</a:t>
            </a:r>
            <a:endParaRPr lang="en"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Timeline: 10 entries</a:t>
            </a:r>
            <a:endParaRPr lang="en" sz="1200" dirty="0"/>
          </a:p>
          <a:p>
            <a:pPr>
              <a:spcAft>
                <a:spcPts val="0"/>
              </a:spcAft>
              <a:buNone/>
            </a:pPr>
            <a:r>
              <a:rPr lang="en" sz="1200" dirty="0">
                <a:solidFill>
                  <a:srgbClr val="1F2328"/>
                </a:solidFill>
              </a:rPr>
              <a:t>- c. 2011 (about 9 years before): chedule for thickness measurement is every four years... As per the records, the last two thickness measurement exercise was carried out in 2011 and 2017 which suggests that the schedule of four years is not being adhered to strictly" (p.29 [EVD-8307; FND-10FEDDD8; FND-5ABEE30B; FND-6FA2CEDE; FND-75CEBE09; FND-A3DCEBD8; FND-B8E1F804; FND-C4842890; FND-E87DC506; FND-F9D69EC8; FND-FCCB9505]</a:t>
            </a:r>
            <a:endParaRPr lang="en" sz="1200" dirty="0"/>
          </a:p>
          <a:p>
            <a:pPr>
              <a:spcAft>
                <a:spcPts val="0"/>
              </a:spcAft>
              <a:buNone/>
            </a:pPr>
            <a:r>
              <a:rPr lang="en" sz="1200" dirty="0">
                <a:solidFill>
                  <a:srgbClr val="1F2328"/>
                </a:solidFill>
              </a:rPr>
              <a:t>- 2016-08 (49 months before): gs for OEM rectangular-slot gaskets on meter 310FT01. [EVD-2986] documents that 'Management of Change (MOC) philosophy/SOP was published in August 2016. However, the procedure indicated in the document is not implemented while carrying out  [EVD-2986; FND-07080447; FND-3FEE59DF; FND-6ECCE231; FND-7838175A; FND-922A04DB; FND-9F8CA896; FND-ADF96860; FND-CDE8E62D; FND-EB48C68C; FND-EEC2407A; FND-F7FE8463]</a:t>
            </a:r>
            <a:endParaRPr lang="en" sz="1200" dirty="0"/>
          </a:p>
          <a:p>
            <a:pPr>
              <a:spcAft>
                <a:spcPts val="0"/>
              </a:spcAft>
              <a:buNone/>
            </a:pPr>
            <a:r>
              <a:rPr lang="en" sz="1200" dirty="0">
                <a:solidFill>
                  <a:srgbClr val="1F2328"/>
                </a:solidFill>
              </a:rPr>
              <a:t>- c. 2018 (about 2 years before): cument is not implemented while carrying out change of Low-Pressure Gas to Kribhico from Medium Pressure Gas headers in LPG Plant in 2013 &amp; 2018. It is informed no more MOCs are implemented in the plant since 2018.' The MOC SOP existed sinc [EVD-2986; FND-07080447; FND-3FEE59DF; FND-6ECCE231; FND-7838175A; FND-922A04DB; FND-9F8CA896; FND-ADF96860; FND-CDE8E62D; FND-EB48C68C; FND-EEC2407A; FND-F7FE8463]</a:t>
            </a:r>
            <a:endParaRPr lang="en" sz="1200" dirty="0"/>
          </a:p>
          <a:p>
            <a:pPr>
              <a:spcAft>
                <a:spcPts val="0"/>
              </a:spcAft>
              <a:buNone/>
            </a:pPr>
            <a:r>
              <a:rPr lang="en" sz="1200" dirty="0">
                <a:solidFill>
                  <a:srgbClr val="1F2328"/>
                </a:solidFill>
              </a:rPr>
              <a:t>- 2018-11 (22 months before): nted recurrence of sealing failures. [EVD-1494] records that "Cleaning/servicing/calibration of meters 1 &amp; 2 was carried out on 12th &amp; 13th Nov 2018. Afterwards, meter no.1 was cleaned on 25/02/2019 &amp; gasket was changed. Again on 18/09/2019 [EVD-1494; FND-065439DE; FND-110F964C; FND-1A251687; FND-350C35AD; FND-3A34BAD3; FND-4EDE038A; FND-54180594; FND-55F68376; FND-69067A1C; FND-71D631C1; FND-82FC718D; FND-8B4A5414; FND-A3D7D53F; FND-AC8FBB26; FND-B86F67F0; FND-CEE3D4D7; FND-D14B8424; FND-E0AE86A6; FND-F0D015E1; FND-FEC84761]</a:t>
            </a:r>
            <a:endParaRPr lang="en" sz="1200" dirty="0"/>
          </a:p>
          <a:p>
            <a:pPr>
              <a:spcAft>
                <a:spcPts val="0"/>
              </a:spcAft>
              <a:buNone/>
            </a:pPr>
            <a:r>
              <a:rPr lang="en" sz="1200" dirty="0">
                <a:solidFill>
                  <a:srgbClr val="1F2328"/>
                </a:solidFill>
              </a:rPr>
              <a:t>- 2019-02-25 (18 months before): records that "Cleaning/servicing/calibration of meters 1 &amp; 2 was carried out on 12th &amp; 13th Nov 2018. Afterwards, meter no.1 was cleaned on 25/02/2019 &amp; gasket was changed. Again on 18/09/2019, gasket was changed which leaked within one yea [EVD-1494; FND-065439DE; FND-110F964C; FND-1A251687; FND-350C35AD; FND-3A34BAD3; FND-4EDE038A; FND-54180594; FND-55F68376; FND-69067A1C; FND-71D631C1; FND-82FC718D; FND-8B4A5414; FND-A3D7D53F; FND-AC8FBB26; FND-B86F67F0; FND-CEE3D4D7; FND-D14B8424; FND-E0AE86A6; FND-F0D015E1; FND-FEC84761]</a:t>
            </a:r>
            <a:endParaRPr lang="en" sz="1200" dirty="0"/>
          </a:p>
          <a:p>
            <a:pPr>
              <a:spcAft>
                <a:spcPts val="0"/>
              </a:spcAft>
              <a:buNone/>
            </a:pPr>
            <a:r>
              <a:rPr lang="en" sz="1200" dirty="0">
                <a:solidFill>
                  <a:srgbClr val="1F2328"/>
                </a:solidFill>
              </a:rPr>
              <a:t>- 2019-07 (14 months before): thickness of 1.03mm along with heavy pitting and painting peeling off was observed in one of the segments of 36 pipeline in gas terminal in July 2019. The corrective action of painting was completed in Dec. 2019. However, as per the availab [EVD-2397; FND-159C9FD7; FND-20034564; FND-4722A2B8; FND-4DAC9500; FND-6E13192C; FND-7D59D47D; FND-8EFDE3D9; FND-999326F0; FND-ABDADA0C; FND-B2B200D4; FND-B412FF47; FND-B5D6A73E; FND-C90FA7A2; FND-E5C4209D; FND-FA73D914]</a:t>
            </a:r>
            <a:endParaRPr lang="en" sz="1200" dirty="0"/>
          </a:p>
          <a:p>
            <a:pPr>
              <a:spcAft>
                <a:spcPts val="0"/>
              </a:spcAft>
              <a:buNone/>
            </a:pPr>
            <a:r>
              <a:rPr lang="en" sz="1200" dirty="0">
                <a:solidFill>
                  <a:srgbClr val="1F2328"/>
                </a:solidFill>
              </a:rPr>
              <a:t>- 2019-12 (9 months before): evealed '1.03mm thickness reduction along with heavy pitting and painting peeling off... The corrective action of painting was completed in Dec. 2019. However, as per the available data, the design thickness of the pipeline is 23.83mm with  [EVD-2397; FND-159C9FD7; FND-20034564; FND-4722A2B8; FND-4DAC9500; FND-5EC15274; FND-6E13192C; FND-8EFDE3D9; FND-999326F0; FND-ABDADA0C; FND-B2B200D4; FND-B412FF47; FND-B5D6A73E; FND-C90FA7A2; FND-E5C4209D; FND-FA73D914]</a:t>
            </a:r>
            <a:endParaRPr lang="en" sz="1200" dirty="0"/>
          </a:p>
          <a:p>
            <a:pPr>
              <a:spcAft>
                <a:spcPts val="0"/>
              </a:spcAft>
              <a:buNone/>
            </a:pPr>
            <a:r>
              <a:rPr lang="en" sz="1200" dirty="0">
                <a:solidFill>
                  <a:srgbClr val="1F2328"/>
                </a:solidFill>
              </a:rPr>
              <a:t>- 2019-12-18 (9 months before): without documentation violated fundamental calibration management principles. [EVD-2506] documents: 'During calibration from 17/12/2019 to 18/12/2019, calibration was changed from 16000 mmwc to 2540 mmwc for 310FT01 without any mention of t [EVD-2506; FND-0B651843; FND-0BA85877; FND-13E2037D; FND-403FD778; FND-6381588B; FND-693FEDD2; FND-7C8ADD7C; FND-7F829BEB; FND-85748D86; FND-89A8965A; FND-89D53630; FND-8D744668; FND-98F7C845; FND-A534A1C3; FND-B0BA0566; FND-C2B4989C; FND-E94D563C; FND-FD98468B]</a:t>
            </a:r>
            <a:endParaRPr lang="en" sz="1200" dirty="0"/>
          </a:p>
          <a:p>
            <a:pPr>
              <a:spcAft>
                <a:spcPts val="0"/>
              </a:spcAft>
              <a:buNone/>
            </a:pPr>
            <a:r>
              <a:rPr lang="en" sz="1200" dirty="0">
                <a:solidFill>
                  <a:srgbClr val="1F2328"/>
                </a:solidFill>
              </a:rPr>
              <a:t>- 2020-09-17: ble individual, resulting in open notifications and missing post-job reviews. [EVD-0591] states: 'Notification no. 3800419840 was raised on 17/09/2020 for malfunction of meter no.1… Notification was not closed after completion of the job' ( [EVD-0591; FND-267F1E09; FND-2B53492C; FND-30C43927; FND-55F68376; FND-62EF1667; FND-678E51A3; FND-6D3446CD; FND-8071945B; FND-96DB7E93; FND-977FABA2; FND-AE60859C; FND-C59DCD29; FND-FA807C69]</a:t>
            </a:r>
            <a:endParaRPr lang="en" sz="1200" dirty="0"/>
          </a:p>
          <a:p>
            <a:pPr>
              <a:spcAft>
                <a:spcPts val="0"/>
              </a:spcAft>
              <a:buNone/>
            </a:pPr>
            <a:r>
              <a:rPr lang="en" sz="1200" dirty="0">
                <a:solidFill>
                  <a:srgbClr val="1F2328"/>
                </a:solidFill>
              </a:rPr>
              <a:t>- 2020-09-18: testing of pressure boundaries after maintenance. [EVD-2894] documents: 'After calibration of the meter 310FE01, the gasket was replaced on 18.09.2020. No hydro test was done after replacement of the gasket. The system was only pressurised  [EVD-2894; FND-137BC719; FND-1662466D; FND-257C1100; FND-3AB996FC; FND-491EDE74; FND-4944554C; FND-50C7319E; FND-5919B328; FND-611A8BFC; FND-615DB819; FND-7C5ED5B3; FND-7FA02383; FND-8ACDE078; FND-904FCA63; FND-A3D7D53F; FND-C4E06264; FND-FDFA6FF5]</a:t>
            </a:r>
            <a:endParaRPr lang="en" sz="1200" dirty="0"/>
          </a:p>
          <a:p>
            <a:pPr>
              <a:spcAft>
                <a:spcPts val="0"/>
              </a:spcAft>
              <a:buNone/>
            </a:pPr>
            <a:r>
              <a:rPr lang="en" sz="1200" dirty="0">
                <a:solidFill>
                  <a:srgbClr val="1F2328"/>
                </a:solidFill>
              </a:rPr>
              <a:t>Cites: EVD-8307; FND-10FEDDD8; FND-5ABEE30B; FND-6FA2CEDE; FND-75CEBE09; FND-A3DCEBD8; FND-B8E1F804; FND-C4842890; FND-E87DC506; FND-F9D69EC8; FND-FCCB9505; EVD-2986; FND-07080447; FND-3FEE59DF; FND-6ECCE231; FND-7838175A; FND-922A04DB; FND-9F8CA896; FND-ADF96860; FND-CDE8E62D; FND-EB48C68C; FND-EEC2407A; FND-F7FE8463; EVD-1494; FND-065439DE; FND-110F964C; FND-1A251687; FND-350C35AD; FND-3A34BAD3; FND-4EDE038A; FND-54180594; FND-55F68376; FND-69067A1C; FND-71D631C1; FND-82FC718D; FND-8B4A5414; FND-A3D7D53F; FND-AC8FBB26; FND-B86F67F0; FND-CEE3D4D7; FND-D14B8424; FND-E0AE86A6; FND-F0D015E1; FND-FEC84761; EVD-2397; FND-159C9FD7; FND-20034564; FND-4722A2B8; FND-4DAC9500; FND-6E13192C; FND-7D59D47D; FND-8EFDE3D9; FND-999326F0; FND-ABDADA0C; FND-B2B200D4; FND-B412FF47; FND-B5D6A73E; FND-C90FA7A2; FND-E5C4209D; FND-FA73D914; FND-5EC15274; EVD-2506; FND-0B651843; FND-0BA85877; FND-13E2037D; FND-403FD778; FND-6381588B; FND-693FEDD2; FND-7C8ADD7C; FND-7F829BEB; FND-85748D86; FND-89A8965A; FND-89D53630; FND-8D744668; FND-98F7C845; FND-A534A1C3; FND-B0BA0566; FND-C2B4989C; FND-E94D563C; FND-FD98468B; EVD-0591; FND-267F1E09; FND-2B53492C; FND-30C43927; FND-62EF1667; FND-678E51A3; FND-6D3446CD; FND-8071945B; FND-96DB7E93; FND-977FABA2; FND-AE60859C; FND-C59DCD29; FND-FA807C69; EVD-2894; FND-137BC719; FND-1662466D; FND-257C1100; FND-3AB996FC; FND-491EDE74; FND-4944554C; FND-50C7319E; FND-5919B328; FND-611A8BFC; FND-615DB819; FND-7C5ED5B3; FND-7FA02383; FND-8ACDE078; FND-904FCA63; FND-C4E06264; FND-FDFA6FF5</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EVD-8307: document</a:t>
            </a:r>
            <a:endParaRPr lang="en" sz="1200" dirty="0"/>
          </a:p>
          <a:p>
            <a:pPr>
              <a:spcAft>
                <a:spcPts val="0"/>
              </a:spcAft>
              <a:buNone/>
            </a:pPr>
            <a:r>
              <a:rPr lang="en" sz="1200" dirty="0">
                <a:solidFill>
                  <a:srgbClr val="1F2328"/>
                </a:solidFill>
              </a:rPr>
              <a:t>FND-10FEDDD8: Four-year pipeline thickness measurement schedule and 2017 corrective actions not enforced · L3 · rating 3</a:t>
            </a:r>
            <a:endParaRPr lang="en" sz="1200" dirty="0"/>
          </a:p>
          <a:p>
            <a:pPr>
              <a:spcAft>
                <a:spcPts val="0"/>
              </a:spcAft>
              <a:buNone/>
            </a:pPr>
            <a:r>
              <a:rPr lang="en" sz="1200" dirty="0">
                <a:solidFill>
                  <a:srgbClr val="1F2328"/>
                </a:solidFill>
              </a:rPr>
              <a:t>FND-5ABEE30B: Four-year pipeline thickness-monitoring schedule not adhered to and not restored to compliance · L3 · rating 2</a:t>
            </a:r>
            <a:endParaRPr lang="en" sz="1200" dirty="0"/>
          </a:p>
          <a:p>
            <a:pPr>
              <a:spcAft>
                <a:spcPts val="0"/>
              </a:spcAft>
              <a:buNone/>
            </a:pPr>
            <a:r>
              <a:rPr lang="en" sz="1200" dirty="0">
                <a:solidFill>
                  <a:srgbClr val="1F2328"/>
                </a:solidFill>
              </a:rPr>
              <a:t>FND-6FA2CEDE: Four-year UT thickness-measurement schedule breached (2011→2017 gap of 6 years) with no supervisory enforcement · L3 · rating 2</a:t>
            </a:r>
            <a:endParaRPr lang="en" sz="1200" dirty="0"/>
          </a:p>
          <a:p>
            <a:pPr>
              <a:spcAft>
                <a:spcPts val="0"/>
              </a:spcAft>
              <a:buNone/>
            </a:pPr>
            <a:r>
              <a:rPr lang="en" sz="1200" dirty="0">
                <a:solidFill>
                  <a:srgbClr val="1F2328"/>
                </a:solidFill>
              </a:rPr>
              <a:t>FND-75CEBE09: Four-year thickness measurement schedule not enforced · L3 · rating 2</a:t>
            </a:r>
            <a:endParaRPr lang="en" sz="1200" dirty="0"/>
          </a:p>
          <a:p>
            <a:pPr>
              <a:spcAft>
                <a:spcPts val="0"/>
              </a:spcAft>
              <a:buNone/>
            </a:pPr>
            <a:r>
              <a:rPr lang="en" sz="1200" dirty="0">
                <a:solidFill>
                  <a:srgbClr val="1F2328"/>
                </a:solidFill>
              </a:rPr>
              <a:t>FND-A3DCEBD8: Pipeline thickness-monitoring programme off cadence and 2017 corrective-action findings left unplanned for 3+ years · L4 · rating 3</a:t>
            </a:r>
            <a:endParaRPr lang="en" sz="1200" dirty="0"/>
          </a:p>
          <a:p>
            <a:pPr>
              <a:spcAft>
                <a:spcPts val="0"/>
              </a:spcAft>
              <a:buNone/>
            </a:pPr>
            <a:r>
              <a:rPr lang="en" sz="1200" dirty="0">
                <a:solidFill>
                  <a:srgbClr val="1F2328"/>
                </a:solidFill>
              </a:rPr>
              <a:t>FND-B8E1F804: Mandated four-year thickness measurement cadence breached · L4 · rating 2</a:t>
            </a:r>
            <a:endParaRPr lang="en" sz="1200" dirty="0"/>
          </a:p>
          <a:p>
            <a:pPr>
              <a:spcAft>
                <a:spcPts val="0"/>
              </a:spcAft>
              <a:buNone/>
            </a:pPr>
            <a:r>
              <a:rPr lang="en" sz="1200" dirty="0">
                <a:solidFill>
                  <a:srgbClr val="1F2328"/>
                </a:solidFill>
              </a:rPr>
              <a:t>FND-C4842890: Mandated four-year UT thickness inspection cadence breached · L4 · rating 2</a:t>
            </a:r>
            <a:endParaRPr lang="en" sz="1200" dirty="0"/>
          </a:p>
          <a:p>
            <a:pPr>
              <a:spcAft>
                <a:spcPts val="0"/>
              </a:spcAft>
              <a:buNone/>
            </a:pPr>
            <a:r>
              <a:rPr lang="en" sz="1200" dirty="0">
                <a:solidFill>
                  <a:srgbClr val="1F2328"/>
                </a:solidFill>
              </a:rPr>
              <a:t>FND-E87DC506: Pipeline thickness measurement schedule and 2017 corrective actions not completed · L2 · rating 2</a:t>
            </a:r>
            <a:endParaRPr lang="en" sz="1200" dirty="0"/>
          </a:p>
          <a:p>
            <a:pPr>
              <a:spcAft>
                <a:spcPts val="0"/>
              </a:spcAft>
              <a:buNone/>
            </a:pPr>
            <a:r>
              <a:rPr lang="en" sz="1200" dirty="0">
                <a:solidFill>
                  <a:srgbClr val="1F2328"/>
                </a:solidFill>
              </a:rPr>
              <a:t>FND-F9D69EC8: Pipeline thickness-measurement schedule programme not enforced (2011 to 2017 gap) · L4 · rating 2</a:t>
            </a:r>
            <a:endParaRPr lang="en" sz="1200" dirty="0"/>
          </a:p>
          <a:p>
            <a:pPr>
              <a:spcAft>
                <a:spcPts val="0"/>
              </a:spcAft>
              <a:buNone/>
            </a:pPr>
            <a:r>
              <a:rPr lang="en" sz="1200" dirty="0">
                <a:solidFill>
                  <a:srgbClr val="1F2328"/>
                </a:solidFill>
              </a:rPr>
              <a:t>FND-FCCB9505: Pipeline thickness measurement schedule not enforced for gas-terminal trunk lines · L3 · rating 2</a:t>
            </a:r>
            <a:endParaRPr lang="en" sz="1200" dirty="0"/>
          </a:p>
          <a:p>
            <a:pPr>
              <a:spcAft>
                <a:spcPts val="0"/>
              </a:spcAft>
              <a:buNone/>
            </a:pPr>
            <a:r>
              <a:rPr lang="en" sz="1200" dirty="0">
                <a:solidFill>
                  <a:srgbClr val="1F2328"/>
                </a:solidFill>
              </a:rPr>
              <a:t>EVD-2986: document</a:t>
            </a:r>
            <a:endParaRPr lang="en" sz="1200" dirty="0"/>
          </a:p>
          <a:p>
            <a:pPr>
              <a:spcAft>
                <a:spcPts val="0"/>
              </a:spcAft>
              <a:buNone/>
            </a:pPr>
            <a:r>
              <a:rPr lang="en" sz="1200" dirty="0">
                <a:solidFill>
                  <a:srgbClr val="1F2328"/>
                </a:solidFill>
              </a:rPr>
              <a:t>FND-07080447: Management of Change - zero MOCs implemented since 2018 · L3 · rating 3</a:t>
            </a:r>
            <a:endParaRPr lang="en" sz="1200" dirty="0"/>
          </a:p>
          <a:p>
            <a:pPr>
              <a:spcAft>
                <a:spcPts val="0"/>
              </a:spcAft>
              <a:buNone/>
            </a:pPr>
            <a:r>
              <a:rPr lang="en" sz="1200" dirty="0">
                <a:solidFill>
                  <a:srgbClr val="1F2328"/>
                </a:solidFill>
              </a:rPr>
              <a:t>FND-3FEE59DF: MOC procedure published August 2016 but not implemented since 2018 · L4 · rating 3</a:t>
            </a:r>
            <a:endParaRPr lang="en" sz="1200" dirty="0"/>
          </a:p>
          <a:p>
            <a:pPr>
              <a:spcAft>
                <a:spcPts val="0"/>
              </a:spcAft>
              <a:buNone/>
            </a:pPr>
            <a:r>
              <a:rPr lang="en" sz="1200" dirty="0">
                <a:solidFill>
                  <a:srgbClr val="1F2328"/>
                </a:solidFill>
              </a:rPr>
              <a:t>FND-6ECCE231: Management of Change policy published in August 2016 was not implemented, with no MOCs since 2018 · L3 · rating 3</a:t>
            </a:r>
            <a:endParaRPr lang="en" sz="1200" dirty="0"/>
          </a:p>
          <a:p>
            <a:pPr>
              <a:spcAft>
                <a:spcPts val="0"/>
              </a:spcAft>
              <a:buNone/>
            </a:pPr>
            <a:r>
              <a:rPr lang="en" sz="1200" dirty="0">
                <a:solidFill>
                  <a:srgbClr val="1F2328"/>
                </a:solidFill>
              </a:rPr>
              <a:t>FND-7838175A: Maintenance Planners - MOC Policy for Gasket Specification Changes · L1 · rating 3</a:t>
            </a:r>
            <a:endParaRPr lang="en" sz="1200" dirty="0"/>
          </a:p>
          <a:p>
            <a:pPr>
              <a:spcAft>
                <a:spcPts val="0"/>
              </a:spcAft>
              <a:buNone/>
            </a:pPr>
            <a:r>
              <a:rPr lang="en" sz="1200" dirty="0">
                <a:solidFill>
                  <a:srgbClr val="1F2328"/>
                </a:solidFill>
              </a:rPr>
              <a:t>FND-922A04DB: Management of Change (MOC) programme published but not implemented since 2018 · L4 · rating 3</a:t>
            </a:r>
            <a:endParaRPr lang="en" sz="1200" dirty="0"/>
          </a:p>
          <a:p>
            <a:pPr>
              <a:spcAft>
                <a:spcPts val="0"/>
              </a:spcAft>
              <a:buNone/>
            </a:pPr>
            <a:r>
              <a:rPr lang="en" sz="1200" dirty="0">
                <a:solidFill>
                  <a:srgbClr val="1F2328"/>
                </a:solidFill>
              </a:rPr>
              <a:t>FND-9F8CA896: Management of Change SOP published Aug-2016 not enforced — zero MOCs since 2018 · L3 · rating 3</a:t>
            </a:r>
            <a:endParaRPr lang="en" sz="1200" dirty="0"/>
          </a:p>
          <a:p>
            <a:pPr>
              <a:spcAft>
                <a:spcPts val="0"/>
              </a:spcAft>
              <a:buNone/>
            </a:pPr>
            <a:r>
              <a:rPr lang="en" sz="1200" dirty="0">
                <a:solidFill>
                  <a:srgbClr val="1F2328"/>
                </a:solidFill>
              </a:rPr>
              <a:t>FND-ADF96860: MOC SOP published 2016 but not implemented since 2018 · L3 · rating 3</a:t>
            </a:r>
            <a:endParaRPr lang="en" sz="1200" dirty="0"/>
          </a:p>
          <a:p>
            <a:pPr>
              <a:spcAft>
                <a:spcPts val="0"/>
              </a:spcAft>
              <a:buNone/>
            </a:pPr>
            <a:r>
              <a:rPr lang="en" sz="1200" dirty="0">
                <a:solidFill>
                  <a:srgbClr val="1F2328"/>
                </a:solidFill>
              </a:rPr>
              <a:t>FND-CDE8E62D: Management of Change SOP not implemented since 2018, leaving the gasket substitution outside engineering review · L3 · rating 3</a:t>
            </a:r>
            <a:endParaRPr lang="en" sz="1200" dirty="0"/>
          </a:p>
          <a:p>
            <a:pPr>
              <a:spcAft>
                <a:spcPts val="0"/>
              </a:spcAft>
              <a:buNone/>
            </a:pPr>
            <a:r>
              <a:rPr lang="en" sz="1200" dirty="0">
                <a:solidFill>
                  <a:srgbClr val="1F2328"/>
                </a:solidFill>
              </a:rPr>
              <a:t>FND-EB48C68C: MOC policy published but not implemented since 2018 · L3 · rating 3</a:t>
            </a:r>
            <a:endParaRPr lang="en" sz="1200" dirty="0"/>
          </a:p>
          <a:p>
            <a:pPr>
              <a:spcAft>
                <a:spcPts val="0"/>
              </a:spcAft>
              <a:buNone/>
            </a:pPr>
            <a:r>
              <a:rPr lang="en" sz="1200" dirty="0">
                <a:solidFill>
                  <a:srgbClr val="1F2328"/>
                </a:solidFill>
              </a:rPr>
              <a:t>FND-EEC2407A: Plant-wide suspension of MOC exemplified by the 2013/2018 LP-to-Kribhico header change · L4 · rating 2</a:t>
            </a:r>
            <a:endParaRPr lang="en" sz="1200" dirty="0"/>
          </a:p>
          <a:p>
            <a:pPr>
              <a:spcAft>
                <a:spcPts val="0"/>
              </a:spcAft>
              <a:buNone/>
            </a:pPr>
            <a:r>
              <a:rPr lang="en" sz="1200" dirty="0">
                <a:solidFill>
                  <a:srgbClr val="1F2328"/>
                </a:solidFill>
              </a:rPr>
              <a:t>FND-F7FE8463: Management of Change policy not implemented since 2018, allowing unapproved material substitution · L4 · rating 4</a:t>
            </a:r>
            <a:endParaRPr lang="en" sz="1200" dirty="0"/>
          </a:p>
          <a:p>
            <a:pPr>
              <a:spcAft>
                <a:spcPts val="0"/>
              </a:spcAft>
              <a:buNone/>
            </a:pPr>
            <a:r>
              <a:rPr lang="en" sz="1200" dirty="0">
                <a:solidFill>
                  <a:srgbClr val="1F2328"/>
                </a:solidFill>
              </a:rPr>
              <a:t>EVD-1494: document</a:t>
            </a:r>
            <a:endParaRPr lang="en" sz="1200" dirty="0"/>
          </a:p>
          <a:p>
            <a:pPr>
              <a:spcAft>
                <a:spcPts val="0"/>
              </a:spcAft>
              <a:buNone/>
            </a:pPr>
            <a:r>
              <a:rPr lang="en" sz="1200" dirty="0">
                <a:solidFill>
                  <a:srgbClr val="1F2328"/>
                </a:solidFill>
              </a:rPr>
              <a:t>FND-065439DE: Recurring gasket-failure pattern on meter 310FT01 not escalated for root-cause action · L3 · rating 3</a:t>
            </a:r>
            <a:endParaRPr lang="en" sz="1200" dirty="0"/>
          </a:p>
          <a:p>
            <a:pPr>
              <a:spcAft>
                <a:spcPts val="0"/>
              </a:spcAft>
              <a:buNone/>
            </a:pPr>
            <a:r>
              <a:rPr lang="en" sz="1200" dirty="0">
                <a:solidFill>
                  <a:srgbClr val="1F2328"/>
                </a:solidFill>
              </a:rPr>
              <a:t>FND-110F964C: Maintenance supervision failed to act on the recurring gasket-failure pattern on meter 310FT01 (12-Nov-2018, 25-Feb-2019, 18-Sep-2020) · L3 · rating 4</a:t>
            </a:r>
            <a:endParaRPr lang="en" sz="1200" dirty="0"/>
          </a:p>
          <a:p>
            <a:pPr>
              <a:spcAft>
                <a:spcPts val="0"/>
              </a:spcAft>
              <a:buNone/>
            </a:pPr>
            <a:r>
              <a:rPr lang="en" sz="1200" dirty="0">
                <a:solidFill>
                  <a:srgbClr val="1F2328"/>
                </a:solidFill>
              </a:rPr>
              <a:t>FND-1A251687: Chronic gasket failure on 310FT01 left to routine resealing — no OEM spares, root-cause or replacement programme · L4 · rating 4</a:t>
            </a:r>
            <a:endParaRPr lang="en" sz="1200" dirty="0"/>
          </a:p>
          <a:p>
            <a:pPr>
              <a:spcAft>
                <a:spcPts val="0"/>
              </a:spcAft>
              <a:buNone/>
            </a:pPr>
            <a:r>
              <a:rPr lang="en" sz="1200" dirty="0">
                <a:solidFill>
                  <a:srgbClr val="1F2328"/>
                </a:solidFill>
              </a:rPr>
              <a:t>FND-350C35AD: Three gasket replacements in 22 months without root-cause investigation or engineering review · L2 · rating 3</a:t>
            </a:r>
            <a:endParaRPr lang="en" sz="1200" dirty="0"/>
          </a:p>
          <a:p>
            <a:pPr>
              <a:spcAft>
                <a:spcPts val="0"/>
              </a:spcAft>
              <a:buNone/>
            </a:pPr>
            <a:r>
              <a:rPr lang="en" sz="1200" dirty="0">
                <a:solidFill>
                  <a:srgbClr val="1F2328"/>
                </a:solidFill>
              </a:rPr>
              <a:t>FND-3A34BAD3: Meter 310FT01 gasket replacement recurrence treated as routine maintenance · L4 · rating 4</a:t>
            </a:r>
            <a:endParaRPr lang="en" sz="1200" dirty="0"/>
          </a:p>
          <a:p>
            <a:pPr>
              <a:spcAft>
                <a:spcPts val="0"/>
              </a:spcAft>
              <a:buNone/>
            </a:pPr>
            <a:r>
              <a:rPr lang="en" sz="1200" dirty="0">
                <a:solidFill>
                  <a:srgbClr val="1F2328"/>
                </a:solidFill>
              </a:rPr>
              <a:t>FND-4EDE038A: Recurrent 310FT01 gasket failures - no supervisory root-cause response · L3 · rating 4</a:t>
            </a:r>
            <a:endParaRPr lang="en" sz="1200" dirty="0"/>
          </a:p>
          <a:p>
            <a:pPr>
              <a:spcAft>
                <a:spcPts val="0"/>
              </a:spcAft>
              <a:buNone/>
            </a:pPr>
            <a:r>
              <a:rPr lang="en" sz="1200" dirty="0">
                <a:solidFill>
                  <a:srgbClr val="1F2328"/>
                </a:solidFill>
              </a:rPr>
              <a:t>FND-54180594: Maintenance crew unfamiliar with OEM rectangular-slot gasket specification - Sep 2020 replacement · L2 · rating 4</a:t>
            </a:r>
            <a:endParaRPr lang="en" sz="1200" dirty="0"/>
          </a:p>
          <a:p>
            <a:pPr>
              <a:spcAft>
                <a:spcPts val="0"/>
              </a:spcAft>
              <a:buNone/>
            </a:pPr>
            <a:r>
              <a:rPr lang="en" sz="1200" dirty="0">
                <a:solidFill>
                  <a:srgbClr val="1F2328"/>
                </a:solidFill>
              </a:rPr>
              <a:t>FND-55F68376: Meter 310FT01 kept in service despite three gasket failures in 22 months and a 1986-vintage pressure boundary · L4 · rating 4</a:t>
            </a:r>
            <a:endParaRPr lang="en" sz="1200" dirty="0"/>
          </a:p>
          <a:p>
            <a:pPr>
              <a:spcAft>
                <a:spcPts val="0"/>
              </a:spcAft>
              <a:buNone/>
            </a:pPr>
            <a:r>
              <a:rPr lang="en" sz="1200" dirty="0">
                <a:solidFill>
                  <a:srgbClr val="1F2328"/>
                </a:solidFill>
              </a:rPr>
              <a:t>FND-69067A1C: Chronically failing meter 310FT01 kept in service across three gasket replacements in 22 months · L2 · rating 4</a:t>
            </a:r>
            <a:endParaRPr lang="en" sz="1200" dirty="0"/>
          </a:p>
          <a:p>
            <a:pPr>
              <a:spcAft>
                <a:spcPts val="0"/>
              </a:spcAft>
              <a:buNone/>
            </a:pPr>
            <a:r>
              <a:rPr lang="en" sz="1200" dirty="0">
                <a:solidFill>
                  <a:srgbClr val="1F2328"/>
                </a:solidFill>
              </a:rPr>
              <a:t>FND-71D631C1: Recurrent gasket failure pattern on 310FT01 not root-caused or corrected · L3 · rating 4</a:t>
            </a:r>
            <a:endParaRPr lang="en" sz="1200" dirty="0"/>
          </a:p>
          <a:p>
            <a:pPr>
              <a:spcAft>
                <a:spcPts val="0"/>
              </a:spcAft>
              <a:buNone/>
            </a:pPr>
            <a:r>
              <a:rPr lang="en" sz="1200" dirty="0">
                <a:solidFill>
                  <a:srgbClr val="1F2328"/>
                </a:solidFill>
              </a:rPr>
              <a:t>FND-82FC718D: Recurring gasket failures on 310FT01 treated as routine maintenance instead of reliability warning · L4 · rating 4</a:t>
            </a:r>
            <a:endParaRPr lang="en" sz="1200" dirty="0"/>
          </a:p>
          <a:p>
            <a:pPr>
              <a:spcAft>
                <a:spcPts val="0"/>
              </a:spcAft>
              <a:buNone/>
            </a:pPr>
            <a:r>
              <a:rPr lang="en" sz="1200" dirty="0">
                <a:solidFill>
                  <a:srgbClr val="1F2328"/>
                </a:solidFill>
              </a:rPr>
              <a:t>FND-8B4A5414: Recurring gasket failures on 310FT01 not escalated to root-cause analysis, re-engineering, or meter replacement · L3 · rating 3</a:t>
            </a:r>
            <a:endParaRPr lang="en" sz="1200" dirty="0"/>
          </a:p>
          <a:p>
            <a:pPr>
              <a:spcAft>
                <a:spcPts val="0"/>
              </a:spcAft>
              <a:buNone/>
            </a:pPr>
            <a:r>
              <a:rPr lang="en" sz="1200" dirty="0">
                <a:solidFill>
                  <a:srgbClr val="1F2328"/>
                </a:solidFill>
              </a:rPr>
              <a:t>FND-A3D7D53F: Maintenance crew authorised for the 18-Sep-2020 retaining-plate gasket replacement without OEM specification or pressure-boundary testing competence · L3 · rating 4</a:t>
            </a:r>
            <a:endParaRPr lang="en" sz="1200" dirty="0"/>
          </a:p>
          <a:p>
            <a:pPr>
              <a:spcAft>
                <a:spcPts val="0"/>
              </a:spcAft>
              <a:buNone/>
            </a:pPr>
            <a:r>
              <a:rPr lang="en" sz="1200" dirty="0">
                <a:solidFill>
                  <a:srgbClr val="1F2328"/>
                </a:solidFill>
              </a:rPr>
              <a:t>FND-AC8FBB26: Reliability planning failure across the 22-month gasket replacement history · L2 · rating 3</a:t>
            </a:r>
            <a:endParaRPr lang="en" sz="1200" dirty="0"/>
          </a:p>
          <a:p>
            <a:pPr>
              <a:spcAft>
                <a:spcPts val="0"/>
              </a:spcAft>
              <a:buNone/>
            </a:pPr>
            <a:r>
              <a:rPr lang="en" sz="1200" dirty="0">
                <a:solidFill>
                  <a:srgbClr val="1F2328"/>
                </a:solidFill>
              </a:rPr>
              <a:t>FND-B86F67F0: Regular use of locally procured O-rings for the 1986 rectangular-slot meter gasket · L4 · rating 4</a:t>
            </a:r>
            <a:endParaRPr lang="en" sz="1200" dirty="0"/>
          </a:p>
          <a:p>
            <a:pPr>
              <a:spcAft>
                <a:spcPts val="0"/>
              </a:spcAft>
              <a:buNone/>
            </a:pPr>
            <a:r>
              <a:rPr lang="en" sz="1200" dirty="0">
                <a:solidFill>
                  <a:srgbClr val="1F2328"/>
                </a:solidFill>
              </a:rPr>
              <a:t>FND-CEE3D4D7: Recurrent meter 310FT01 gasket failures addressed by repeating the same inadequate O-ring fix · L3 · rating 4</a:t>
            </a:r>
            <a:endParaRPr lang="en" sz="1200" dirty="0"/>
          </a:p>
          <a:p>
            <a:pPr>
              <a:spcAft>
                <a:spcPts val="0"/>
              </a:spcAft>
              <a:buNone/>
            </a:pPr>
            <a:r>
              <a:rPr lang="en" sz="1200" dirty="0">
                <a:solidFill>
                  <a:srgbClr val="1F2328"/>
                </a:solidFill>
              </a:rPr>
              <a:t>FND-D14B8424: Maintenance leadership - 22-month recurring gasket-failure pattern not escalated · L3 · rating 4</a:t>
            </a:r>
            <a:endParaRPr lang="en" sz="1200" dirty="0"/>
          </a:p>
          <a:p>
            <a:pPr>
              <a:spcAft>
                <a:spcPts val="0"/>
              </a:spcAft>
              <a:buNone/>
            </a:pPr>
            <a:r>
              <a:rPr lang="en" sz="1200" dirty="0">
                <a:solidFill>
                  <a:srgbClr val="1F2328"/>
                </a:solidFill>
              </a:rPr>
              <a:t>FND-E0AE86A6: Recurrent gasket-failure program risk on meter 310FT01 never assessed · L4 · rating 4</a:t>
            </a:r>
            <a:endParaRPr lang="en" sz="1200" dirty="0"/>
          </a:p>
          <a:p>
            <a:pPr>
              <a:spcAft>
                <a:spcPts val="0"/>
              </a:spcAft>
              <a:buNone/>
            </a:pPr>
            <a:r>
              <a:rPr lang="en" sz="1200" dirty="0">
                <a:solidFill>
                  <a:srgbClr val="1F2328"/>
                </a:solidFill>
              </a:rPr>
              <a:t>FND-F0D015E1: No formal risk assessment following the recurrent gasket failure pattern · L3 · rating 3</a:t>
            </a:r>
            <a:endParaRPr lang="en" sz="1200" dirty="0"/>
          </a:p>
          <a:p>
            <a:pPr>
              <a:spcAft>
                <a:spcPts val="0"/>
              </a:spcAft>
              <a:buNone/>
            </a:pPr>
            <a:r>
              <a:rPr lang="en" sz="1200" dirty="0">
                <a:solidFill>
                  <a:srgbClr val="1F2328"/>
                </a:solidFill>
              </a:rPr>
              <a:t>FND-FEC84761: Three gasket failures in 22 months on meter 310FT01 — recurrent identified risk with no root-cause investigation or mitigation · L3 · rating 4</a:t>
            </a:r>
            <a:endParaRPr lang="en" sz="1200" dirty="0"/>
          </a:p>
          <a:p>
            <a:pPr>
              <a:spcAft>
                <a:spcPts val="0"/>
              </a:spcAft>
              <a:buNone/>
            </a:pPr>
            <a:r>
              <a:rPr lang="en" sz="1200" dirty="0">
                <a:solidFill>
                  <a:srgbClr val="1F2328"/>
                </a:solidFill>
              </a:rPr>
              <a:t>EVD-2397: document</a:t>
            </a:r>
            <a:endParaRPr lang="en" sz="1200" dirty="0"/>
          </a:p>
          <a:p>
            <a:pPr>
              <a:spcAft>
                <a:spcPts val="0"/>
              </a:spcAft>
              <a:buNone/>
            </a:pPr>
            <a:r>
              <a:rPr lang="en" sz="1200" dirty="0">
                <a:solidFill>
                  <a:srgbClr val="1F2328"/>
                </a:solidFill>
              </a:rPr>
              <a:t>FND-159C9FD7: Supervision accepted painting-only corrective action for the July 2019 1.03 mm pitting/zero-corrosion-allowance finding on the 36-inch pipeline · L3 · rating 2</a:t>
            </a:r>
            <a:endParaRPr lang="en" sz="1200" dirty="0"/>
          </a:p>
          <a:p>
            <a:pPr>
              <a:spcAft>
                <a:spcPts val="0"/>
              </a:spcAft>
              <a:buNone/>
            </a:pPr>
            <a:r>
              <a:rPr lang="en" sz="1200" dirty="0">
                <a:solidFill>
                  <a:srgbClr val="1F2328"/>
                </a:solidFill>
              </a:rPr>
              <a:t>FND-20034564: July 2019 1.03 mm pitting finding accepted with painting-only corrective action · L3 · rating 3</a:t>
            </a:r>
            <a:endParaRPr lang="en" sz="1200" dirty="0"/>
          </a:p>
          <a:p>
            <a:pPr>
              <a:spcAft>
                <a:spcPts val="0"/>
              </a:spcAft>
              <a:buNone/>
            </a:pPr>
            <a:r>
              <a:rPr lang="en" sz="1200" dirty="0">
                <a:solidFill>
                  <a:srgbClr val="1F2328"/>
                </a:solidFill>
              </a:rPr>
              <a:t>FND-4722A2B8: July 2019 pitting/thickness loss on 36-inch line addressed with painting only, with no supervisory review of remedial adequacy · L3 · rating 3</a:t>
            </a:r>
            <a:endParaRPr lang="en" sz="1200" dirty="0"/>
          </a:p>
          <a:p>
            <a:pPr>
              <a:spcAft>
                <a:spcPts val="0"/>
              </a:spcAft>
              <a:buNone/>
            </a:pPr>
            <a:r>
              <a:rPr lang="en" sz="1200" dirty="0">
                <a:solidFill>
                  <a:srgbClr val="1F2328"/>
                </a:solidFill>
              </a:rPr>
              <a:t>FND-4DAC9500: 1.03 mm wall loss with heavy pitting on zero-corrosion-allowance 36-inch segment remediated with painting only · L4 · rating 3</a:t>
            </a:r>
            <a:endParaRPr lang="en" sz="1200" dirty="0"/>
          </a:p>
          <a:p>
            <a:pPr>
              <a:spcAft>
                <a:spcPts val="0"/>
              </a:spcAft>
              <a:buNone/>
            </a:pPr>
            <a:r>
              <a:rPr lang="en" sz="1200" dirty="0">
                <a:solidFill>
                  <a:srgbClr val="1F2328"/>
                </a:solidFill>
              </a:rPr>
              <a:t>FND-6E13192C: Painting-only corrective action accepted for pitted zero-corrosion-allowance 36-inch pipeline segment · L4 · rating 3</a:t>
            </a:r>
            <a:endParaRPr lang="en" sz="1200" dirty="0"/>
          </a:p>
          <a:p>
            <a:pPr>
              <a:spcAft>
                <a:spcPts val="0"/>
              </a:spcAft>
              <a:buNone/>
            </a:pPr>
            <a:r>
              <a:rPr lang="en" sz="1200" dirty="0">
                <a:solidFill>
                  <a:srgbClr val="1F2328"/>
                </a:solidFill>
              </a:rPr>
              <a:t>FND-7D59D47D: Program risk of zero-corrosion-allowance pitting addressed by painting only · L4 · rating 2</a:t>
            </a:r>
            <a:endParaRPr lang="en" sz="1200" dirty="0"/>
          </a:p>
          <a:p>
            <a:pPr>
              <a:spcAft>
                <a:spcPts val="0"/>
              </a:spcAft>
              <a:buNone/>
            </a:pPr>
            <a:r>
              <a:rPr lang="en" sz="1200" dirty="0">
                <a:solidFill>
                  <a:srgbClr val="1F2328"/>
                </a:solidFill>
              </a:rPr>
              <a:t>FND-8EFDE3D9: July 2019 pitting on 36″ gas-terminal pipeline — identified 1.03 mm loss on a zero-corrosion-allowance line mitigated only by painting · L3 · rating 3</a:t>
            </a:r>
            <a:endParaRPr lang="en" sz="1200" dirty="0"/>
          </a:p>
          <a:p>
            <a:pPr>
              <a:spcAft>
                <a:spcPts val="0"/>
              </a:spcAft>
              <a:buNone/>
            </a:pPr>
            <a:r>
              <a:rPr lang="en" sz="1200" dirty="0">
                <a:solidFill>
                  <a:srgbClr val="1F2328"/>
                </a:solidFill>
              </a:rPr>
              <a:t>FND-999326F0: Zero-corrosion-allowance 36-inch segment with 1.03 mm pitting only painted, not removed or replaced · L4 · rating 2</a:t>
            </a:r>
            <a:endParaRPr lang="en" sz="1200" dirty="0"/>
          </a:p>
          <a:p>
            <a:pPr>
              <a:spcAft>
                <a:spcPts val="0"/>
              </a:spcAft>
              <a:buNone/>
            </a:pPr>
            <a:r>
              <a:rPr lang="en" sz="1200" dirty="0">
                <a:solidFill>
                  <a:srgbClr val="1F2328"/>
                </a:solidFill>
              </a:rPr>
              <a:t>FND-ABDADA0C: Authorised painting-only remedy for corroded zero-corrosion-allowance pipeline · L3 · rating 3</a:t>
            </a:r>
            <a:endParaRPr lang="en" sz="1200" dirty="0"/>
          </a:p>
          <a:p>
            <a:pPr>
              <a:spcAft>
                <a:spcPts val="0"/>
              </a:spcAft>
              <a:buNone/>
            </a:pPr>
            <a:r>
              <a:rPr lang="en" sz="1200" dirty="0">
                <a:solidFill>
                  <a:srgbClr val="1F2328"/>
                </a:solidFill>
              </a:rPr>
              <a:t>FND-B2B200D4: July 2019 pitting on the 36-inch pipeline addressed only by painting, an inadequate mitigation for metal loss · L3 · rating 3</a:t>
            </a:r>
            <a:endParaRPr lang="en" sz="1200" dirty="0"/>
          </a:p>
          <a:p>
            <a:pPr>
              <a:spcAft>
                <a:spcPts val="0"/>
              </a:spcAft>
              <a:buNone/>
            </a:pPr>
            <a:r>
              <a:rPr lang="en" sz="1200" dirty="0">
                <a:solidFill>
                  <a:srgbClr val="1F2328"/>
                </a:solidFill>
              </a:rPr>
              <a:t>FND-B412FF47: Overconfidence in a pitted zero-corrosion-allowance 36-inch pipeline segment after painting-only correction · L4 · rating 3</a:t>
            </a:r>
            <a:endParaRPr lang="en" sz="1200" dirty="0"/>
          </a:p>
          <a:p>
            <a:pPr>
              <a:spcAft>
                <a:spcPts val="0"/>
              </a:spcAft>
              <a:buNone/>
            </a:pPr>
            <a:r>
              <a:rPr lang="en" sz="1200" dirty="0">
                <a:solidFill>
                  <a:srgbClr val="1F2328"/>
                </a:solidFill>
              </a:rPr>
              <a:t>FND-B5D6A73E: Pipeline-integrity decision oversight - painting-only remedy on 1.03 mm loss · L3 · rating 3</a:t>
            </a:r>
            <a:endParaRPr lang="en" sz="1200" dirty="0"/>
          </a:p>
          <a:p>
            <a:pPr>
              <a:spcAft>
                <a:spcPts val="0"/>
              </a:spcAft>
              <a:buNone/>
            </a:pPr>
            <a:r>
              <a:rPr lang="en" sz="1200" dirty="0">
                <a:solidFill>
                  <a:srgbClr val="1F2328"/>
                </a:solidFill>
              </a:rPr>
              <a:t>FND-C90FA7A2: 1.03 mm wall loss and pitting on zero-corrosion-allowance 36-inch pipe remediated only by painting · L3 · rating 2</a:t>
            </a:r>
            <a:endParaRPr lang="en" sz="1200" dirty="0"/>
          </a:p>
          <a:p>
            <a:pPr>
              <a:spcAft>
                <a:spcPts val="0"/>
              </a:spcAft>
              <a:buNone/>
            </a:pPr>
            <a:r>
              <a:rPr lang="en" sz="1200" dirty="0">
                <a:solidFill>
                  <a:srgbClr val="1F2328"/>
                </a:solidFill>
              </a:rPr>
              <a:t>FND-E5C4209D: July 2019 pitting and 1.03 mm loss on zero-allowance 36-inch line treated with painting only · L3 · rating 3</a:t>
            </a:r>
            <a:endParaRPr lang="en" sz="1200" dirty="0"/>
          </a:p>
          <a:p>
            <a:pPr>
              <a:spcAft>
                <a:spcPts val="0"/>
              </a:spcAft>
              <a:buNone/>
            </a:pPr>
            <a:r>
              <a:rPr lang="en" sz="1200" dirty="0">
                <a:solidFill>
                  <a:srgbClr val="1F2328"/>
                </a:solidFill>
              </a:rPr>
              <a:t>FND-FA73D914: 36-inch pipeline pitting and 1.03 mm metal loss addressed by painting only · L4 · rating 3</a:t>
            </a:r>
            <a:endParaRPr lang="en" sz="1200" dirty="0"/>
          </a:p>
          <a:p>
            <a:pPr>
              <a:spcAft>
                <a:spcPts val="0"/>
              </a:spcAft>
              <a:buNone/>
            </a:pPr>
            <a:r>
              <a:rPr lang="en" sz="1200" dirty="0">
                <a:solidFill>
                  <a:srgbClr val="1F2328"/>
                </a:solidFill>
              </a:rPr>
              <a:t>FND-5EC15274: July 2019 - Wrong Choice: Painting Only for 1.03mm Thickness Loss with Zero Corrosion Allowance · L1 · rating 3</a:t>
            </a:r>
            <a:endParaRPr lang="en" sz="1200" dirty="0"/>
          </a:p>
          <a:p>
            <a:pPr>
              <a:spcAft>
                <a:spcPts val="0"/>
              </a:spcAft>
              <a:buNone/>
            </a:pPr>
            <a:r>
              <a:rPr lang="en" sz="1200" dirty="0">
                <a:solidFill>
                  <a:srgbClr val="1F2328"/>
                </a:solidFill>
              </a:rPr>
              <a:t>EVD-2506: log_record</a:t>
            </a:r>
            <a:endParaRPr lang="en" sz="1200" dirty="0"/>
          </a:p>
          <a:p>
            <a:pPr>
              <a:spcAft>
                <a:spcPts val="0"/>
              </a:spcAft>
              <a:buNone/>
            </a:pPr>
            <a:r>
              <a:rPr lang="en" sz="1200" dirty="0">
                <a:solidFill>
                  <a:srgbClr val="1F2328"/>
                </a:solidFill>
              </a:rPr>
              <a:t>FND-0B651843: Calibration programme executed without checklist or recorded setpoint change on meter 310FT01 (Dec-2019) · L4 · rating 3</a:t>
            </a:r>
            <a:endParaRPr lang="en" sz="1200" dirty="0"/>
          </a:p>
          <a:p>
            <a:pPr>
              <a:spcAft>
                <a:spcPts val="0"/>
              </a:spcAft>
              <a:buNone/>
            </a:pPr>
            <a:r>
              <a:rPr lang="en" sz="1200" dirty="0">
                <a:solidFill>
                  <a:srgbClr val="1F2328"/>
                </a:solidFill>
              </a:rPr>
              <a:t>FND-0BA85877: Undocumented calibration setting changes on critical meters · L1 · rating 3</a:t>
            </a:r>
            <a:endParaRPr lang="en" sz="1200" dirty="0"/>
          </a:p>
          <a:p>
            <a:pPr>
              <a:spcAft>
                <a:spcPts val="0"/>
              </a:spcAft>
              <a:buNone/>
            </a:pPr>
            <a:r>
              <a:rPr lang="en" sz="1200" dirty="0">
                <a:solidFill>
                  <a:srgbClr val="1F2328"/>
                </a:solidFill>
              </a:rPr>
              <a:t>FND-13E2037D: Meter 310FT01 calibration setting changed from 16000 to 2540 mmwc in Dec-2019 without documentation or checklist · L2 · rating 3</a:t>
            </a:r>
            <a:endParaRPr lang="en" sz="1200" dirty="0"/>
          </a:p>
          <a:p>
            <a:pPr>
              <a:spcAft>
                <a:spcPts val="0"/>
              </a:spcAft>
              <a:buNone/>
            </a:pPr>
            <a:r>
              <a:rPr lang="en" sz="1200" dirty="0">
                <a:solidFill>
                  <a:srgbClr val="1F2328"/>
                </a:solidFill>
              </a:rPr>
              <a:t>FND-403FD778: Calibration documentation and checklist rules not enforced during Dec-2019 calibration of 310FT01 · L3 · rating 3</a:t>
            </a:r>
            <a:endParaRPr lang="en" sz="1200" dirty="0"/>
          </a:p>
          <a:p>
            <a:pPr>
              <a:spcAft>
                <a:spcPts val="0"/>
              </a:spcAft>
              <a:buNone/>
            </a:pPr>
            <a:r>
              <a:rPr lang="en" sz="1200" dirty="0">
                <a:solidFill>
                  <a:srgbClr val="1F2328"/>
                </a:solidFill>
              </a:rPr>
              <a:t>FND-6381588B: Calibration team cross-monitoring failure — December 2019 undocumented setpoint change · L2 · rating 3</a:t>
            </a:r>
            <a:endParaRPr lang="en" sz="1200" dirty="0"/>
          </a:p>
          <a:p>
            <a:pPr>
              <a:spcAft>
                <a:spcPts val="0"/>
              </a:spcAft>
              <a:buNone/>
            </a:pPr>
            <a:r>
              <a:rPr lang="en" sz="1200" dirty="0">
                <a:solidFill>
                  <a:srgbClr val="1F2328"/>
                </a:solidFill>
              </a:rPr>
              <a:t>FND-693FEDD2: Calibration setpoint changes on 310FT01 (16000→2540→16000 mmwc) left uncorrected and undocumented by supervision · L3 · rating 3</a:t>
            </a:r>
            <a:endParaRPr lang="en" sz="1200" dirty="0"/>
          </a:p>
          <a:p>
            <a:pPr>
              <a:spcAft>
                <a:spcPts val="0"/>
              </a:spcAft>
              <a:buNone/>
            </a:pPr>
            <a:r>
              <a:rPr lang="en" sz="1200" dirty="0">
                <a:solidFill>
                  <a:srgbClr val="1F2328"/>
                </a:solidFill>
              </a:rPr>
              <a:t>FND-7C8ADD7C: Dec-2019 calibration team lacked independent verifier and checklist discipline · L3 · rating 3</a:t>
            </a:r>
            <a:endParaRPr lang="en" sz="1200" dirty="0"/>
          </a:p>
          <a:p>
            <a:pPr>
              <a:spcAft>
                <a:spcPts val="0"/>
              </a:spcAft>
              <a:buNone/>
            </a:pPr>
            <a:r>
              <a:rPr lang="en" sz="1200" dirty="0">
                <a:solidFill>
                  <a:srgbClr val="1F2328"/>
                </a:solidFill>
              </a:rPr>
              <a:t>FND-7F829BEB: December 2019 calibration setpoint changes undocumented and checklist-free · L4 · rating 3</a:t>
            </a:r>
            <a:endParaRPr lang="en" sz="1200" dirty="0"/>
          </a:p>
          <a:p>
            <a:pPr>
              <a:spcAft>
                <a:spcPts val="0"/>
              </a:spcAft>
              <a:buNone/>
            </a:pPr>
            <a:r>
              <a:rPr lang="en" sz="1200" dirty="0">
                <a:solidFill>
                  <a:srgbClr val="1F2328"/>
                </a:solidFill>
              </a:rPr>
              <a:t>FND-85748D86: Maintenance Team - Undocumented Calibration Change Dec 2019 · L1 · rating 3</a:t>
            </a:r>
            <a:endParaRPr lang="en" sz="1200" dirty="0"/>
          </a:p>
          <a:p>
            <a:pPr>
              <a:spcAft>
                <a:spcPts val="0"/>
              </a:spcAft>
              <a:buNone/>
            </a:pPr>
            <a:r>
              <a:rPr lang="en" sz="1200" dirty="0">
                <a:solidFill>
                  <a:srgbClr val="1F2328"/>
                </a:solidFill>
              </a:rPr>
              <a:t>FND-89A8965A: Calibration record-keeping on meter 310FT01 — no standardized checklist or documentation rule · L3 · rating 3</a:t>
            </a:r>
            <a:endParaRPr lang="en" sz="1200" dirty="0"/>
          </a:p>
          <a:p>
            <a:pPr>
              <a:spcAft>
                <a:spcPts val="0"/>
              </a:spcAft>
              <a:buNone/>
            </a:pPr>
            <a:r>
              <a:rPr lang="en" sz="1200" dirty="0">
                <a:solidFill>
                  <a:srgbClr val="1F2328"/>
                </a:solidFill>
              </a:rPr>
              <a:t>FND-89D53630: Instrument/calibration supervision - Dec-2019 unsigned setpoint change · L3 · rating 3</a:t>
            </a:r>
            <a:endParaRPr lang="en" sz="1200" dirty="0"/>
          </a:p>
          <a:p>
            <a:pPr>
              <a:spcAft>
                <a:spcPts val="0"/>
              </a:spcAft>
              <a:buNone/>
            </a:pPr>
            <a:r>
              <a:rPr lang="en" sz="1200" dirty="0">
                <a:solidFill>
                  <a:srgbClr val="1F2328"/>
                </a:solidFill>
              </a:rPr>
              <a:t>FND-8D744668: Calibration team - Dec 2019 setpoint change not communicated · L2 · rating 3</a:t>
            </a:r>
            <a:endParaRPr lang="en" sz="1200" dirty="0"/>
          </a:p>
          <a:p>
            <a:pPr>
              <a:spcAft>
                <a:spcPts val="0"/>
              </a:spcAft>
              <a:buNone/>
            </a:pPr>
            <a:r>
              <a:rPr lang="en" sz="1200" dirty="0">
                <a:solidFill>
                  <a:srgbClr val="1F2328"/>
                </a:solidFill>
              </a:rPr>
              <a:t>FND-98F7C845: No calibration checklist for critical high-pressure meter work · L4 · rating 3</a:t>
            </a:r>
            <a:endParaRPr lang="en" sz="1200" dirty="0"/>
          </a:p>
          <a:p>
            <a:pPr>
              <a:spcAft>
                <a:spcPts val="0"/>
              </a:spcAft>
              <a:buNone/>
            </a:pPr>
            <a:r>
              <a:rPr lang="en" sz="1200" dirty="0">
                <a:solidFill>
                  <a:srgbClr val="1F2328"/>
                </a:solidFill>
              </a:rPr>
              <a:t>FND-A534A1C3: Calibration crew authorised for Dec-2019 high-pressure calibration of meter 310FT01 without checklist or documentation discipline · L3 · rating 3</a:t>
            </a:r>
            <a:endParaRPr lang="en" sz="1200" dirty="0"/>
          </a:p>
          <a:p>
            <a:pPr>
              <a:spcAft>
                <a:spcPts val="0"/>
              </a:spcAft>
              <a:buNone/>
            </a:pPr>
            <a:r>
              <a:rPr lang="en" sz="1200" dirty="0">
                <a:solidFill>
                  <a:srgbClr val="1F2328"/>
                </a:solidFill>
              </a:rPr>
              <a:t>FND-B0BA0566: Unmanaged setpoint change on meter 310FT01 during December 2019 calibration · L4 · rating 3</a:t>
            </a:r>
            <a:endParaRPr lang="en" sz="1200" dirty="0"/>
          </a:p>
          <a:p>
            <a:pPr>
              <a:spcAft>
                <a:spcPts val="0"/>
              </a:spcAft>
              <a:buNone/>
            </a:pPr>
            <a:r>
              <a:rPr lang="en" sz="1200" dirty="0">
                <a:solidFill>
                  <a:srgbClr val="1F2328"/>
                </a:solidFill>
              </a:rPr>
              <a:t>FND-C2B4989C: Calibration work on 310FT01 — no checklist followed and undocumented setpoint changes in Dec 2019 · L2 · rating 3</a:t>
            </a:r>
            <a:endParaRPr lang="en" sz="1200" dirty="0"/>
          </a:p>
          <a:p>
            <a:pPr>
              <a:spcAft>
                <a:spcPts val="0"/>
              </a:spcAft>
              <a:buNone/>
            </a:pPr>
            <a:r>
              <a:rPr lang="en" sz="1200" dirty="0">
                <a:solidFill>
                  <a:srgbClr val="1F2328"/>
                </a:solidFill>
              </a:rPr>
              <a:t>FND-E94D563C: Calibration setpoint change 16000 to 2540 mmwc not communicated in signed records · L3 · rating 3</a:t>
            </a:r>
            <a:endParaRPr lang="en" sz="1200" dirty="0"/>
          </a:p>
          <a:p>
            <a:pPr>
              <a:spcAft>
                <a:spcPts val="0"/>
              </a:spcAft>
              <a:buNone/>
            </a:pPr>
            <a:r>
              <a:rPr lang="en" sz="1200" dirty="0">
                <a:solidFill>
                  <a:srgbClr val="1F2328"/>
                </a:solidFill>
              </a:rPr>
              <a:t>FND-FD98468B: Undocumented calibration setpoint changes with no checklist on meter 310FT01 · L4 · rating 3</a:t>
            </a:r>
            <a:endParaRPr lang="en" sz="1200" dirty="0"/>
          </a:p>
          <a:p>
            <a:pPr>
              <a:spcAft>
                <a:spcPts val="0"/>
              </a:spcAft>
              <a:buNone/>
            </a:pPr>
            <a:r>
              <a:rPr lang="en" sz="1200" dirty="0">
                <a:solidFill>
                  <a:srgbClr val="1F2328"/>
                </a:solidFill>
              </a:rPr>
              <a:t>EVD-0591: log_record</a:t>
            </a:r>
            <a:endParaRPr lang="en" sz="1200" dirty="0"/>
          </a:p>
          <a:p>
            <a:pPr>
              <a:spcAft>
                <a:spcPts val="0"/>
              </a:spcAft>
              <a:buNone/>
            </a:pPr>
            <a:r>
              <a:rPr lang="en" sz="1200" dirty="0">
                <a:solidFill>
                  <a:srgbClr val="1F2328"/>
                </a:solidFill>
              </a:rPr>
              <a:t>FND-267F1E09: SAP Notification 3800419840 not closed or supervisor-reviewed after the gasket job · L2 · rating 3</a:t>
            </a:r>
            <a:endParaRPr lang="en" sz="1200" dirty="0"/>
          </a:p>
          <a:p>
            <a:pPr>
              <a:spcAft>
                <a:spcPts val="0"/>
              </a:spcAft>
              <a:buNone/>
            </a:pPr>
            <a:r>
              <a:rPr lang="en" sz="1200" dirty="0">
                <a:solidFill>
                  <a:srgbClr val="1F2328"/>
                </a:solidFill>
              </a:rPr>
              <a:t>FND-2B53492C: SAP Notification 3800419840 left open with no supervisory closure review after the meter repair · L3 · rating 3</a:t>
            </a:r>
            <a:endParaRPr lang="en" sz="1200" dirty="0"/>
          </a:p>
          <a:p>
            <a:pPr>
              <a:spcAft>
                <a:spcPts val="0"/>
              </a:spcAft>
              <a:buNone/>
            </a:pPr>
            <a:r>
              <a:rPr lang="en" sz="1200" dirty="0">
                <a:solidFill>
                  <a:srgbClr val="1F2328"/>
                </a:solidFill>
              </a:rPr>
              <a:t>FND-30C43927: SAP maintenance notification closure programme: notification 3800419840 not closed or reviewed · L4 · rating 3</a:t>
            </a:r>
            <a:endParaRPr lang="en" sz="1200" dirty="0"/>
          </a:p>
          <a:p>
            <a:pPr>
              <a:spcAft>
                <a:spcPts val="0"/>
              </a:spcAft>
              <a:buNone/>
            </a:pPr>
            <a:r>
              <a:rPr lang="en" sz="1200" dirty="0">
                <a:solidFill>
                  <a:srgbClr val="1F2328"/>
                </a:solidFill>
              </a:rPr>
              <a:t>FND-62EF1667: SAP Notification 3800419840 left open and unreviewed · L4 · rating 3</a:t>
            </a:r>
            <a:endParaRPr lang="en" sz="1200" dirty="0"/>
          </a:p>
          <a:p>
            <a:pPr>
              <a:spcAft>
                <a:spcPts val="0"/>
              </a:spcAft>
              <a:buNone/>
            </a:pPr>
            <a:r>
              <a:rPr lang="en" sz="1200" dirty="0">
                <a:solidFill>
                  <a:srgbClr val="1F2328"/>
                </a:solidFill>
              </a:rPr>
              <a:t>FND-678E51A3: SAP maintenance-work closure loop broken — notification 3800419840 never closed or reviewed · L4 · rating 3</a:t>
            </a:r>
            <a:endParaRPr lang="en" sz="1200" dirty="0"/>
          </a:p>
          <a:p>
            <a:pPr>
              <a:spcAft>
                <a:spcPts val="0"/>
              </a:spcAft>
              <a:buNone/>
            </a:pPr>
            <a:r>
              <a:rPr lang="en" sz="1200" dirty="0">
                <a:solidFill>
                  <a:srgbClr val="1F2328"/>
                </a:solidFill>
              </a:rPr>
              <a:t>FND-6D3446CD: SAP notification closure review after 18-Sep-2020 job not enforced · L3 · rating 3</a:t>
            </a:r>
            <a:endParaRPr lang="en" sz="1200" dirty="0"/>
          </a:p>
          <a:p>
            <a:pPr>
              <a:spcAft>
                <a:spcPts val="0"/>
              </a:spcAft>
              <a:buNone/>
            </a:pPr>
            <a:r>
              <a:rPr lang="en" sz="1200" dirty="0">
                <a:solidFill>
                  <a:srgbClr val="1F2328"/>
                </a:solidFill>
              </a:rPr>
              <a:t>FND-8071945B: SAP Notification 3800419840 not closed - no completion feedback loop · L2 · rating 3</a:t>
            </a:r>
            <a:endParaRPr lang="en" sz="1200" dirty="0"/>
          </a:p>
          <a:p>
            <a:pPr>
              <a:spcAft>
                <a:spcPts val="0"/>
              </a:spcAft>
              <a:buNone/>
            </a:pPr>
            <a:r>
              <a:rPr lang="en" sz="1200" dirty="0">
                <a:solidFill>
                  <a:srgbClr val="1F2328"/>
                </a:solidFill>
              </a:rPr>
              <a:t>FND-96DB7E93: SAP notification closure oversight - 3800419840 left open · L3 · rating 3</a:t>
            </a:r>
            <a:endParaRPr lang="en" sz="1200" dirty="0"/>
          </a:p>
          <a:p>
            <a:pPr>
              <a:spcAft>
                <a:spcPts val="0"/>
              </a:spcAft>
              <a:buNone/>
            </a:pPr>
            <a:r>
              <a:rPr lang="en" sz="1200" dirty="0">
                <a:solidFill>
                  <a:srgbClr val="1F2328"/>
                </a:solidFill>
              </a:rPr>
              <a:t>FND-977FABA2: SAP Notification 3800419840 left open with no supervisory closure review · L3 · rating 3</a:t>
            </a:r>
            <a:endParaRPr lang="en" sz="1200" dirty="0"/>
          </a:p>
          <a:p>
            <a:pPr>
              <a:spcAft>
                <a:spcPts val="0"/>
              </a:spcAft>
              <a:buNone/>
            </a:pPr>
            <a:r>
              <a:rPr lang="en" sz="1200" dirty="0">
                <a:solidFill>
                  <a:srgbClr val="1F2328"/>
                </a:solidFill>
              </a:rPr>
              <a:t>FND-AE60859C: SAP notification 3800419840 left unclosed without supervisory review · L3 · rating 3</a:t>
            </a:r>
            <a:endParaRPr lang="en" sz="1200" dirty="0"/>
          </a:p>
          <a:p>
            <a:pPr>
              <a:spcAft>
                <a:spcPts val="0"/>
              </a:spcAft>
              <a:buNone/>
            </a:pPr>
            <a:r>
              <a:rPr lang="en" sz="1200" dirty="0">
                <a:solidFill>
                  <a:srgbClr val="1F2328"/>
                </a:solidFill>
              </a:rPr>
              <a:t>FND-C59DCD29: SAP notification closure responsibility not defined · L2 · rating 3</a:t>
            </a:r>
            <a:endParaRPr lang="en" sz="1200" dirty="0"/>
          </a:p>
          <a:p>
            <a:pPr>
              <a:spcAft>
                <a:spcPts val="0"/>
              </a:spcAft>
              <a:buNone/>
            </a:pPr>
            <a:r>
              <a:rPr lang="en" sz="1200" dirty="0">
                <a:solidFill>
                  <a:srgbClr val="1F2328"/>
                </a:solidFill>
              </a:rPr>
              <a:t>FND-FA807C69: SAP notification 3800419840 for meter 310FT01 was never closed or reviewed by supervision after the 18-Sep-2020 job · L3 · rating 3</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FND-137BC719: No SOP for calibration and return-to-service of high-pressure meters · L3 · rating 4</a:t>
            </a:r>
            <a:endParaRPr lang="en" sz="1200" dirty="0"/>
          </a:p>
          <a:p>
            <a:pPr>
              <a:spcAft>
                <a:spcPts val="0"/>
              </a:spcAft>
              <a:buNone/>
            </a:pPr>
            <a:r>
              <a:rPr lang="en" sz="1200" dirty="0">
                <a:solidFill>
                  <a:srgbClr val="1F2328"/>
                </a:solidFill>
              </a:rPr>
              <a:t>FND-1662466D: Meter 310FT01 returned to service with locally sourced substitute O-ring gasket and no hydrotest · L2 · rating 4</a:t>
            </a:r>
            <a:endParaRPr lang="en" sz="1200" dirty="0"/>
          </a:p>
          <a:p>
            <a:pPr>
              <a:spcAft>
                <a:spcPts val="0"/>
              </a:spcAft>
              <a:buNone/>
            </a:pPr>
            <a:r>
              <a:rPr lang="en" sz="1200" dirty="0">
                <a:solidFill>
                  <a:srgbClr val="1F2328"/>
                </a:solidFill>
              </a:rPr>
              <a:t>FND-257C1100: No standard operating procedure existed for calibration and return-to-service of the high-pressure meters, including mandatory hydrotest to design pressure · L3 · rating 4</a:t>
            </a:r>
            <a:endParaRPr lang="en" sz="1200" dirty="0"/>
          </a:p>
          <a:p>
            <a:pPr>
              <a:spcAft>
                <a:spcPts val="0"/>
              </a:spcAft>
              <a:buNone/>
            </a:pPr>
            <a:r>
              <a:rPr lang="en" sz="1200" dirty="0">
                <a:solidFill>
                  <a:srgbClr val="1F2328"/>
                </a:solidFill>
              </a:rPr>
              <a:t>FND-3AB996FC: Return-to-service after gasket replacement without design-pressure hydrostatic test · L4 · rating 4</a:t>
            </a:r>
            <a:endParaRPr lang="en" sz="1200" dirty="0"/>
          </a:p>
          <a:p>
            <a:pPr>
              <a:spcAft>
                <a:spcPts val="0"/>
              </a:spcAft>
              <a:buNone/>
            </a:pPr>
            <a:r>
              <a:rPr lang="en" sz="1200" dirty="0">
                <a:solidFill>
                  <a:srgbClr val="1F2328"/>
                </a:solidFill>
              </a:rPr>
              <a:t>FND-491EDE74: Return of meter 310FT01 to service after 18-Sep-2020 gasket change without design-pressure validation · L4 · rating 4</a:t>
            </a:r>
            <a:endParaRPr lang="en" sz="1200" dirty="0"/>
          </a:p>
          <a:p>
            <a:pPr>
              <a:spcAft>
                <a:spcPts val="0"/>
              </a:spcAft>
              <a:buNone/>
            </a:pPr>
            <a:r>
              <a:rPr lang="en" sz="1200" dirty="0">
                <a:solidFill>
                  <a:srgbClr val="1F2328"/>
                </a:solidFill>
              </a:rPr>
              <a:t>FND-4944554C: Pressure boundary work returned to service without hydrostatic test · L1 · rating 4</a:t>
            </a:r>
            <a:endParaRPr lang="en" sz="1200" dirty="0"/>
          </a:p>
          <a:p>
            <a:pPr>
              <a:spcAft>
                <a:spcPts val="0"/>
              </a:spcAft>
              <a:buNone/>
            </a:pPr>
            <a:r>
              <a:rPr lang="en" sz="1200" dirty="0">
                <a:solidFill>
                  <a:srgbClr val="1F2328"/>
                </a:solidFill>
              </a:rPr>
              <a:t>FND-50C7319E: No post-maintenance hydrotest or return-to-service SOP for high-pressure meter gasket work · L4 · rating 4</a:t>
            </a:r>
            <a:endParaRPr lang="en" sz="1200" dirty="0"/>
          </a:p>
          <a:p>
            <a:pPr>
              <a:spcAft>
                <a:spcPts val="0"/>
              </a:spcAft>
              <a:buNone/>
            </a:pPr>
            <a:r>
              <a:rPr lang="en" sz="1200" dirty="0">
                <a:solidFill>
                  <a:srgbClr val="1F2328"/>
                </a:solidFill>
              </a:rPr>
              <a:t>FND-5919B328: Authorised return-to-service without the mandatory hydrostatic test · L3 · rating 4</a:t>
            </a:r>
            <a:endParaRPr lang="en" sz="1200" dirty="0"/>
          </a:p>
          <a:p>
            <a:pPr>
              <a:spcAft>
                <a:spcPts val="0"/>
              </a:spcAft>
              <a:buNone/>
            </a:pPr>
            <a:r>
              <a:rPr lang="en" sz="1200" dirty="0">
                <a:solidFill>
                  <a:srgbClr val="1F2328"/>
                </a:solidFill>
              </a:rPr>
              <a:t>FND-611A8BFC: Omitted hydrostatic test and absence of SOP for high-pressure meter return-to-service · L3 · rating 4</a:t>
            </a:r>
            <a:endParaRPr lang="en" sz="1200" dirty="0"/>
          </a:p>
          <a:p>
            <a:pPr>
              <a:spcAft>
                <a:spcPts val="0"/>
              </a:spcAft>
              <a:buNone/>
            </a:pPr>
            <a:r>
              <a:rPr lang="en" sz="1200" dirty="0">
                <a:solidFill>
                  <a:srgbClr val="1F2328"/>
                </a:solidFill>
              </a:rPr>
              <a:t>FND-615DB819: Maintenance job manning for the 18-Sep-2020 gasket replacement · L4 · rating 4</a:t>
            </a:r>
            <a:endParaRPr lang="en" sz="1200" dirty="0"/>
          </a:p>
          <a:p>
            <a:pPr>
              <a:spcAft>
                <a:spcPts val="0"/>
              </a:spcAft>
              <a:buNone/>
            </a:pPr>
            <a:r>
              <a:rPr lang="en" sz="1200" dirty="0">
                <a:solidFill>
                  <a:srgbClr val="1F2328"/>
                </a:solidFill>
              </a:rPr>
              <a:t>FND-7C5ED5B3: Maintenance Team - Hydrostatic Test Requirement After Gasket Replacement · L1 · rating 4</a:t>
            </a:r>
            <a:endParaRPr lang="en" sz="1200" dirty="0"/>
          </a:p>
          <a:p>
            <a:pPr>
              <a:spcAft>
                <a:spcPts val="0"/>
              </a:spcAft>
              <a:buNone/>
            </a:pPr>
            <a:r>
              <a:rPr lang="en" sz="1200" dirty="0">
                <a:solidFill>
                  <a:srgbClr val="1F2328"/>
                </a:solidFill>
              </a:rPr>
              <a:t>FND-7FA02383: Post-Maintenance Gasket Replacement - 18-Sep-2020 · L1 · rating 4</a:t>
            </a:r>
            <a:endParaRPr lang="en" sz="1200" dirty="0"/>
          </a:p>
          <a:p>
            <a:pPr>
              <a:spcAft>
                <a:spcPts val="0"/>
              </a:spcAft>
              <a:buNone/>
            </a:pPr>
            <a:r>
              <a:rPr lang="en" sz="1200" dirty="0">
                <a:solidFill>
                  <a:srgbClr val="1F2328"/>
                </a:solidFill>
              </a:rPr>
              <a:t>FND-8ACDE078: Omission of post-replacement hydrostatic test not identified or corrected before meter return to service · L3 · rating 4</a:t>
            </a:r>
            <a:endParaRPr lang="en" sz="1200" dirty="0"/>
          </a:p>
          <a:p>
            <a:pPr>
              <a:spcAft>
                <a:spcPts val="0"/>
              </a:spcAft>
              <a:buNone/>
            </a:pPr>
            <a:r>
              <a:rPr lang="en" sz="1200" dirty="0">
                <a:solidFill>
                  <a:srgbClr val="1F2328"/>
                </a:solidFill>
              </a:rPr>
              <a:t>FND-904FCA63: Failure to enforce hydrostatic test and return-to-service SOP after gasket replacement · L3 · rating 4</a:t>
            </a:r>
            <a:endParaRPr lang="en" sz="1200" dirty="0"/>
          </a:p>
          <a:p>
            <a:pPr>
              <a:spcAft>
                <a:spcPts val="0"/>
              </a:spcAft>
              <a:buNone/>
            </a:pPr>
            <a:r>
              <a:rPr lang="en" sz="1200" dirty="0">
                <a:solidFill>
                  <a:srgbClr val="1F2328"/>
                </a:solidFill>
              </a:rPr>
              <a:t>FND-C4E06264: Post-repair hydrostatic test requirement not enforced on 18-Sep-2020 gasket replacement · L3 · rating 4</a:t>
            </a:r>
            <a:endParaRPr lang="en" sz="1200" dirty="0"/>
          </a:p>
          <a:p>
            <a:pPr>
              <a:spcAft>
                <a:spcPts val="0"/>
              </a:spcAft>
              <a:buNone/>
            </a:pPr>
            <a:r>
              <a:rPr lang="en" sz="1200" dirty="0">
                <a:solidFill>
                  <a:srgbClr val="1F2328"/>
                </a:solidFill>
              </a:rPr>
              <a:t>FND-FDFA6FF5: No hydrostatic test performed after the 18-Sep-2020 gasket replacement · L2 · rating 4</a:t>
            </a:r>
            <a:endParaRPr lang="en"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Fitting a locally bought O-ring to a rectangular-slot flange was described as regular practice, repeated across three replacements in about 22 months, with no specification…</a:t>
            </a:r>
            <a:endParaRPr lang="en" sz="1200" dirty="0"/>
          </a:p>
          <a:p>
            <a:pPr>
              <a:spcAft>
                <a:spcPts val="0"/>
              </a:spcAft>
              <a:buNone/>
            </a:pPr>
            <a:r>
              <a:rPr lang="en" sz="1200" dirty="0">
                <a:solidFill>
                  <a:srgbClr val="1F2328"/>
                </a:solidFill>
              </a:rPr>
              <a:t>Text: Fitting a locally bought O-ring to a rectangular-slot flange was described as regular practice, repeated across three replacements in about 22 months, with no specification, quality check or recorded decision. Accepting a repaired pressure boundary after an operating-pressure soak had also become the modelled return-to-service practice [FND-B440C1BF; FND-A443D288; FND-71EE9734; EVD-8645; EVD-1494].</a:t>
            </a:r>
            <a:endParaRPr lang="en" sz="1200" dirty="0"/>
          </a:p>
          <a:p>
            <a:pPr>
              <a:spcAft>
                <a:spcPts val="0"/>
              </a:spcAft>
              <a:buNone/>
            </a:pPr>
            <a:r>
              <a:rPr lang="en" sz="1200" dirty="0">
                <a:solidFill>
                  <a:srgbClr val="1F2328"/>
                </a:solidFill>
              </a:rPr>
              <a:t>Cites: FND-B440C1BF; FND-A443D288; FND-71EE9734; EVD-8645; EVD-1494</a:t>
            </a:r>
            <a:endParaRPr lang="en" sz="1200" dirty="0"/>
          </a:p>
          <a:p>
            <a:pPr>
              <a:spcAft>
                <a:spcPts val="0"/>
              </a:spcAft>
              <a:buNone/>
            </a:pPr>
            <a:endParaRPr lang="en" sz="1200" dirty="0"/>
          </a:p>
          <a:p>
            <a:pPr>
              <a:spcAft>
                <a:spcPts val="0"/>
              </a:spcAft>
              <a:buNone/>
            </a:pPr>
            <a:r>
              <a:rPr lang="en" sz="1200" dirty="0">
                <a:solidFill>
                  <a:srgbClr val="1F2328"/>
                </a:solidFill>
              </a:rPr>
              <a:t>2. Breakdown repair was the accepted approach for flameproof fittings in the Zone 1 area, and twelve external-audit recommendations ran on extended dates with no record of the…</a:t>
            </a:r>
            <a:endParaRPr lang="en" sz="1200" dirty="0"/>
          </a:p>
          <a:p>
            <a:pPr>
              <a:spcAft>
                <a:spcPts val="0"/>
              </a:spcAft>
              <a:buNone/>
            </a:pPr>
            <a:r>
              <a:rPr lang="en" sz="1200" dirty="0">
                <a:solidFill>
                  <a:srgbClr val="1F2328"/>
                </a:solidFill>
              </a:rPr>
              <a:t>Text: Breakdown repair was the accepted approach for flameproof fittings in the Zone 1 area, and twelve external-audit recommendations ran on extended dates with no record of the approval the procedure required. Both were visible in site records [FND-1280E788; FND-856F80CE; EVD-6916; EVD-6852].</a:t>
            </a:r>
            <a:endParaRPr lang="en" sz="1200" dirty="0"/>
          </a:p>
          <a:p>
            <a:pPr>
              <a:spcAft>
                <a:spcPts val="0"/>
              </a:spcAft>
              <a:buNone/>
            </a:pPr>
            <a:r>
              <a:rPr lang="en" sz="1200" dirty="0">
                <a:solidFill>
                  <a:srgbClr val="1F2328"/>
                </a:solidFill>
              </a:rPr>
              <a:t>Cites: FND-1280E788; FND-856F80CE; EVD-6916; EVD-6852</a:t>
            </a:r>
            <a:endParaRPr lang="en" sz="1200" dirty="0"/>
          </a:p>
          <a:p>
            <a:pPr>
              <a:spcAft>
                <a:spcPts val="0"/>
              </a:spcAft>
              <a:buNone/>
            </a:pPr>
            <a:endParaRPr lang="en" sz="1200" dirty="0"/>
          </a:p>
          <a:p>
            <a:pPr>
              <a:spcAft>
                <a:spcPts val="0"/>
              </a:spcAft>
              <a:buNone/>
            </a:pPr>
            <a:r>
              <a:rPr lang="en" sz="1200" dirty="0">
                <a:solidFill>
                  <a:srgbClr val="1F2328"/>
                </a:solidFill>
              </a:rPr>
              <a:t>3. The emergency structure ran as a serial chain: perimeter security, CCTV room, gas terminal control room, shift in-charge, overall shift in-charge, then plant leadership. No role…</a:t>
            </a:r>
            <a:endParaRPr lang="en" sz="1200" dirty="0"/>
          </a:p>
          <a:p>
            <a:pPr>
              <a:spcAft>
                <a:spcPts val="0"/>
              </a:spcAft>
              <a:buNone/>
            </a:pPr>
            <a:r>
              <a:rPr lang="en" sz="1200" dirty="0">
                <a:solidFill>
                  <a:srgbClr val="1F2328"/>
                </a:solidFill>
              </a:rPr>
              <a:t>Text: The emergency structure ran as a serial chain: perimeter security, CCTV room, gas terminal control room, shift in-charge, overall shift in-charge, then plant leadership. No role below the plant manager held standing authority to close the isolation valve, so each step reported up rather than acted [FND-82761CC5; FND-A206DFD6; FND-4245FBF2; EVD-3932; EVD-6414].</a:t>
            </a:r>
            <a:endParaRPr lang="en" sz="1200" dirty="0"/>
          </a:p>
          <a:p>
            <a:pPr>
              <a:spcAft>
                <a:spcPts val="0"/>
              </a:spcAft>
              <a:buNone/>
            </a:pPr>
            <a:r>
              <a:rPr lang="en" sz="1200" dirty="0">
                <a:solidFill>
                  <a:srgbClr val="1F2328"/>
                </a:solidFill>
              </a:rPr>
              <a:t>Cites: FND-82761CC5; FND-A206DFD6; FND-4245FBF2; EVD-3932; EVD-6414</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FND-B440C1BF: Unassessed program risk of O-ring substitution for OEM rectangular-slot gasket · L4 · rating 4</a:t>
            </a:r>
            <a:endParaRPr lang="en" sz="1200" dirty="0"/>
          </a:p>
          <a:p>
            <a:pPr>
              <a:spcAft>
                <a:spcPts val="0"/>
              </a:spcAft>
              <a:buNone/>
            </a:pPr>
            <a:r>
              <a:rPr lang="en" sz="1200" dirty="0">
                <a:solidFill>
                  <a:srgbClr val="1F2328"/>
                </a:solidFill>
              </a:rPr>
              <a:t>FND-A443D288: O-ring substitution - regular practice tolerated and modelled by supervisors · L3 · rating 4</a:t>
            </a:r>
            <a:endParaRPr lang="en" sz="1200" dirty="0"/>
          </a:p>
          <a:p>
            <a:pPr>
              <a:spcAft>
                <a:spcPts val="0"/>
              </a:spcAft>
              <a:buNone/>
            </a:pPr>
            <a:r>
              <a:rPr lang="en" sz="1200" dirty="0">
                <a:solidFill>
                  <a:srgbClr val="1F2328"/>
                </a:solidFill>
              </a:rPr>
              <a:t>FND-71EE9734: Post-maintenance testing shortcut - operating-pressure-only modelled as the norm · L3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EVD-1494: document</a:t>
            </a:r>
            <a:endParaRPr lang="en" sz="1200" dirty="0"/>
          </a:p>
          <a:p>
            <a:pPr>
              <a:spcAft>
                <a:spcPts val="0"/>
              </a:spcAft>
              <a:buNone/>
            </a:pPr>
            <a:r>
              <a:rPr lang="en" sz="1200" dirty="0">
                <a:solidFill>
                  <a:srgbClr val="1F2328"/>
                </a:solidFill>
              </a:rPr>
              <a:t>FND-1280E788: Breakdown-maintenance philosophy for electrical/flame-proof equipment in Zone 1 areas · L4 · rating 4</a:t>
            </a:r>
            <a:endParaRPr lang="en" sz="1200" dirty="0"/>
          </a:p>
          <a:p>
            <a:pPr>
              <a:spcAft>
                <a:spcPts val="0"/>
              </a:spcAft>
              <a:buNone/>
            </a:pPr>
            <a:r>
              <a:rPr lang="en" sz="1200" dirty="0">
                <a:solidFill>
                  <a:srgbClr val="1F2328"/>
                </a:solidFill>
              </a:rPr>
              <a:t>FND-856F80CE: 12 external-audit recommendations overdue without Director Offshore approval · L4 · rating 2</a:t>
            </a:r>
            <a:endParaRPr lang="en" sz="1200" dirty="0"/>
          </a:p>
          <a:p>
            <a:pPr>
              <a:spcAft>
                <a:spcPts val="0"/>
              </a:spcAft>
              <a:buNone/>
            </a:pPr>
            <a:r>
              <a:rPr lang="en" sz="1200" dirty="0">
                <a:solidFill>
                  <a:srgbClr val="1F2328"/>
                </a:solidFill>
              </a:rPr>
              <a:t>EVD-6916: physical_item</a:t>
            </a:r>
            <a:endParaRPr lang="en" sz="1200" dirty="0"/>
          </a:p>
          <a:p>
            <a:pPr>
              <a:spcAft>
                <a:spcPts val="0"/>
              </a:spcAft>
              <a:buNone/>
            </a:pPr>
            <a:r>
              <a:rPr lang="en" sz="1200" dirty="0">
                <a:solidFill>
                  <a:srgbClr val="1F2328"/>
                </a:solidFill>
              </a:rPr>
              <a:t>EVD-6852: document</a:t>
            </a:r>
            <a:endParaRPr lang="en" sz="1200" dirty="0"/>
          </a:p>
          <a:p>
            <a:pPr>
              <a:spcAft>
                <a:spcPts val="0"/>
              </a:spcAft>
              <a:buNone/>
            </a:pPr>
            <a:r>
              <a:rPr lang="en" sz="1200" dirty="0">
                <a:solidFill>
                  <a:srgbClr val="1F2328"/>
                </a:solidFill>
              </a:rPr>
              <a:t>FND-82761CC5: No delegated authority or criteria for emergency isolation in DMP and night-shift structure · L4 · rating 4</a:t>
            </a:r>
            <a:endParaRPr lang="en" sz="1200" dirty="0"/>
          </a:p>
          <a:p>
            <a:pPr>
              <a:spcAft>
                <a:spcPts val="0"/>
              </a:spcAft>
              <a:buNone/>
            </a:pPr>
            <a:r>
              <a:rPr lang="en" sz="1200" dirty="0">
                <a:solidFill>
                  <a:srgbClr val="1F2328"/>
                </a:solidFill>
              </a:rPr>
              <a:t>FND-A206DFD6: Serial management escalation and formal SIC-to-CIC hand-off design · L4 · rating 3</a:t>
            </a:r>
            <a:endParaRPr lang="en" sz="1200" dirty="0"/>
          </a:p>
          <a:p>
            <a:pPr>
              <a:spcAft>
                <a:spcPts val="0"/>
              </a:spcAft>
              <a:buNone/>
            </a:pPr>
            <a:r>
              <a:rPr lang="en" sz="1200" dirty="0">
                <a:solidFill>
                  <a:srgbClr val="1F2328"/>
                </a:solidFill>
              </a:rPr>
              <a:t>FND-4245FBF2: Night-shift senior leaders - delayed isolation at Gas Terminal Gate · L3 · rating 4</a:t>
            </a:r>
            <a:endParaRPr lang="en" sz="1200" dirty="0"/>
          </a:p>
          <a:p>
            <a:pPr>
              <a:spcAft>
                <a:spcPts val="0"/>
              </a:spcAft>
              <a:buNone/>
            </a:pPr>
            <a:r>
              <a:rPr lang="en" sz="1200" dirty="0">
                <a:solidFill>
                  <a:srgbClr val="1F2328"/>
                </a:solidFill>
              </a:rPr>
              <a:t>EVD-3932: document</a:t>
            </a:r>
            <a:endParaRPr lang="en" sz="1200" dirty="0"/>
          </a:p>
          <a:p>
            <a:pPr>
              <a:spcAft>
                <a:spcPts val="0"/>
              </a:spcAft>
              <a:buNone/>
            </a:pPr>
            <a:r>
              <a:rPr lang="en" sz="1200" dirty="0">
                <a:solidFill>
                  <a:srgbClr val="1F2328"/>
                </a:solidFill>
              </a:rPr>
              <a:t>EVD-6414: log_record</a:t>
            </a:r>
            <a:endParaRPr lang="en"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Time to isolation in drills</a:t>
            </a:r>
            <a:endParaRPr lang="en" sz="1200" dirty="0"/>
          </a:p>
          <a:p>
            <a:pPr>
              <a:spcAft>
                <a:spcPts val="0"/>
              </a:spcAft>
              <a:buNone/>
            </a:pPr>
            <a:r>
              <a:rPr lang="en" sz="1200" dirty="0">
                <a:solidFill>
                  <a:srgbClr val="1F2328"/>
                </a:solidFill>
              </a:rPr>
              <a:t>Indicator: Time to isolation in drills</a:t>
            </a:r>
            <a:endParaRPr lang="en" sz="1200" dirty="0"/>
          </a:p>
          <a:p>
            <a:pPr>
              <a:spcAft>
                <a:spcPts val="0"/>
              </a:spcAft>
              <a:buNone/>
            </a:pPr>
            <a:r>
              <a:rPr lang="en" sz="1200" dirty="0">
                <a:solidFill>
                  <a:srgbClr val="1F2328"/>
                </a:solidFill>
              </a:rPr>
              <a:t>Measure: Time from a confirmed release to first isolation in each emergency drill</a:t>
            </a:r>
            <a:endParaRPr lang="en" sz="1200" dirty="0"/>
          </a:p>
          <a:p>
            <a:pPr>
              <a:spcAft>
                <a:spcPts val="0"/>
              </a:spcAft>
              <a:buNone/>
            </a:pPr>
            <a:r>
              <a:rPr lang="en" sz="1200" dirty="0">
                <a:solidFill>
                  <a:srgbClr val="1F2328"/>
                </a:solidFill>
              </a:rPr>
              <a:t>Deterioration looks like: A drill in which isolation waits for a call above the shift in-charge</a:t>
            </a:r>
            <a:endParaRPr lang="en" sz="1200" dirty="0"/>
          </a:p>
          <a:p>
            <a:pPr>
              <a:spcAft>
                <a:spcPts val="0"/>
              </a:spcAft>
              <a:buNone/>
            </a:pPr>
            <a:r>
              <a:rPr lang="en" sz="1200" dirty="0">
                <a:solidFill>
                  <a:srgbClr val="1F2328"/>
                </a:solidFill>
              </a:rPr>
              <a:t>Owner: Operations function</a:t>
            </a:r>
            <a:endParaRPr lang="en" sz="1200" dirty="0"/>
          </a:p>
          <a:p>
            <a:pPr>
              <a:spcAft>
                <a:spcPts val="0"/>
              </a:spcAft>
              <a:buNone/>
            </a:pPr>
            <a:r>
              <a:rPr lang="en" sz="1200" dirty="0">
                <a:solidFill>
                  <a:srgbClr val="1F2328"/>
                </a:solidFill>
              </a:rPr>
              <a:t>Cites: FND-81E3EEA0; FND-500E0B2D; EVD-6414</a:t>
            </a:r>
            <a:endParaRPr lang="en" sz="1200" dirty="0"/>
          </a:p>
          <a:p>
            <a:pPr>
              <a:spcAft>
                <a:spcPts val="0"/>
              </a:spcAft>
              <a:buNone/>
            </a:pPr>
            <a:endParaRPr lang="en" sz="1200" dirty="0"/>
          </a:p>
          <a:p>
            <a:pPr>
              <a:spcAft>
                <a:spcPts val="0"/>
              </a:spcAft>
              <a:buNone/>
            </a:pPr>
            <a:r>
              <a:rPr lang="en" sz="1200" dirty="0">
                <a:solidFill>
                  <a:srgbClr val="1F2328"/>
                </a:solidFill>
              </a:rPr>
              <a:t>2. Remotely operable isolation</a:t>
            </a:r>
            <a:endParaRPr lang="en" sz="1200" dirty="0"/>
          </a:p>
          <a:p>
            <a:pPr>
              <a:spcAft>
                <a:spcPts val="0"/>
              </a:spcAft>
              <a:buNone/>
            </a:pPr>
            <a:r>
              <a:rPr lang="en" sz="1200" dirty="0">
                <a:solidFill>
                  <a:srgbClr val="1F2328"/>
                </a:solidFill>
              </a:rPr>
              <a:t>Indicator: Remotely operable isolation</a:t>
            </a:r>
            <a:endParaRPr lang="en" sz="1200" dirty="0"/>
          </a:p>
          <a:p>
            <a:pPr>
              <a:spcAft>
                <a:spcPts val="0"/>
              </a:spcAft>
              <a:buNone/>
            </a:pPr>
            <a:r>
              <a:rPr lang="en" sz="1200" dirty="0">
                <a:solidFill>
                  <a:srgbClr val="1F2328"/>
                </a:solidFill>
              </a:rPr>
              <a:t>Measure: Share of emergency isolation valves on large inventories that can be closed from the control room</a:t>
            </a:r>
            <a:endParaRPr lang="en" sz="1200" dirty="0"/>
          </a:p>
          <a:p>
            <a:pPr>
              <a:spcAft>
                <a:spcPts val="0"/>
              </a:spcAft>
              <a:buNone/>
            </a:pPr>
            <a:r>
              <a:rPr lang="en" sz="1200" dirty="0">
                <a:solidFill>
                  <a:srgbClr val="1F2328"/>
                </a:solidFill>
              </a:rPr>
              <a:t>Deterioration looks like: No change over two quarters once funding is decided</a:t>
            </a:r>
            <a:endParaRPr lang="en" sz="1200" dirty="0"/>
          </a:p>
          <a:p>
            <a:pPr>
              <a:spcAft>
                <a:spcPts val="0"/>
              </a:spcAft>
              <a:buNone/>
            </a:pPr>
            <a:r>
              <a:rPr lang="en" sz="1200" dirty="0">
                <a:solidFill>
                  <a:srgbClr val="1F2328"/>
                </a:solidFill>
              </a:rPr>
              <a:t>Owner: Engineering function</a:t>
            </a:r>
            <a:endParaRPr lang="en" sz="1200" dirty="0"/>
          </a:p>
          <a:p>
            <a:pPr>
              <a:spcAft>
                <a:spcPts val="0"/>
              </a:spcAft>
              <a:buNone/>
            </a:pPr>
            <a:r>
              <a:rPr lang="en" sz="1200" dirty="0">
                <a:solidFill>
                  <a:srgbClr val="1F2328"/>
                </a:solidFill>
              </a:rPr>
              <a:t>Cites: FND-9B406A83; FND-044D1DEC; EVD-3932</a:t>
            </a:r>
            <a:endParaRPr lang="en" sz="1200" dirty="0"/>
          </a:p>
          <a:p>
            <a:pPr>
              <a:spcAft>
                <a:spcPts val="0"/>
              </a:spcAft>
              <a:buNone/>
            </a:pPr>
            <a:endParaRPr lang="en" sz="1200" dirty="0"/>
          </a:p>
          <a:p>
            <a:pPr>
              <a:spcAft>
                <a:spcPts val="0"/>
              </a:spcAft>
              <a:buNone/>
            </a:pPr>
            <a:r>
              <a:rPr lang="en" sz="1200" dirty="0">
                <a:solidFill>
                  <a:srgbClr val="1F2328"/>
                </a:solidFill>
              </a:rPr>
              <a:t>3. Detection with executive action</a:t>
            </a:r>
            <a:endParaRPr lang="en" sz="1200" dirty="0"/>
          </a:p>
          <a:p>
            <a:pPr>
              <a:spcAft>
                <a:spcPts val="0"/>
              </a:spcAft>
              <a:buNone/>
            </a:pPr>
            <a:r>
              <a:rPr lang="en" sz="1200" dirty="0">
                <a:solidFill>
                  <a:srgbClr val="1F2328"/>
                </a:solidFill>
              </a:rPr>
              <a:t>Indicator: Detection with executive action</a:t>
            </a:r>
            <a:endParaRPr lang="en" sz="1200" dirty="0"/>
          </a:p>
          <a:p>
            <a:pPr>
              <a:spcAft>
                <a:spcPts val="0"/>
              </a:spcAft>
              <a:buNone/>
            </a:pPr>
            <a:r>
              <a:rPr lang="en" sz="1200" dirty="0">
                <a:solidFill>
                  <a:srgbClr val="1F2328"/>
                </a:solidFill>
              </a:rPr>
              <a:t>Measure: Share of major-release areas whose fire and gas detection triggers a defined executive action, proven in the last function test</a:t>
            </a:r>
            <a:endParaRPr lang="en" sz="1200" dirty="0"/>
          </a:p>
          <a:p>
            <a:pPr>
              <a:spcAft>
                <a:spcPts val="0"/>
              </a:spcAft>
              <a:buNone/>
            </a:pPr>
            <a:r>
              <a:rPr lang="en" sz="1200" dirty="0">
                <a:solidFill>
                  <a:srgbClr val="1F2328"/>
                </a:solidFill>
              </a:rPr>
              <a:t>Deterioration looks like: Any major-release area still display-only with no recorded decision</a:t>
            </a:r>
            <a:endParaRPr lang="en" sz="1200" dirty="0"/>
          </a:p>
          <a:p>
            <a:pPr>
              <a:spcAft>
                <a:spcPts val="0"/>
              </a:spcAft>
              <a:buNone/>
            </a:pPr>
            <a:r>
              <a:rPr lang="en" sz="1200" dirty="0">
                <a:solidFill>
                  <a:srgbClr val="1F2328"/>
                </a:solidFill>
              </a:rPr>
              <a:t>Owner: Engineering function</a:t>
            </a:r>
            <a:endParaRPr lang="en" sz="1200" dirty="0"/>
          </a:p>
          <a:p>
            <a:pPr>
              <a:spcAft>
                <a:spcPts val="0"/>
              </a:spcAft>
              <a:buNone/>
            </a:pPr>
            <a:r>
              <a:rPr lang="en" sz="1200" dirty="0">
                <a:solidFill>
                  <a:srgbClr val="1F2328"/>
                </a:solidFill>
              </a:rPr>
              <a:t>Cites: FND-15B4E60F; EVD-8657</a:t>
            </a:r>
            <a:endParaRPr lang="en" sz="1200" dirty="0"/>
          </a:p>
          <a:p>
            <a:pPr>
              <a:spcAft>
                <a:spcPts val="0"/>
              </a:spcAft>
              <a:buNone/>
            </a:pPr>
            <a:endParaRPr lang="en" sz="1200" dirty="0"/>
          </a:p>
          <a:p>
            <a:pPr>
              <a:spcAft>
                <a:spcPts val="0"/>
              </a:spcAft>
              <a:buNone/>
            </a:pPr>
            <a:r>
              <a:rPr lang="en" sz="1200" dirty="0">
                <a:solidFill>
                  <a:srgbClr val="1F2328"/>
                </a:solidFill>
              </a:rPr>
              <a:t>4. Parts issued against a specification</a:t>
            </a:r>
            <a:endParaRPr lang="en" sz="1200" dirty="0"/>
          </a:p>
          <a:p>
            <a:pPr>
              <a:spcAft>
                <a:spcPts val="0"/>
              </a:spcAft>
              <a:buNone/>
            </a:pPr>
            <a:r>
              <a:rPr lang="en" sz="1200" dirty="0">
                <a:solidFill>
                  <a:srgbClr val="1F2328"/>
                </a:solidFill>
              </a:rPr>
              <a:t>Indicator: Parts issued against a specification</a:t>
            </a:r>
            <a:endParaRPr lang="en" sz="1200" dirty="0"/>
          </a:p>
          <a:p>
            <a:pPr>
              <a:spcAft>
                <a:spcPts val="0"/>
              </a:spcAft>
              <a:buNone/>
            </a:pPr>
            <a:r>
              <a:rPr lang="en" sz="1200" dirty="0">
                <a:solidFill>
                  <a:srgbClr val="1F2328"/>
                </a:solidFill>
              </a:rPr>
              <a:t>Measure: Share of pressure-boundary seals issued from stores with a specification reference</a:t>
            </a:r>
            <a:endParaRPr lang="en" sz="1200" dirty="0"/>
          </a:p>
          <a:p>
            <a:pPr>
              <a:spcAft>
                <a:spcPts val="0"/>
              </a:spcAft>
              <a:buNone/>
            </a:pPr>
            <a:r>
              <a:rPr lang="en" sz="1200" dirty="0">
                <a:solidFill>
                  <a:srgbClr val="1F2328"/>
                </a:solidFill>
              </a:rPr>
              <a:t>Deterioration looks like: Any seal issued without one</a:t>
            </a:r>
            <a:endParaRPr lang="en" sz="1200" dirty="0"/>
          </a:p>
          <a:p>
            <a:pPr>
              <a:spcAft>
                <a:spcPts val="0"/>
              </a:spcAft>
              <a:buNone/>
            </a:pPr>
            <a:r>
              <a:rPr lang="en" sz="1200" dirty="0">
                <a:solidFill>
                  <a:srgbClr val="1F2328"/>
                </a:solidFill>
              </a:rPr>
              <a:t>Owner: Engineering function</a:t>
            </a:r>
            <a:endParaRPr lang="en" sz="1200" dirty="0"/>
          </a:p>
          <a:p>
            <a:pPr>
              <a:spcAft>
                <a:spcPts val="0"/>
              </a:spcAft>
              <a:buNone/>
            </a:pPr>
            <a:r>
              <a:rPr lang="en" sz="1200" dirty="0">
                <a:solidFill>
                  <a:srgbClr val="1F2328"/>
                </a:solidFill>
              </a:rPr>
              <a:t>Cites: FND-B440C1BF; EVD-8645</a:t>
            </a:r>
            <a:endParaRPr lang="en" sz="1200" dirty="0"/>
          </a:p>
          <a:p>
            <a:pPr>
              <a:spcAft>
                <a:spcPts val="0"/>
              </a:spcAft>
              <a:buNone/>
            </a:pPr>
            <a:endParaRPr lang="en" sz="1200" dirty="0"/>
          </a:p>
          <a:p>
            <a:pPr>
              <a:spcAft>
                <a:spcPts val="0"/>
              </a:spcAft>
              <a:buNone/>
            </a:pPr>
            <a:r>
              <a:rPr lang="en" sz="1200" dirty="0">
                <a:solidFill>
                  <a:srgbClr val="1F2328"/>
                </a:solidFill>
              </a:rPr>
              <a:t>5. Restarts with a test record</a:t>
            </a:r>
            <a:endParaRPr lang="en" sz="1200" dirty="0"/>
          </a:p>
          <a:p>
            <a:pPr>
              <a:spcAft>
                <a:spcPts val="0"/>
              </a:spcAft>
              <a:buNone/>
            </a:pPr>
            <a:r>
              <a:rPr lang="en" sz="1200" dirty="0">
                <a:solidFill>
                  <a:srgbClr val="1F2328"/>
                </a:solidFill>
              </a:rPr>
              <a:t>Indicator: Restarts with a test record</a:t>
            </a:r>
            <a:endParaRPr lang="en" sz="1200" dirty="0"/>
          </a:p>
          <a:p>
            <a:pPr>
              <a:spcAft>
                <a:spcPts val="0"/>
              </a:spcAft>
              <a:buNone/>
            </a:pPr>
            <a:r>
              <a:rPr lang="en" sz="1200" dirty="0">
                <a:solidFill>
                  <a:srgbClr val="1F2328"/>
                </a:solidFill>
              </a:rPr>
              <a:t>Measure: Share of pressure-boundary jobs returned to service with a signed test record</a:t>
            </a:r>
            <a:endParaRPr lang="en" sz="1200" dirty="0"/>
          </a:p>
          <a:p>
            <a:pPr>
              <a:spcAft>
                <a:spcPts val="0"/>
              </a:spcAft>
              <a:buNone/>
            </a:pPr>
            <a:r>
              <a:rPr lang="en" sz="1200" dirty="0">
                <a:solidFill>
                  <a:srgbClr val="1F2328"/>
                </a:solidFill>
              </a:rPr>
              <a:t>Deterioration looks like: Any restart without one</a:t>
            </a:r>
            <a:endParaRPr lang="en" sz="1200" dirty="0"/>
          </a:p>
          <a:p>
            <a:pPr>
              <a:spcAft>
                <a:spcPts val="0"/>
              </a:spcAft>
              <a:buNone/>
            </a:pPr>
            <a:r>
              <a:rPr lang="en" sz="1200" dirty="0">
                <a:solidFill>
                  <a:srgbClr val="1F2328"/>
                </a:solidFill>
              </a:rPr>
              <a:t>Owner: Operations function</a:t>
            </a:r>
            <a:endParaRPr lang="en" sz="1200" dirty="0"/>
          </a:p>
          <a:p>
            <a:pPr>
              <a:spcAft>
                <a:spcPts val="0"/>
              </a:spcAft>
              <a:buNone/>
            </a:pPr>
            <a:r>
              <a:rPr lang="en" sz="1200" dirty="0">
                <a:solidFill>
                  <a:srgbClr val="1F2328"/>
                </a:solidFill>
              </a:rPr>
              <a:t>Cites: FND-5919B328; EVD-2894</a:t>
            </a:r>
            <a:endParaRPr lang="en" sz="1200" dirty="0"/>
          </a:p>
          <a:p>
            <a:pPr>
              <a:spcAft>
                <a:spcPts val="0"/>
              </a:spcAft>
              <a:buNone/>
            </a:pPr>
            <a:endParaRPr lang="en" sz="1200" dirty="0"/>
          </a:p>
          <a:p>
            <a:pPr>
              <a:spcAft>
                <a:spcPts val="0"/>
              </a:spcAft>
              <a:buNone/>
            </a:pPr>
            <a:r>
              <a:rPr lang="en" sz="1200" dirty="0">
                <a:solidFill>
                  <a:srgbClr val="1F2328"/>
                </a:solidFill>
              </a:rPr>
              <a:t>6. Hazardous-area fittings inspected</a:t>
            </a:r>
            <a:endParaRPr lang="en" sz="1200" dirty="0"/>
          </a:p>
          <a:p>
            <a:pPr>
              <a:spcAft>
                <a:spcPts val="0"/>
              </a:spcAft>
              <a:buNone/>
            </a:pPr>
            <a:r>
              <a:rPr lang="en" sz="1200" dirty="0">
                <a:solidFill>
                  <a:srgbClr val="1F2328"/>
                </a:solidFill>
              </a:rPr>
              <a:t>Indicator: Hazardous-area fittings inspected</a:t>
            </a:r>
            <a:endParaRPr lang="en" sz="1200" dirty="0"/>
          </a:p>
          <a:p>
            <a:pPr>
              <a:spcAft>
                <a:spcPts val="0"/>
              </a:spcAft>
              <a:buNone/>
            </a:pPr>
            <a:r>
              <a:rPr lang="en" sz="1200" dirty="0">
                <a:solidFill>
                  <a:srgbClr val="1F2328"/>
                </a:solidFill>
              </a:rPr>
              <a:t>Measure: Share of zoned-area light fittings with a recorded inspection in the planned interval</a:t>
            </a:r>
            <a:endParaRPr lang="en" sz="1200" dirty="0"/>
          </a:p>
          <a:p>
            <a:pPr>
              <a:spcAft>
                <a:spcPts val="0"/>
              </a:spcAft>
              <a:buNone/>
            </a:pPr>
            <a:r>
              <a:rPr lang="en" sz="1200" dirty="0">
                <a:solidFill>
                  <a:srgbClr val="1F2328"/>
                </a:solidFill>
              </a:rPr>
              <a:t>Deterioration looks like: Any fitting found with missing fasteners or an open enclosure</a:t>
            </a:r>
            <a:endParaRPr lang="en" sz="1200" dirty="0"/>
          </a:p>
          <a:p>
            <a:pPr>
              <a:spcAft>
                <a:spcPts val="0"/>
              </a:spcAft>
              <a:buNone/>
            </a:pPr>
            <a:r>
              <a:rPr lang="en" sz="1200" dirty="0">
                <a:solidFill>
                  <a:srgbClr val="1F2328"/>
                </a:solidFill>
              </a:rPr>
              <a:t>Owner: Maintenance function</a:t>
            </a:r>
            <a:endParaRPr lang="en" sz="1200" dirty="0"/>
          </a:p>
          <a:p>
            <a:pPr>
              <a:spcAft>
                <a:spcPts val="0"/>
              </a:spcAft>
              <a:buNone/>
            </a:pPr>
            <a:r>
              <a:rPr lang="en" sz="1200" dirty="0">
                <a:solidFill>
                  <a:srgbClr val="1F2328"/>
                </a:solidFill>
              </a:rPr>
              <a:t>Cites: FND-1280E788; EVD-6916</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FND-81E3EEA0: DMP/ERDMP hydrocarbon-leakage guidance omits isolation/stoppage decision criteria · L2 · rating 4</a:t>
            </a:r>
            <a:endParaRPr lang="en" sz="1200" dirty="0"/>
          </a:p>
          <a:p>
            <a:pPr>
              <a:spcAft>
                <a:spcPts val="0"/>
              </a:spcAft>
              <a:buNone/>
            </a:pPr>
            <a:r>
              <a:rPr lang="en" sz="1200" dirty="0">
                <a:solidFill>
                  <a:srgbClr val="1F2328"/>
                </a:solidFill>
              </a:rPr>
              <a:t>FND-500E0B2D: On-site DMP emergency response planning for hydrocarbon leakage · L2 · rating 4</a:t>
            </a:r>
            <a:endParaRPr lang="en" sz="1200" dirty="0"/>
          </a:p>
          <a:p>
            <a:pPr>
              <a:spcAft>
                <a:spcPts val="0"/>
              </a:spcAft>
              <a:buNone/>
            </a:pPr>
            <a:r>
              <a:rPr lang="en" sz="1200" dirty="0">
                <a:solidFill>
                  <a:srgbClr val="1F2328"/>
                </a:solidFill>
              </a:rPr>
              <a:t>EVD-6414: log_record</a:t>
            </a:r>
            <a:endParaRPr lang="en" sz="1200" dirty="0"/>
          </a:p>
          <a:p>
            <a:pPr>
              <a:spcAft>
                <a:spcPts val="0"/>
              </a:spcAft>
              <a:buNone/>
            </a:pPr>
            <a:r>
              <a:rPr lang="en" sz="1200" dirty="0">
                <a:solidFill>
                  <a:srgbClr val="1F2328"/>
                </a:solidFill>
              </a:rPr>
              <a:t>FND-9B406A83: Condensate Vapour Cloud Obscuring Leak Source · L2 · rating 4</a:t>
            </a:r>
            <a:endParaRPr lang="en" sz="1200" dirty="0"/>
          </a:p>
          <a:p>
            <a:pPr>
              <a:spcAft>
                <a:spcPts val="0"/>
              </a:spcAft>
              <a:buNone/>
            </a:pPr>
            <a:r>
              <a:rPr lang="en" sz="1200" dirty="0">
                <a:solidFill>
                  <a:srgbClr val="1F2328"/>
                </a:solidFill>
              </a:rPr>
              <a:t>FND-044D1DEC: Emergency isolation valves MOV 54 and the Gas Terminal MOVs were local-manual only, with no remote control from the control room · L4 · rating 4</a:t>
            </a:r>
            <a:endParaRPr lang="en" sz="1200" dirty="0"/>
          </a:p>
          <a:p>
            <a:pPr>
              <a:spcAft>
                <a:spcPts val="0"/>
              </a:spcAft>
              <a:buNone/>
            </a:pPr>
            <a:r>
              <a:rPr lang="en" sz="1200" dirty="0">
                <a:solidFill>
                  <a:srgbClr val="1F2328"/>
                </a:solidFill>
              </a:rPr>
              <a:t>EVD-3932: document</a:t>
            </a:r>
            <a:endParaRPr lang="en" sz="1200" dirty="0"/>
          </a:p>
          <a:p>
            <a:pPr>
              <a:spcAft>
                <a:spcPts val="0"/>
              </a:spcAft>
              <a:buNone/>
            </a:pPr>
            <a:r>
              <a:rPr lang="en" sz="1200" dirty="0">
                <a:solidFill>
                  <a:srgbClr val="1F2328"/>
                </a:solidFill>
              </a:rPr>
              <a:t>FND-15B4E60F: Gas Terminal emergency operations workspace — display-only F&amp;G, manual MOVs, single CCTV, no isolation criteria · L3 · rating 4</a:t>
            </a:r>
            <a:endParaRPr lang="en" sz="1200" dirty="0"/>
          </a:p>
          <a:p>
            <a:pPr>
              <a:spcAft>
                <a:spcPts val="0"/>
              </a:spcAft>
              <a:buNone/>
            </a:pPr>
            <a:r>
              <a:rPr lang="en" sz="1200" dirty="0">
                <a:solidFill>
                  <a:srgbClr val="1F2328"/>
                </a:solidFill>
              </a:rPr>
              <a:t>EVD-8657: log_record</a:t>
            </a:r>
            <a:endParaRPr lang="en" sz="1200" dirty="0"/>
          </a:p>
          <a:p>
            <a:pPr>
              <a:spcAft>
                <a:spcPts val="0"/>
              </a:spcAft>
              <a:buNone/>
            </a:pPr>
            <a:r>
              <a:rPr lang="en" sz="1200" dirty="0">
                <a:solidFill>
                  <a:srgbClr val="1F2328"/>
                </a:solidFill>
              </a:rPr>
              <a:t>FND-B440C1BF: Unassessed program risk of O-ring substitution for OEM rectangular-slot gasket · L4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FND-5919B328: Authorised return-to-service without the mandatory hydrostatic test · L3 · rating 4</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FND-1280E788: Breakdown-maintenance philosophy for electrical/flame-proof equipment in Zone 1 areas · L4 · rating 4</a:t>
            </a:r>
            <a:endParaRPr lang="en" sz="1200" dirty="0"/>
          </a:p>
          <a:p>
            <a:pPr>
              <a:spcAft>
                <a:spcPts val="0"/>
              </a:spcAft>
              <a:buNone/>
            </a:pPr>
            <a:r>
              <a:rPr lang="en" sz="1200" dirty="0">
                <a:solidFill>
                  <a:srgbClr val="1F2328"/>
                </a:solidFill>
              </a:rPr>
              <a:t>EVD-6916: physical_item</a:t>
            </a:r>
            <a:endParaRPr lang="en"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7. Extensions with recorded approval</a:t>
            </a:r>
            <a:endParaRPr lang="en" sz="1200" dirty="0"/>
          </a:p>
          <a:p>
            <a:pPr>
              <a:spcAft>
                <a:spcPts val="0"/>
              </a:spcAft>
              <a:buNone/>
            </a:pPr>
            <a:r>
              <a:rPr lang="en" sz="1200" dirty="0">
                <a:solidFill>
                  <a:srgbClr val="1F2328"/>
                </a:solidFill>
              </a:rPr>
              <a:t>Indicator: Extensions with recorded approval</a:t>
            </a:r>
            <a:endParaRPr lang="en" sz="1200" dirty="0"/>
          </a:p>
          <a:p>
            <a:pPr>
              <a:spcAft>
                <a:spcPts val="0"/>
              </a:spcAft>
              <a:buNone/>
            </a:pPr>
            <a:r>
              <a:rPr lang="en" sz="1200" dirty="0">
                <a:solidFill>
                  <a:srgbClr val="1F2328"/>
                </a:solidFill>
              </a:rPr>
              <a:t>Measure: Share of extended safety recommendations with the approval on file</a:t>
            </a:r>
            <a:endParaRPr lang="en" sz="1200" dirty="0"/>
          </a:p>
          <a:p>
            <a:pPr>
              <a:spcAft>
                <a:spcPts val="0"/>
              </a:spcAft>
              <a:buNone/>
            </a:pPr>
            <a:r>
              <a:rPr lang="en" sz="1200" dirty="0">
                <a:solidFill>
                  <a:srgbClr val="1F2328"/>
                </a:solidFill>
              </a:rPr>
              <a:t>Deterioration looks like: Any extension without it</a:t>
            </a:r>
            <a:endParaRPr lang="en" sz="1200" dirty="0"/>
          </a:p>
          <a:p>
            <a:pPr>
              <a:spcAft>
                <a:spcPts val="0"/>
              </a:spcAft>
              <a:buNone/>
            </a:pPr>
            <a:r>
              <a:rPr lang="en" sz="1200" dirty="0">
                <a:solidFill>
                  <a:srgbClr val="1F2328"/>
                </a:solidFill>
              </a:rPr>
              <a:t>Owner: HSE and process safety function</a:t>
            </a:r>
            <a:endParaRPr lang="en" sz="1200" dirty="0"/>
          </a:p>
          <a:p>
            <a:pPr>
              <a:spcAft>
                <a:spcPts val="0"/>
              </a:spcAft>
              <a:buNone/>
            </a:pPr>
            <a:r>
              <a:rPr lang="en" sz="1200" dirty="0">
                <a:solidFill>
                  <a:srgbClr val="1F2328"/>
                </a:solidFill>
              </a:rPr>
              <a:t>Cites: FND-850B270C; EVD-6852</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FND-850B270C: External safety audit recommendations overdue without required approval for extensions · L3 · rating 2</a:t>
            </a:r>
            <a:endParaRPr lang="en" sz="1200" dirty="0"/>
          </a:p>
          <a:p>
            <a:pPr>
              <a:spcAft>
                <a:spcPts val="0"/>
              </a:spcAft>
              <a:buNone/>
            </a:pPr>
            <a:r>
              <a:rPr lang="en" sz="1200" dirty="0">
                <a:solidFill>
                  <a:srgbClr val="1F2328"/>
                </a:solidFill>
              </a:rPr>
              <a:t>EVD-6852: document</a:t>
            </a:r>
            <a:endParaRPr lang="en"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Walk the metering area and the zoned lighting with the maintenance and electrical supervisors; ask to see the specification for one pressure seal and the inspection record for…</a:t>
            </a:r>
            <a:endParaRPr lang="en" sz="1200" dirty="0"/>
          </a:p>
          <a:p>
            <a:pPr>
              <a:spcAft>
                <a:spcPts val="0"/>
              </a:spcAft>
              <a:buNone/>
            </a:pPr>
            <a:r>
              <a:rPr lang="en" sz="1200" dirty="0">
                <a:solidFill>
                  <a:srgbClr val="1F2328"/>
                </a:solidFill>
              </a:rPr>
              <a:t>Text: Walk the metering area and the zoned lighting with the maintenance and electrical supervisors; ask to see the specification for one pressure seal and the inspection record for one flameproof fitting.</a:t>
            </a:r>
            <a:endParaRPr lang="en" sz="1200" dirty="0"/>
          </a:p>
          <a:p>
            <a:pPr>
              <a:spcAft>
                <a:spcPts val="0"/>
              </a:spcAft>
              <a:buNone/>
            </a:pPr>
            <a:r>
              <a:rPr lang="en" sz="1200" dirty="0">
                <a:solidFill>
                  <a:srgbClr val="1F2328"/>
                </a:solidFill>
              </a:rPr>
              <a:t>When: next 30 days</a:t>
            </a:r>
            <a:endParaRPr lang="en" sz="1200" dirty="0"/>
          </a:p>
          <a:p>
            <a:pPr>
              <a:spcAft>
                <a:spcPts val="0"/>
              </a:spcAft>
              <a:buNone/>
            </a:pPr>
            <a:r>
              <a:rPr lang="en" sz="1200" dirty="0">
                <a:solidFill>
                  <a:srgbClr val="1F2328"/>
                </a:solidFill>
              </a:rPr>
              <a:t>Cites: FND-B440C1BF; FND-1280E788; EVD-8645; EVD-6916</a:t>
            </a:r>
            <a:endParaRPr lang="en" sz="1200" dirty="0"/>
          </a:p>
          <a:p>
            <a:pPr>
              <a:spcAft>
                <a:spcPts val="0"/>
              </a:spcAft>
              <a:buNone/>
            </a:pPr>
            <a:endParaRPr lang="en" sz="1200" dirty="0"/>
          </a:p>
          <a:p>
            <a:pPr>
              <a:spcAft>
                <a:spcPts val="0"/>
              </a:spcAft>
              <a:buNone/>
            </a:pPr>
            <a:r>
              <a:rPr lang="en" sz="1200" dirty="0">
                <a:solidFill>
                  <a:srgbClr val="1F2328"/>
                </a:solidFill>
              </a:rPr>
              <a:t>2. In every operations review, ask how many management-of-change records were raised this month and which field changes they cover.</a:t>
            </a:r>
            <a:endParaRPr lang="en" sz="1200" dirty="0"/>
          </a:p>
          <a:p>
            <a:pPr>
              <a:spcAft>
                <a:spcPts val="0"/>
              </a:spcAft>
              <a:buNone/>
            </a:pPr>
            <a:r>
              <a:rPr lang="en" sz="1200" dirty="0">
                <a:solidFill>
                  <a:srgbClr val="1F2328"/>
                </a:solidFill>
              </a:rPr>
              <a:t>Text: In every operations review, ask how many management-of-change records were raised this month and which field changes they cover.</a:t>
            </a:r>
            <a:endParaRPr lang="en" sz="1200" dirty="0"/>
          </a:p>
          <a:p>
            <a:pPr>
              <a:spcAft>
                <a:spcPts val="0"/>
              </a:spcAft>
              <a:buNone/>
            </a:pPr>
            <a:r>
              <a:rPr lang="en" sz="1200" dirty="0">
                <a:solidFill>
                  <a:srgbClr val="1F2328"/>
                </a:solidFill>
              </a:rPr>
              <a:t>When: next 30 days</a:t>
            </a:r>
            <a:endParaRPr lang="en" sz="1200" dirty="0"/>
          </a:p>
          <a:p>
            <a:pPr>
              <a:spcAft>
                <a:spcPts val="0"/>
              </a:spcAft>
              <a:buNone/>
            </a:pPr>
            <a:r>
              <a:rPr lang="en" sz="1200" dirty="0">
                <a:solidFill>
                  <a:srgbClr val="1F2328"/>
                </a:solidFill>
              </a:rPr>
              <a:t>Cites: FND-8083ECAC; EVD-2986</a:t>
            </a:r>
            <a:endParaRPr lang="en" sz="1200" dirty="0"/>
          </a:p>
          <a:p>
            <a:pPr>
              <a:spcAft>
                <a:spcPts val="0"/>
              </a:spcAft>
              <a:buNone/>
            </a:pPr>
            <a:endParaRPr lang="en" sz="1200" dirty="0"/>
          </a:p>
          <a:p>
            <a:pPr>
              <a:spcAft>
                <a:spcPts val="0"/>
              </a:spcAft>
              <a:buNone/>
            </a:pPr>
            <a:r>
              <a:rPr lang="en" sz="1200" dirty="0">
                <a:solidFill>
                  <a:srgbClr val="1F2328"/>
                </a:solidFill>
              </a:rPr>
              <a:t>3. Stop accepting a return to service after pressure-boundary work without a signed test record.</a:t>
            </a:r>
            <a:endParaRPr lang="en" sz="1200" dirty="0"/>
          </a:p>
          <a:p>
            <a:pPr>
              <a:spcAft>
                <a:spcPts val="0"/>
              </a:spcAft>
              <a:buNone/>
            </a:pPr>
            <a:r>
              <a:rPr lang="en" sz="1200" dirty="0">
                <a:solidFill>
                  <a:srgbClr val="1F2328"/>
                </a:solidFill>
              </a:rPr>
              <a:t>Text: Stop accepting a return to service after pressure-boundary work without a signed test record.</a:t>
            </a:r>
            <a:endParaRPr lang="en" sz="1200" dirty="0"/>
          </a:p>
          <a:p>
            <a:pPr>
              <a:spcAft>
                <a:spcPts val="0"/>
              </a:spcAft>
              <a:buNone/>
            </a:pPr>
            <a:r>
              <a:rPr lang="en" sz="1200" dirty="0">
                <a:solidFill>
                  <a:srgbClr val="1F2328"/>
                </a:solidFill>
              </a:rPr>
              <a:t>When: next 30 days</a:t>
            </a:r>
            <a:endParaRPr lang="en" sz="1200" dirty="0"/>
          </a:p>
          <a:p>
            <a:pPr>
              <a:spcAft>
                <a:spcPts val="0"/>
              </a:spcAft>
              <a:buNone/>
            </a:pPr>
            <a:r>
              <a:rPr lang="en" sz="1200" dirty="0">
                <a:solidFill>
                  <a:srgbClr val="1F2328"/>
                </a:solidFill>
              </a:rPr>
              <a:t>Cites: FND-5919B328; EVD-2894</a:t>
            </a:r>
            <a:endParaRPr lang="en" sz="1200" dirty="0"/>
          </a:p>
          <a:p>
            <a:pPr>
              <a:spcAft>
                <a:spcPts val="0"/>
              </a:spcAft>
              <a:buNone/>
            </a:pPr>
            <a:endParaRPr lang="en" sz="1200" dirty="0"/>
          </a:p>
          <a:p>
            <a:pPr>
              <a:spcAft>
                <a:spcPts val="0"/>
              </a:spcAft>
              <a:buNone/>
            </a:pPr>
            <a:r>
              <a:rPr lang="en" sz="1200" dirty="0">
                <a:solidFill>
                  <a:srgbClr val="1F2328"/>
                </a:solidFill>
              </a:rPr>
              <a:t>4. Stop accepting an extended safety recommendation without the approval the procedure requires.</a:t>
            </a:r>
            <a:endParaRPr lang="en" sz="1200" dirty="0"/>
          </a:p>
          <a:p>
            <a:pPr>
              <a:spcAft>
                <a:spcPts val="0"/>
              </a:spcAft>
              <a:buNone/>
            </a:pPr>
            <a:r>
              <a:rPr lang="en" sz="1200" dirty="0">
                <a:solidFill>
                  <a:srgbClr val="1F2328"/>
                </a:solidFill>
              </a:rPr>
              <a:t>Text: Stop accepting an extended safety recommendation without the approval the procedure requires.</a:t>
            </a:r>
            <a:endParaRPr lang="en" sz="1200" dirty="0"/>
          </a:p>
          <a:p>
            <a:pPr>
              <a:spcAft>
                <a:spcPts val="0"/>
              </a:spcAft>
              <a:buNone/>
            </a:pPr>
            <a:r>
              <a:rPr lang="en" sz="1200" dirty="0">
                <a:solidFill>
                  <a:srgbClr val="1F2328"/>
                </a:solidFill>
              </a:rPr>
              <a:t>When: next 30 days</a:t>
            </a:r>
            <a:endParaRPr lang="en" sz="1200" dirty="0"/>
          </a:p>
          <a:p>
            <a:pPr>
              <a:spcAft>
                <a:spcPts val="0"/>
              </a:spcAft>
              <a:buNone/>
            </a:pPr>
            <a:r>
              <a:rPr lang="en" sz="1200" dirty="0">
                <a:solidFill>
                  <a:srgbClr val="1F2328"/>
                </a:solidFill>
              </a:rPr>
              <a:t>Cites: FND-850B270C; EVD-6852</a:t>
            </a:r>
            <a:endParaRPr lang="en" sz="1200" dirty="0"/>
          </a:p>
          <a:p>
            <a:pPr>
              <a:spcAft>
                <a:spcPts val="0"/>
              </a:spcAft>
              <a:buNone/>
            </a:pPr>
            <a:endParaRPr lang="en" sz="1200" dirty="0"/>
          </a:p>
          <a:p>
            <a:pPr>
              <a:spcAft>
                <a:spcPts val="0"/>
              </a:spcAft>
              <a:buNone/>
            </a:pPr>
            <a:r>
              <a:rPr lang="en" sz="1200" dirty="0">
                <a:solidFill>
                  <a:srgbClr val="1F2328"/>
                </a:solidFill>
              </a:rPr>
              <a:t>5. Tell each shift, in person, that an isolation made in good faith on the plan's criteria will be backed, and attend the next emergency drill.</a:t>
            </a:r>
            <a:endParaRPr lang="en" sz="1200" dirty="0"/>
          </a:p>
          <a:p>
            <a:pPr>
              <a:spcAft>
                <a:spcPts val="0"/>
              </a:spcAft>
              <a:buNone/>
            </a:pPr>
            <a:r>
              <a:rPr lang="en" sz="1200" dirty="0">
                <a:solidFill>
                  <a:srgbClr val="1F2328"/>
                </a:solidFill>
              </a:rPr>
              <a:t>Text: Tell each shift, in person, that an isolation made in good faith on the plan's criteria will be backed, and attend the next emergency drill.</a:t>
            </a:r>
            <a:endParaRPr lang="en" sz="1200" dirty="0"/>
          </a:p>
          <a:p>
            <a:pPr>
              <a:spcAft>
                <a:spcPts val="0"/>
              </a:spcAft>
              <a:buNone/>
            </a:pPr>
            <a:r>
              <a:rPr lang="en" sz="1200" dirty="0">
                <a:solidFill>
                  <a:srgbClr val="1F2328"/>
                </a:solidFill>
              </a:rPr>
              <a:t>When: next 30 days</a:t>
            </a:r>
            <a:endParaRPr lang="en" sz="1200" dirty="0"/>
          </a:p>
          <a:p>
            <a:pPr>
              <a:spcAft>
                <a:spcPts val="0"/>
              </a:spcAft>
              <a:buNone/>
            </a:pPr>
            <a:r>
              <a:rPr lang="en" sz="1200" dirty="0">
                <a:solidFill>
                  <a:srgbClr val="1F2328"/>
                </a:solidFill>
              </a:rPr>
              <a:t>Cites: FND-82761CC5; FND-314D34C5; EVD-4052</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FND-B440C1BF: Unassessed program risk of O-ring substitution for OEM rectangular-slot gasket · L4 · rating 4</a:t>
            </a:r>
            <a:endParaRPr lang="en" sz="1200" dirty="0"/>
          </a:p>
          <a:p>
            <a:pPr>
              <a:spcAft>
                <a:spcPts val="0"/>
              </a:spcAft>
              <a:buNone/>
            </a:pPr>
            <a:r>
              <a:rPr lang="en" sz="1200" dirty="0">
                <a:solidFill>
                  <a:srgbClr val="1F2328"/>
                </a:solidFill>
              </a:rPr>
              <a:t>FND-1280E788: Breakdown-maintenance philosophy for electrical/flame-proof equipment in Zone 1 areas · L4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EVD-6916: physical_item</a:t>
            </a:r>
            <a:endParaRPr lang="en" sz="1200" dirty="0"/>
          </a:p>
          <a:p>
            <a:pPr>
              <a:spcAft>
                <a:spcPts val="0"/>
              </a:spcAft>
              <a:buNone/>
            </a:pPr>
            <a:r>
              <a:rPr lang="en" sz="1200" dirty="0">
                <a:solidFill>
                  <a:srgbClr val="1F2328"/>
                </a:solidFill>
              </a:rPr>
              <a:t>FND-8083ECAC: MOC formal risk assessment not applied to the OEM-to-O-ring gasket substitution · L3 · rating 4</a:t>
            </a:r>
            <a:endParaRPr lang="en" sz="1200" dirty="0"/>
          </a:p>
          <a:p>
            <a:pPr>
              <a:spcAft>
                <a:spcPts val="0"/>
              </a:spcAft>
              <a:buNone/>
            </a:pPr>
            <a:r>
              <a:rPr lang="en" sz="1200" dirty="0">
                <a:solidFill>
                  <a:srgbClr val="1F2328"/>
                </a:solidFill>
              </a:rPr>
              <a:t>EVD-2986: document</a:t>
            </a:r>
            <a:endParaRPr lang="en" sz="1200" dirty="0"/>
          </a:p>
          <a:p>
            <a:pPr>
              <a:spcAft>
                <a:spcPts val="0"/>
              </a:spcAft>
              <a:buNone/>
            </a:pPr>
            <a:r>
              <a:rPr lang="en" sz="1200" dirty="0">
                <a:solidFill>
                  <a:srgbClr val="1F2328"/>
                </a:solidFill>
              </a:rPr>
              <a:t>FND-5919B328: Authorised return-to-service without the mandatory hydrostatic test · L3 · rating 4</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FND-850B270C: External safety audit recommendations overdue without required approval for extensions · L3 · rating 2</a:t>
            </a:r>
            <a:endParaRPr lang="en" sz="1200" dirty="0"/>
          </a:p>
          <a:p>
            <a:pPr>
              <a:spcAft>
                <a:spcPts val="0"/>
              </a:spcAft>
              <a:buNone/>
            </a:pPr>
            <a:r>
              <a:rPr lang="en" sz="1200" dirty="0">
                <a:solidFill>
                  <a:srgbClr val="1F2328"/>
                </a:solidFill>
              </a:rPr>
              <a:t>EVD-6852: document</a:t>
            </a:r>
            <a:endParaRPr lang="en" sz="1200" dirty="0"/>
          </a:p>
          <a:p>
            <a:pPr>
              <a:spcAft>
                <a:spcPts val="0"/>
              </a:spcAft>
              <a:buNone/>
            </a:pPr>
            <a:r>
              <a:rPr lang="en" sz="1200" dirty="0">
                <a:solidFill>
                  <a:srgbClr val="1F2328"/>
                </a:solidFill>
              </a:rPr>
              <a:t>FND-82761CC5: No delegated authority or criteria for emergency isolation in DMP and night-shift structure · L4 · rating 4</a:t>
            </a:r>
            <a:endParaRPr lang="en" sz="1200" dirty="0"/>
          </a:p>
          <a:p>
            <a:pPr>
              <a:spcAft>
                <a:spcPts val="0"/>
              </a:spcAft>
              <a:buNone/>
            </a:pPr>
            <a:r>
              <a:rPr lang="en" sz="1200" dirty="0">
                <a:solidFill>
                  <a:srgbClr val="1F2328"/>
                </a:solidFill>
              </a:rPr>
              <a:t>FND-314D34C5: Control Room Operators - DMP Isolation Decision Criteria · L1 · rating 4</a:t>
            </a:r>
            <a:endParaRPr lang="en" sz="1200" dirty="0"/>
          </a:p>
          <a:p>
            <a:pPr>
              <a:spcAft>
                <a:spcPts val="0"/>
              </a:spcAft>
              <a:buNone/>
            </a:pPr>
            <a:r>
              <a:rPr lang="en" sz="1200" dirty="0">
                <a:solidFill>
                  <a:srgbClr val="1F2328"/>
                </a:solidFill>
              </a:rPr>
              <a:t>EVD-4052: document</a:t>
            </a:r>
            <a:endParaRPr lang="en"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Table: Time, Activity, Built on</a:t>
            </a:r>
            <a:endParaRPr lang="en" sz="1200" dirty="0"/>
          </a:p>
          <a:p>
            <a:pPr>
              <a:spcAft>
                <a:spcPts val="0"/>
              </a:spcAft>
              <a:buNone/>
            </a:pPr>
            <a:r>
              <a:rPr lang="en" sz="1200" dirty="0">
                <a:solidFill>
                  <a:srgbClr val="1F2328"/>
                </a:solidFill>
              </a:rPr>
              <a:t>Columns:</a:t>
            </a:r>
            <a:endParaRPr lang="en" sz="1200" dirty="0"/>
          </a:p>
          <a:p>
            <a:pPr>
              <a:spcAft>
                <a:spcPts val="0"/>
              </a:spcAft>
              <a:buNone/>
            </a:pPr>
            <a:r>
              <a:rPr lang="en" sz="1200" dirty="0">
                <a:solidFill>
                  <a:srgbClr val="1F2328"/>
                </a:solidFill>
              </a:rPr>
              <a:t>- Time</a:t>
            </a:r>
            <a:endParaRPr lang="en" sz="1200" dirty="0"/>
          </a:p>
          <a:p>
            <a:pPr>
              <a:spcAft>
                <a:spcPts val="0"/>
              </a:spcAft>
              <a:buNone/>
            </a:pPr>
            <a:r>
              <a:rPr lang="en" sz="1200" dirty="0">
                <a:solidFill>
                  <a:srgbClr val="1F2328"/>
                </a:solidFill>
              </a:rPr>
              <a:t>- Activity</a:t>
            </a:r>
            <a:endParaRPr lang="en" sz="1200" dirty="0"/>
          </a:p>
          <a:p>
            <a:pPr>
              <a:spcAft>
                <a:spcPts val="0"/>
              </a:spcAft>
              <a:buNone/>
            </a:pPr>
            <a:r>
              <a:rPr lang="en" sz="1200" dirty="0">
                <a:solidFill>
                  <a:srgbClr val="1F2328"/>
                </a:solidFill>
              </a:rPr>
              <a:t>- Built on</a:t>
            </a:r>
            <a:endParaRPr lang="en" sz="1200" dirty="0"/>
          </a:p>
          <a:p>
            <a:pPr>
              <a:spcAft>
                <a:spcPts val="0"/>
              </a:spcAft>
              <a:buNone/>
            </a:pPr>
            <a:r>
              <a:rPr lang="en" sz="1200" dirty="0">
                <a:solidFill>
                  <a:srgbClr val="1F2328"/>
                </a:solidFill>
              </a:rPr>
              <a:t>Rows:</a:t>
            </a:r>
            <a:endParaRPr lang="en" sz="1200" dirty="0"/>
          </a:p>
          <a:p>
            <a:pPr>
              <a:spcAft>
                <a:spcPts val="0"/>
              </a:spcAft>
              <a:buNone/>
            </a:pPr>
            <a:r>
              <a:rPr lang="en" sz="1200" dirty="0">
                <a:solidFill>
                  <a:srgbClr val="1F2328"/>
                </a:solidFill>
              </a:rPr>
              <a:t>- 0:00-0:15 | Purpose and ground rules: learning, not blame; roles, not names | Status line and culture signals</a:t>
            </a:r>
            <a:endParaRPr lang="en" sz="1200" dirty="0"/>
          </a:p>
          <a:p>
            <a:pPr>
              <a:spcAft>
                <a:spcPts val="0"/>
              </a:spcAft>
              <a:buNone/>
            </a:pPr>
            <a:r>
              <a:rPr lang="en" sz="1200" dirty="0">
                <a:solidFill>
                  <a:srgbClr val="1F2328"/>
                </a:solidFill>
              </a:rPr>
              <a:t>- 0:15-0:40 | Walk the causal map: which hubs sit with this team | How the site set this up</a:t>
            </a:r>
            <a:endParaRPr lang="en" sz="1200" dirty="0"/>
          </a:p>
          <a:p>
            <a:pPr>
              <a:spcAft>
                <a:spcPts val="0"/>
              </a:spcAft>
              <a:buNone/>
            </a:pPr>
            <a:r>
              <a:rPr lang="en" sz="1200" dirty="0">
                <a:solidFill>
                  <a:srgbClr val="1F2328"/>
                </a:solidFill>
              </a:rPr>
              <a:t>- 0:40-1:05 | What had become normal, and what the team tolerated without seeing it | Culture signals</a:t>
            </a:r>
            <a:endParaRPr lang="en" sz="1200" dirty="0"/>
          </a:p>
          <a:p>
            <a:pPr>
              <a:spcAft>
                <a:spcPts val="0"/>
              </a:spcAft>
              <a:buNone/>
            </a:pPr>
            <a:r>
              <a:rPr lang="en" sz="1200" dirty="0">
                <a:solidFill>
                  <a:srgbClr val="1F2328"/>
                </a:solidFill>
              </a:rPr>
              <a:t>- 1:05-1:45 | Take the decisions: options, trade-offs and the owning function; mark what needs corporate decision | Decisions for the leadership team</a:t>
            </a:r>
            <a:endParaRPr lang="en" sz="1200" dirty="0"/>
          </a:p>
          <a:p>
            <a:pPr>
              <a:spcAft>
                <a:spcPts val="0"/>
              </a:spcAft>
              <a:buNone/>
            </a:pPr>
            <a:r>
              <a:rPr lang="en" sz="1200" dirty="0">
                <a:solidFill>
                  <a:srgbClr val="1F2328"/>
                </a:solidFill>
              </a:rPr>
              <a:t>- 1:45-2:00 | Agree the visible actions for the next 30 days and the indicators to review | Decisions and visible actions</a:t>
            </a:r>
            <a:endParaRPr lang="en" sz="1200" dirty="0"/>
          </a:p>
          <a:p>
            <a:pPr>
              <a:spcAft>
                <a:spcPts val="0"/>
              </a:spcAft>
              <a:buNone/>
            </a:pPr>
            <a:r>
              <a:rPr lang="en" sz="1200" dirty="0">
                <a:solidFill>
                  <a:srgbClr val="1F2328"/>
                </a:solidFill>
              </a:rPr>
              <a:t>Cites: FND-B440C1BF; FND-1A251687; FND-6155A1C2; FND-A443D288; FND-1280E788; FND-82761CC5; FND-044D1DEC; FND-5919B328; FND-850B270C</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FND-B440C1BF: Unassessed program risk of O-ring substitution for OEM rectangular-slot gasket · L4 · rating 4</a:t>
            </a:r>
            <a:endParaRPr lang="en" sz="1200" dirty="0"/>
          </a:p>
          <a:p>
            <a:pPr>
              <a:spcAft>
                <a:spcPts val="0"/>
              </a:spcAft>
              <a:buNone/>
            </a:pPr>
            <a:r>
              <a:rPr lang="en" sz="1200" dirty="0">
                <a:solidFill>
                  <a:srgbClr val="1F2328"/>
                </a:solidFill>
              </a:rPr>
              <a:t>FND-1A251687: Chronic gasket failure on 310FT01 left to routine resealing — no OEM spares, root-cause or replacement programme · L4 · rating 4</a:t>
            </a:r>
            <a:endParaRPr lang="en" sz="1200" dirty="0"/>
          </a:p>
          <a:p>
            <a:pPr>
              <a:spcAft>
                <a:spcPts val="0"/>
              </a:spcAft>
              <a:buNone/>
            </a:pPr>
            <a:r>
              <a:rPr lang="en" sz="1200" dirty="0">
                <a:solidFill>
                  <a:srgbClr val="1F2328"/>
                </a:solidFill>
              </a:rPr>
              <a:t>FND-6155A1C2: F&amp;G detection system had no auto-shutdown or fire-suppression interlock · L4 · rating 4</a:t>
            </a:r>
            <a:endParaRPr lang="en" sz="1200" dirty="0"/>
          </a:p>
          <a:p>
            <a:pPr>
              <a:spcAft>
                <a:spcPts val="0"/>
              </a:spcAft>
              <a:buNone/>
            </a:pPr>
            <a:r>
              <a:rPr lang="en" sz="1200" dirty="0">
                <a:solidFill>
                  <a:srgbClr val="1F2328"/>
                </a:solidFill>
              </a:rPr>
              <a:t>FND-A443D288: O-ring substitution - regular practice tolerated and modelled by supervisors · L3 · rating 4</a:t>
            </a:r>
            <a:endParaRPr lang="en" sz="1200" dirty="0"/>
          </a:p>
          <a:p>
            <a:pPr>
              <a:spcAft>
                <a:spcPts val="0"/>
              </a:spcAft>
              <a:buNone/>
            </a:pPr>
            <a:r>
              <a:rPr lang="en" sz="1200" dirty="0">
                <a:solidFill>
                  <a:srgbClr val="1F2328"/>
                </a:solidFill>
              </a:rPr>
              <a:t>FND-1280E788: Breakdown-maintenance philosophy for electrical/flame-proof equipment in Zone 1 areas · L4 · rating 4</a:t>
            </a:r>
            <a:endParaRPr lang="en" sz="1200" dirty="0"/>
          </a:p>
          <a:p>
            <a:pPr>
              <a:spcAft>
                <a:spcPts val="0"/>
              </a:spcAft>
              <a:buNone/>
            </a:pPr>
            <a:r>
              <a:rPr lang="en" sz="1200" dirty="0">
                <a:solidFill>
                  <a:srgbClr val="1F2328"/>
                </a:solidFill>
              </a:rPr>
              <a:t>FND-82761CC5: No delegated authority or criteria for emergency isolation in DMP and night-shift structure · L4 · rating 4</a:t>
            </a:r>
            <a:endParaRPr lang="en" sz="1200" dirty="0"/>
          </a:p>
          <a:p>
            <a:pPr>
              <a:spcAft>
                <a:spcPts val="0"/>
              </a:spcAft>
              <a:buNone/>
            </a:pPr>
            <a:r>
              <a:rPr lang="en" sz="1200" dirty="0">
                <a:solidFill>
                  <a:srgbClr val="1F2328"/>
                </a:solidFill>
              </a:rPr>
              <a:t>FND-044D1DEC: Emergency isolation valves MOV 54 and the Gas Terminal MOVs were local-manual only, with no remote control from the control room · L4 · rating 4</a:t>
            </a:r>
            <a:endParaRPr lang="en" sz="1200" dirty="0"/>
          </a:p>
          <a:p>
            <a:pPr>
              <a:spcAft>
                <a:spcPts val="0"/>
              </a:spcAft>
              <a:buNone/>
            </a:pPr>
            <a:r>
              <a:rPr lang="en" sz="1200" dirty="0">
                <a:solidFill>
                  <a:srgbClr val="1F2328"/>
                </a:solidFill>
              </a:rPr>
              <a:t>FND-5919B328: Authorised return-to-service without the mandatory hydrostatic test · L3 · rating 4</a:t>
            </a:r>
            <a:endParaRPr lang="en" sz="1200" dirty="0"/>
          </a:p>
          <a:p>
            <a:pPr>
              <a:spcAft>
                <a:spcPts val="0"/>
              </a:spcAft>
              <a:buNone/>
            </a:pPr>
            <a:r>
              <a:rPr lang="en" sz="1200" dirty="0">
                <a:solidFill>
                  <a:srgbClr val="1F2328"/>
                </a:solidFill>
              </a:rPr>
              <a:t>FND-850B270C: External safety audit recommendations overdue without required approval for extensions · L3 · rating 2</a:t>
            </a:r>
            <a:endParaRPr lang="en"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Nodes: L4 OIR 1.6 Failure in Maintenance/ Spares/ Support Programme; L3 SVF 3.4 Failed to Mitigate/ Ineffective Action against Identified Risk; L3 SVV 4.1 Failure to Enforce Existing Rules (Supervisory act of Omission); L3 SVI 1.1 Leadership/Supervisory Oversight Inadequate; L1 ASBE 1.2 Checklist Not Followed/Not Followed Correctly; L3 SVI 1.4 Failed to Provide Appropriate Policy/ Guidance; L2 PTE 2.7 Technical Guidance is Unclear/Unavailable or Incorrect; L4 OIC 2.1 Organizational Culture Allows for Unsafe Task/Mission; L1 AV 1.1 Violation - Routine/Widespread; L4 OIC 2.7 Inconsistent Risk Management Practices; L1 AJDE 2.11 Misapplied or unaware of existing Policy/Procedure; L3 SVI 1.6 Lack of Supervisory Response to Critical Information; L3 SVV 4.5 No Action/ Mitigation Measures for Identified Risk; L4 OIR 1.1 Command and Control Resources are Deficient; L2 PTE 2.11 Equipment Not configured Correctly; L2 PTE 2.6 System Automation or System Redundancy; L4 OIR 1.5 Failure in Timely Acquisition/ Procurement/ Upgrade</a:t>
            </a:r>
            <a:endParaRPr lang="en" sz="1200" dirty="0"/>
          </a:p>
          <a:p>
            <a:pPr>
              <a:spcAft>
                <a:spcPts val="0"/>
              </a:spcAft>
              <a:buNone/>
            </a:pPr>
            <a:r>
              <a:rPr lang="en" sz="1200" dirty="0">
                <a:solidFill>
                  <a:srgbClr val="1F2328"/>
                </a:solidFill>
              </a:rPr>
              <a:t>- L4 OIR 1.6 Failure in Maintenance/ Spares/ Support Programme → L3 SVF 3.4 Failed to Mitigate/ Ineffective Action against Identified Risk (7 mentions)</a:t>
            </a:r>
            <a:endParaRPr lang="en" sz="1200" dirty="0"/>
          </a:p>
          <a:p>
            <a:pPr>
              <a:spcAft>
                <a:spcPts val="0"/>
              </a:spcAft>
              <a:buNone/>
            </a:pPr>
            <a:r>
              <a:rPr lang="en" sz="1200" dirty="0">
                <a:solidFill>
                  <a:srgbClr val="1F2328"/>
                </a:solidFill>
              </a:rPr>
              <a:t>- L4 OIR 1.6 Failure in Maintenance/ Spares/ Support Programme → L3 SVV 4.1 Failure to Enforce Existing Rules (Supervisory act of Omission) (6 mentions)</a:t>
            </a:r>
            <a:endParaRPr lang="en" sz="1200" dirty="0"/>
          </a:p>
          <a:p>
            <a:pPr>
              <a:spcAft>
                <a:spcPts val="0"/>
              </a:spcAft>
              <a:buNone/>
            </a:pPr>
            <a:r>
              <a:rPr lang="en" sz="1200" dirty="0">
                <a:solidFill>
                  <a:srgbClr val="1F2328"/>
                </a:solidFill>
              </a:rPr>
              <a:t>- L3 SVI 1.1 Leadership/Supervisory Oversight Inadequate → L1 ASBE 1.2 Checklist Not Followed/Not Followed Correctly (6 mentions)</a:t>
            </a:r>
            <a:endParaRPr lang="en" sz="1200" dirty="0"/>
          </a:p>
          <a:p>
            <a:pPr>
              <a:spcAft>
                <a:spcPts val="0"/>
              </a:spcAft>
              <a:buNone/>
            </a:pPr>
            <a:r>
              <a:rPr lang="en" sz="1200" dirty="0">
                <a:solidFill>
                  <a:srgbClr val="1F2328"/>
                </a:solidFill>
              </a:rPr>
              <a:t>- L3 SVI 1.4 Failed to Provide Appropriate Policy/ Guidance → L1 ASBE 1.2 Checklist Not Followed/Not Followed Correctly (6 mentions)</a:t>
            </a:r>
            <a:endParaRPr lang="en" sz="1200" dirty="0"/>
          </a:p>
          <a:p>
            <a:pPr>
              <a:spcAft>
                <a:spcPts val="0"/>
              </a:spcAft>
              <a:buNone/>
            </a:pPr>
            <a:r>
              <a:rPr lang="en" sz="1200" dirty="0">
                <a:solidFill>
                  <a:srgbClr val="1F2328"/>
                </a:solidFill>
              </a:rPr>
              <a:t>- L3 SVI 1.4 Failed to Provide Appropriate Policy/ Guidance → L2 PTE 2.7 Technical Guidance is Unclear/Unavailable or Incorrect (6 mentions)</a:t>
            </a:r>
            <a:endParaRPr lang="en" sz="1200" dirty="0"/>
          </a:p>
          <a:p>
            <a:pPr>
              <a:spcAft>
                <a:spcPts val="0"/>
              </a:spcAft>
              <a:buNone/>
            </a:pPr>
            <a:r>
              <a:rPr lang="en" sz="1200" dirty="0">
                <a:solidFill>
                  <a:srgbClr val="1F2328"/>
                </a:solidFill>
              </a:rPr>
              <a:t>- L4 OIC 2.1 Organizational Culture Allows for Unsafe Task/Mission → L1 AV 1.1 Violation - Routine/Widespread (5 mentions)</a:t>
            </a:r>
            <a:endParaRPr lang="en" sz="1200" dirty="0"/>
          </a:p>
          <a:p>
            <a:pPr>
              <a:spcAft>
                <a:spcPts val="0"/>
              </a:spcAft>
              <a:buNone/>
            </a:pPr>
            <a:r>
              <a:rPr lang="en" sz="1200" dirty="0">
                <a:solidFill>
                  <a:srgbClr val="1F2328"/>
                </a:solidFill>
              </a:rPr>
              <a:t>- L4 OIC 2.7 Inconsistent Risk Management Practices → L1 AJDE 2.11 Misapplied or unaware of existing Policy/Procedure (5 mentions)</a:t>
            </a:r>
            <a:endParaRPr lang="en" sz="1200" dirty="0"/>
          </a:p>
          <a:p>
            <a:pPr>
              <a:spcAft>
                <a:spcPts val="0"/>
              </a:spcAft>
              <a:buNone/>
            </a:pPr>
            <a:r>
              <a:rPr lang="en" sz="1200" dirty="0">
                <a:solidFill>
                  <a:srgbClr val="1F2328"/>
                </a:solidFill>
              </a:rPr>
              <a:t>- L4 OIC 2.7 Inconsistent Risk Management Practices → L1 ASBE 1.2 Checklist Not Followed/Not Followed Correctly (5 mentions)</a:t>
            </a:r>
            <a:endParaRPr lang="en" sz="1200" dirty="0"/>
          </a:p>
          <a:p>
            <a:pPr>
              <a:spcAft>
                <a:spcPts val="0"/>
              </a:spcAft>
              <a:buNone/>
            </a:pPr>
            <a:r>
              <a:rPr lang="en" sz="1200" dirty="0">
                <a:solidFill>
                  <a:srgbClr val="1F2328"/>
                </a:solidFill>
              </a:rPr>
              <a:t>- L4 OIC 2.7 Inconsistent Risk Management Practices → L3 SVI 1.6 Lack of Supervisory Response to Critical Information (5 mentions)</a:t>
            </a:r>
            <a:endParaRPr lang="en" sz="1200" dirty="0"/>
          </a:p>
          <a:p>
            <a:pPr>
              <a:spcAft>
                <a:spcPts val="0"/>
              </a:spcAft>
              <a:buNone/>
            </a:pPr>
            <a:r>
              <a:rPr lang="en" sz="1200" dirty="0">
                <a:solidFill>
                  <a:srgbClr val="1F2328"/>
                </a:solidFill>
              </a:rPr>
              <a:t>- L4 OIR 1.6 Failure in Maintenance/ Spares/ Support Programme → L3 SVI 1.6 Lack of Supervisory Response to Critical Information (5 mentions)</a:t>
            </a:r>
            <a:endParaRPr lang="en" sz="1200" dirty="0"/>
          </a:p>
          <a:p>
            <a:pPr>
              <a:spcAft>
                <a:spcPts val="0"/>
              </a:spcAft>
              <a:buNone/>
            </a:pPr>
            <a:r>
              <a:rPr lang="en" sz="1200" dirty="0">
                <a:solidFill>
                  <a:srgbClr val="1F2328"/>
                </a:solidFill>
              </a:rPr>
              <a:t>- L4 OIR 1.6 Failure in Maintenance/ Spares/ Support Programme → L3 SVV 4.5 No Action/ Mitigation Measures for Identified Risk (5 mentions)</a:t>
            </a:r>
            <a:endParaRPr lang="en" sz="1200" dirty="0"/>
          </a:p>
          <a:p>
            <a:pPr>
              <a:spcAft>
                <a:spcPts val="0"/>
              </a:spcAft>
              <a:buNone/>
            </a:pPr>
            <a:r>
              <a:rPr lang="en" sz="1200" dirty="0">
                <a:solidFill>
                  <a:srgbClr val="1F2328"/>
                </a:solidFill>
              </a:rPr>
              <a:t>- L3 SVI 1.4 Failed to Provide Appropriate Policy/ Guidance → L1 AJDE 2.11 Misapplied or unaware of existing Policy/Procedure (5 mentions)</a:t>
            </a:r>
            <a:endParaRPr lang="en" sz="1200" dirty="0"/>
          </a:p>
          <a:p>
            <a:pPr>
              <a:spcAft>
                <a:spcPts val="0"/>
              </a:spcAft>
              <a:buNone/>
            </a:pPr>
            <a:r>
              <a:rPr lang="en" sz="1200" dirty="0">
                <a:solidFill>
                  <a:srgbClr val="1F2328"/>
                </a:solidFill>
              </a:rPr>
              <a:t>- L3 SVV 4.1 Failure to Enforce Existing Rules (Supervisory act of Omission) → L1 ASBE 1.2 Checklist Not Followed/Not Followed Correctly (5 mentions)</a:t>
            </a:r>
            <a:endParaRPr lang="en" sz="1200" dirty="0"/>
          </a:p>
          <a:p>
            <a:pPr>
              <a:spcAft>
                <a:spcPts val="0"/>
              </a:spcAft>
              <a:buNone/>
            </a:pPr>
            <a:r>
              <a:rPr lang="en" sz="1200" dirty="0">
                <a:solidFill>
                  <a:srgbClr val="1F2328"/>
                </a:solidFill>
              </a:rPr>
              <a:t>- L4 OIC 2.1 Organizational Culture Allows for Unsafe Task/Mission → L1 ASBE 1.2 Checklist Not Followed/Not Followed Correctly (4 mentions)</a:t>
            </a:r>
            <a:endParaRPr lang="en" sz="1200" dirty="0"/>
          </a:p>
          <a:p>
            <a:pPr>
              <a:spcAft>
                <a:spcPts val="0"/>
              </a:spcAft>
              <a:buNone/>
            </a:pPr>
            <a:r>
              <a:rPr lang="en" sz="1200" dirty="0">
                <a:solidFill>
                  <a:srgbClr val="1F2328"/>
                </a:solidFill>
              </a:rPr>
              <a:t>- L4 OIC 2.1 Organizational Culture Allows for Unsafe Task/Mission → L3 SVI 1.4 Failed to Provide Appropriate Policy/ Guidance (4 mentions)</a:t>
            </a:r>
            <a:endParaRPr lang="en" sz="1200" dirty="0"/>
          </a:p>
          <a:p>
            <a:pPr>
              <a:spcAft>
                <a:spcPts val="0"/>
              </a:spcAft>
              <a:buNone/>
            </a:pPr>
            <a:r>
              <a:rPr lang="en" sz="1200" dirty="0">
                <a:solidFill>
                  <a:srgbClr val="1F2328"/>
                </a:solidFill>
              </a:rPr>
              <a:t>- L4 OIC 2.7 Inconsistent Risk Management Practices → L1 AV 1.1 Violation - Routine/Widespread (4 mentions)</a:t>
            </a:r>
            <a:endParaRPr lang="en" sz="1200" dirty="0"/>
          </a:p>
          <a:p>
            <a:pPr>
              <a:spcAft>
                <a:spcPts val="0"/>
              </a:spcAft>
              <a:buNone/>
            </a:pPr>
            <a:r>
              <a:rPr lang="en" sz="1200" dirty="0">
                <a:solidFill>
                  <a:srgbClr val="1F2328"/>
                </a:solidFill>
              </a:rPr>
              <a:t>- L4 OIC 2.7 Inconsistent Risk Management Practices → L3 SVI 1.4 Failed to Provide Appropriate Policy/ Guidance (4 mentions)</a:t>
            </a:r>
            <a:endParaRPr lang="en" sz="1200" dirty="0"/>
          </a:p>
          <a:p>
            <a:pPr>
              <a:spcAft>
                <a:spcPts val="0"/>
              </a:spcAft>
              <a:buNone/>
            </a:pPr>
            <a:r>
              <a:rPr lang="en" sz="1200" dirty="0">
                <a:solidFill>
                  <a:srgbClr val="1F2328"/>
                </a:solidFill>
              </a:rPr>
              <a:t>- L4 OIR 1.1 Command and Control Resources are Deficient → L2 PTE 2.11 Equipment Not configured Correctly (4 mentions)</a:t>
            </a:r>
            <a:endParaRPr lang="en" sz="1200" dirty="0"/>
          </a:p>
          <a:p>
            <a:pPr>
              <a:spcAft>
                <a:spcPts val="0"/>
              </a:spcAft>
              <a:buNone/>
            </a:pPr>
            <a:r>
              <a:rPr lang="en" sz="1200" dirty="0">
                <a:solidFill>
                  <a:srgbClr val="1F2328"/>
                </a:solidFill>
              </a:rPr>
              <a:t>- L4 OIR 1.1 Command and Control Resources are Deficient → L2 PTE 2.6 System Automation or System Redundancy (4 mentions)</a:t>
            </a:r>
            <a:endParaRPr lang="en" sz="1200" dirty="0"/>
          </a:p>
          <a:p>
            <a:pPr>
              <a:spcAft>
                <a:spcPts val="0"/>
              </a:spcAft>
              <a:buNone/>
            </a:pPr>
            <a:r>
              <a:rPr lang="en" sz="1200" dirty="0">
                <a:solidFill>
                  <a:srgbClr val="1F2328"/>
                </a:solidFill>
              </a:rPr>
              <a:t>- L4 OIR 1.5 Failure in Timely Acquisition/ Procurement/ Upgrade → L2 PTE 2.11 Equipment Not configured Correctly (4 mentions)</a:t>
            </a:r>
            <a:endParaRPr lang="en" sz="1200" dirty="0"/>
          </a:p>
          <a:p>
            <a:pPr>
              <a:spcAft>
                <a:spcPts val="0"/>
              </a:spcAft>
              <a:buNone/>
            </a:pPr>
            <a:r>
              <a:rPr lang="en" sz="1200" dirty="0">
                <a:solidFill>
                  <a:srgbClr val="1F2328"/>
                </a:solidFill>
              </a:rPr>
              <a:t>Cites: FND-02310148; FND-031A3738; FND-044D1DEC; FND-0B651843; FND-0D4C2C13; FND-0FFC03BB; FND-119E6CF7; FND-137BC719; FND-14D093BD; FND-14E2A4B5; FND-1A251687; FND-1DF986F8; FND-257C1100; FND-2B215AA5; FND-304A499A; FND-30EC643B; FND-35279095; FND-3746C7B6; FND-3A34BAD3; FND-3AB996FC; FND-3FEE59DF; FND-403FD778; FND-4458E0C0; FND-4DAC9500; FND-4F687CC5; FND-50C7319E; FND-535125C1; FND-53C9BDB5; FND-5BA62765; FND-5E08D0F8; FND-5EA23B17; FND-6155A1C2; FND-62EF1667; FND-678E51A3; FND-6ECCE231; FND-72A7D26C; FND-730D0DCA; FND-76A6DEC1; FND-78ED8552; FND-7E1F2B3F; FND-7F829BEB; FND-82FC718D; FND-83AD4621; FND-856F80CE; FND-89D53630; FND-934DCBE1; FND-9E1AB5BA; FND-9F27F129; FND-A3DCEBD8; FND-ABF11182; FND-ADC25F29; FND-B86F67F0; FND-B93AE333; FND-B955FBD6; FND-C4B133AA; FND-C4E06264; FND-C5000A82; FND-C9C77FB7; FND-D1709E71; FND-D58142C9; FND-D9A35E88; FND-DF1144C3; FND-E885ED4C; FND-EB48C68C; FND-EBB66554; FND-F7FE8463; FND-FA73D914; FND-FD98468B</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FND-02310148: Emergency isolation MOVs never upgraded for remote operation from the control room · L4 · rating 4</a:t>
            </a:r>
            <a:endParaRPr lang="en" sz="1200" dirty="0"/>
          </a:p>
          <a:p>
            <a:pPr>
              <a:spcAft>
                <a:spcPts val="0"/>
              </a:spcAft>
              <a:buNone/>
            </a:pPr>
            <a:r>
              <a:rPr lang="en" sz="1200" dirty="0">
                <a:solidFill>
                  <a:srgbClr val="1F2328"/>
                </a:solidFill>
              </a:rPr>
              <a:t>FND-031A3738: Permit-to-work/JSA policy was incomplete: missing permits untracked and Job Safety Plans not attached in SAP · L3 · rating 2</a:t>
            </a:r>
            <a:endParaRPr lang="en" sz="1200" dirty="0"/>
          </a:p>
          <a:p>
            <a:pPr>
              <a:spcAft>
                <a:spcPts val="0"/>
              </a:spcAft>
              <a:buNone/>
            </a:pPr>
            <a:r>
              <a:rPr lang="en" sz="1200" dirty="0">
                <a:solidFill>
                  <a:srgbClr val="1F2328"/>
                </a:solidFill>
              </a:rPr>
              <a:t>FND-044D1DEC: Emergency isolation valves MOV 54 and the Gas Terminal MOVs were local-manual only, with no remote control from the control room · L4 · rating 4</a:t>
            </a:r>
            <a:endParaRPr lang="en" sz="1200" dirty="0"/>
          </a:p>
          <a:p>
            <a:pPr>
              <a:spcAft>
                <a:spcPts val="0"/>
              </a:spcAft>
              <a:buNone/>
            </a:pPr>
            <a:r>
              <a:rPr lang="en" sz="1200" dirty="0">
                <a:solidFill>
                  <a:srgbClr val="1F2328"/>
                </a:solidFill>
              </a:rPr>
              <a:t>FND-0B651843: Calibration programme executed without checklist or recorded setpoint change on meter 310FT01 (Dec-2019) · L4 · rating 3</a:t>
            </a:r>
            <a:endParaRPr lang="en" sz="1200" dirty="0"/>
          </a:p>
          <a:p>
            <a:pPr>
              <a:spcAft>
                <a:spcPts val="0"/>
              </a:spcAft>
              <a:buNone/>
            </a:pPr>
            <a:r>
              <a:rPr lang="en" sz="1200" dirty="0">
                <a:solidFill>
                  <a:srgbClr val="1F2328"/>
                </a:solidFill>
              </a:rPr>
              <a:t>FND-0D4C2C13: No pressure data available from metering-line transmitters 310PT4/310PT5/310PT6 · L4 · rating 3</a:t>
            </a:r>
            <a:endParaRPr lang="en" sz="1200" dirty="0"/>
          </a:p>
          <a:p>
            <a:pPr>
              <a:spcAft>
                <a:spcPts val="0"/>
              </a:spcAft>
              <a:buNone/>
            </a:pPr>
            <a:r>
              <a:rPr lang="en" sz="1200" dirty="0">
                <a:solidFill>
                  <a:srgbClr val="1F2328"/>
                </a:solidFill>
              </a:rPr>
              <a:t>FND-0FFC03BB: Metering-line pressure transmitters (310PT4/5/6) never commissioned for DCS data acquisition · L4 · rating 3</a:t>
            </a:r>
            <a:endParaRPr lang="en" sz="1200" dirty="0"/>
          </a:p>
          <a:p>
            <a:pPr>
              <a:spcAft>
                <a:spcPts val="0"/>
              </a:spcAft>
              <a:buNone/>
            </a:pPr>
            <a:r>
              <a:rPr lang="en" sz="1200" dirty="0">
                <a:solidFill>
                  <a:srgbClr val="1F2328"/>
                </a:solidFill>
              </a:rPr>
              <a:t>FND-119E6CF7: F&amp;G detection system not interlocked to automatic shutdown or suppression · L4 · rating 4</a:t>
            </a:r>
            <a:endParaRPr lang="en" sz="1200" dirty="0"/>
          </a:p>
          <a:p>
            <a:pPr>
              <a:spcAft>
                <a:spcPts val="0"/>
              </a:spcAft>
              <a:buNone/>
            </a:pPr>
            <a:r>
              <a:rPr lang="en" sz="1200" dirty="0">
                <a:solidFill>
                  <a:srgbClr val="1F2328"/>
                </a:solidFill>
              </a:rPr>
              <a:t>FND-137BC719: No SOP for calibration and return-to-service of high-pressure meters · L3 · rating 4</a:t>
            </a:r>
            <a:endParaRPr lang="en" sz="1200" dirty="0"/>
          </a:p>
          <a:p>
            <a:pPr>
              <a:spcAft>
                <a:spcPts val="0"/>
              </a:spcAft>
              <a:buNone/>
            </a:pPr>
            <a:r>
              <a:rPr lang="en" sz="1200" dirty="0">
                <a:solidFill>
                  <a:srgbClr val="1F2328"/>
                </a:solidFill>
              </a:rPr>
              <a:t>FND-14D093BD: Control-room emergency readiness risk accepted with 4-day training and no defined qualification · L4 · rating 3</a:t>
            </a:r>
            <a:endParaRPr lang="en" sz="1200" dirty="0"/>
          </a:p>
          <a:p>
            <a:pPr>
              <a:spcAft>
                <a:spcPts val="0"/>
              </a:spcAft>
              <a:buNone/>
            </a:pPr>
            <a:r>
              <a:rPr lang="en" sz="1200" dirty="0">
                <a:solidFill>
                  <a:srgbClr val="1F2328"/>
                </a:solidFill>
              </a:rPr>
              <a:t>FND-14E2A4B5: Missing work permits untracked and Job Safety Plans absent from SAP · L4 · rating 2</a:t>
            </a:r>
            <a:endParaRPr lang="en" sz="1200" dirty="0"/>
          </a:p>
          <a:p>
            <a:pPr>
              <a:spcAft>
                <a:spcPts val="0"/>
              </a:spcAft>
              <a:buNone/>
            </a:pPr>
            <a:r>
              <a:rPr lang="en" sz="1200" dirty="0">
                <a:solidFill>
                  <a:srgbClr val="1F2328"/>
                </a:solidFill>
              </a:rPr>
              <a:t>FND-1A251687: Chronic gasket failure on 310FT01 left to routine resealing — no OEM spares, root-cause or replacement programme · L4 · rating 4</a:t>
            </a:r>
            <a:endParaRPr lang="en" sz="1200" dirty="0"/>
          </a:p>
          <a:p>
            <a:pPr>
              <a:spcAft>
                <a:spcPts val="0"/>
              </a:spcAft>
              <a:buNone/>
            </a:pPr>
            <a:r>
              <a:rPr lang="en" sz="1200" dirty="0">
                <a:solidFill>
                  <a:srgbClr val="1F2328"/>
                </a:solidFill>
              </a:rPr>
              <a:t>FND-1DF986F8: Permit-to-work lifecycle oversight · L3 · rating 2</a:t>
            </a:r>
            <a:endParaRPr lang="en" sz="1200" dirty="0"/>
          </a:p>
          <a:p>
            <a:pPr>
              <a:spcAft>
                <a:spcPts val="0"/>
              </a:spcAft>
              <a:buNone/>
            </a:pPr>
            <a:r>
              <a:rPr lang="en" sz="1200" dirty="0">
                <a:solidFill>
                  <a:srgbClr val="1F2328"/>
                </a:solidFill>
              </a:rPr>
              <a:t>FND-257C1100: No standard operating procedure existed for calibration and return-to-service of the high-pressure meters, including mandatory hydrotest to design pressure · L3 · rating 4</a:t>
            </a:r>
            <a:endParaRPr lang="en" sz="1200" dirty="0"/>
          </a:p>
          <a:p>
            <a:pPr>
              <a:spcAft>
                <a:spcPts val="0"/>
              </a:spcAft>
              <a:buNone/>
            </a:pPr>
            <a:r>
              <a:rPr lang="en" sz="1200" dirty="0">
                <a:solidFill>
                  <a:srgbClr val="1F2328"/>
                </a:solidFill>
              </a:rPr>
              <a:t>FND-2B215AA5: DCS clocks across control rooms drifted by 2-12 minutes · L4 · rating 2</a:t>
            </a:r>
            <a:endParaRPr lang="en" sz="1200" dirty="0"/>
          </a:p>
          <a:p>
            <a:pPr>
              <a:spcAft>
                <a:spcPts val="0"/>
              </a:spcAft>
              <a:buNone/>
            </a:pPr>
            <a:r>
              <a:rPr lang="en" sz="1200" dirty="0">
                <a:solidFill>
                  <a:srgbClr val="1F2328"/>
                </a:solidFill>
              </a:rPr>
              <a:t>FND-304A499A: Self-Safety Audit oversight - generic checklist and unverified compliance · L3 · rating 3</a:t>
            </a:r>
            <a:endParaRPr lang="en" sz="1200" dirty="0"/>
          </a:p>
          <a:p>
            <a:pPr>
              <a:spcAft>
                <a:spcPts val="0"/>
              </a:spcAft>
              <a:buNone/>
            </a:pPr>
            <a:r>
              <a:rPr lang="en" sz="1200" dirty="0">
                <a:solidFill>
                  <a:srgbClr val="1F2328"/>
                </a:solidFill>
              </a:rPr>
              <a:t>FND-30EC643B: Post-incident electrical PM audit grouped nine lamps into one generic status · L4 · rating 2</a:t>
            </a:r>
            <a:endParaRPr lang="en" sz="1200" dirty="0"/>
          </a:p>
          <a:p>
            <a:pPr>
              <a:spcAft>
                <a:spcPts val="0"/>
              </a:spcAft>
              <a:buNone/>
            </a:pPr>
            <a:r>
              <a:rPr lang="en" sz="1200" dirty="0">
                <a:solidFill>
                  <a:srgbClr val="1F2328"/>
                </a:solidFill>
              </a:rPr>
              <a:t>FND-35279095: Internal and self-safety audit checklist completeness rules not enforced · L3 · rating 3</a:t>
            </a:r>
            <a:endParaRPr lang="en" sz="1200" dirty="0"/>
          </a:p>
          <a:p>
            <a:pPr>
              <a:spcAft>
                <a:spcPts val="0"/>
              </a:spcAft>
              <a:buNone/>
            </a:pPr>
            <a:r>
              <a:rPr lang="en" sz="1200" dirty="0">
                <a:solidFill>
                  <a:srgbClr val="1F2328"/>
                </a:solidFill>
              </a:rPr>
              <a:t>FND-3746C7B6: Maintenance supervision - 18-Sep-2020 gasket replacement of meter 310FT01 · L3 · rating 4</a:t>
            </a:r>
            <a:endParaRPr lang="en" sz="1200" dirty="0"/>
          </a:p>
          <a:p>
            <a:pPr>
              <a:spcAft>
                <a:spcPts val="0"/>
              </a:spcAft>
              <a:buNone/>
            </a:pPr>
            <a:r>
              <a:rPr lang="en" sz="1200" dirty="0">
                <a:solidFill>
                  <a:srgbClr val="1F2328"/>
                </a:solidFill>
              </a:rPr>
              <a:t>FND-3A34BAD3: Meter 310FT01 gasket replacement recurrence treated as routine maintenance · L4 · rating 4</a:t>
            </a:r>
            <a:endParaRPr lang="en" sz="1200" dirty="0"/>
          </a:p>
          <a:p>
            <a:pPr>
              <a:spcAft>
                <a:spcPts val="0"/>
              </a:spcAft>
              <a:buNone/>
            </a:pPr>
            <a:r>
              <a:rPr lang="en" sz="1200" dirty="0">
                <a:solidFill>
                  <a:srgbClr val="1F2328"/>
                </a:solidFill>
              </a:rPr>
              <a:t>FND-3AB996FC: Return-to-service after gasket replacement without design-pressure hydrostatic test · L4 · rating 4</a:t>
            </a:r>
            <a:endParaRPr lang="en" sz="1200" dirty="0"/>
          </a:p>
          <a:p>
            <a:pPr>
              <a:spcAft>
                <a:spcPts val="0"/>
              </a:spcAft>
              <a:buNone/>
            </a:pPr>
            <a:r>
              <a:rPr lang="en" sz="1200" dirty="0">
                <a:solidFill>
                  <a:srgbClr val="1F2328"/>
                </a:solidFill>
              </a:rPr>
              <a:t>FND-3FEE59DF: MOC procedure published August 2016 but not implemented since 2018 · L4 · rating 3</a:t>
            </a:r>
            <a:endParaRPr lang="en" sz="1200" dirty="0"/>
          </a:p>
          <a:p>
            <a:pPr>
              <a:spcAft>
                <a:spcPts val="0"/>
              </a:spcAft>
              <a:buNone/>
            </a:pPr>
            <a:r>
              <a:rPr lang="en" sz="1200" dirty="0">
                <a:solidFill>
                  <a:srgbClr val="1F2328"/>
                </a:solidFill>
              </a:rPr>
              <a:t>FND-403FD778: Calibration documentation and checklist rules not enforced during Dec-2019 calibration of 310FT01 · L3 · rating 3</a:t>
            </a:r>
            <a:endParaRPr lang="en" sz="1200" dirty="0"/>
          </a:p>
          <a:p>
            <a:pPr>
              <a:spcAft>
                <a:spcPts val="0"/>
              </a:spcAft>
              <a:buNone/>
            </a:pPr>
            <a:r>
              <a:rPr lang="en" sz="1200" dirty="0">
                <a:solidFill>
                  <a:srgbClr val="1F2328"/>
                </a:solidFill>
              </a:rPr>
              <a:t>FND-4458E0C0: F&amp;G detection system never upgraded to automatic shutdown/suppression interlock · L4 · rating 4</a:t>
            </a:r>
            <a:endParaRPr lang="en" sz="1200" dirty="0"/>
          </a:p>
          <a:p>
            <a:pPr>
              <a:spcAft>
                <a:spcPts val="0"/>
              </a:spcAft>
              <a:buNone/>
            </a:pPr>
            <a:r>
              <a:rPr lang="en" sz="1200" dirty="0">
                <a:solidFill>
                  <a:srgbClr val="1F2328"/>
                </a:solidFill>
              </a:rPr>
              <a:t>FND-4DAC9500: 1.03 mm wall loss with heavy pitting on zero-corrosion-allowance 36-inch segment remediated with painting only · L4 · rating 3</a:t>
            </a:r>
            <a:endParaRPr lang="en" sz="1200" dirty="0"/>
          </a:p>
          <a:p>
            <a:pPr>
              <a:spcAft>
                <a:spcPts val="0"/>
              </a:spcAft>
              <a:buNone/>
            </a:pPr>
            <a:r>
              <a:rPr lang="en" sz="1200" dirty="0">
                <a:solidFill>
                  <a:srgbClr val="1F2328"/>
                </a:solidFill>
              </a:rPr>
              <a:t>FND-4F687CC5: DMP/ERDMP omitted isolation and stoppage decision criteria · L3 · rating 4</a:t>
            </a:r>
            <a:endParaRPr lang="en" sz="1200" dirty="0"/>
          </a:p>
          <a:p>
            <a:pPr>
              <a:spcAft>
                <a:spcPts val="0"/>
              </a:spcAft>
              <a:buNone/>
            </a:pPr>
            <a:r>
              <a:rPr lang="en" sz="1200" dirty="0">
                <a:solidFill>
                  <a:srgbClr val="1F2328"/>
                </a:solidFill>
              </a:rPr>
              <a:t>FND-50C7319E: No post-maintenance hydrotest or return-to-service SOP for high-pressure meter gasket work · L4 · rating 4</a:t>
            </a:r>
            <a:endParaRPr lang="en" sz="1200" dirty="0"/>
          </a:p>
          <a:p>
            <a:pPr>
              <a:spcAft>
                <a:spcPts val="0"/>
              </a:spcAft>
              <a:buNone/>
            </a:pPr>
            <a:r>
              <a:rPr lang="en" sz="1200" dirty="0">
                <a:solidFill>
                  <a:srgbClr val="1F2328"/>
                </a:solidFill>
              </a:rPr>
              <a:t>FND-535125C1: Work-permit and Job Safety Plan policy gaps · L3 · rating 2</a:t>
            </a:r>
            <a:endParaRPr lang="en" sz="1200" dirty="0"/>
          </a:p>
          <a:p>
            <a:pPr>
              <a:spcAft>
                <a:spcPts val="0"/>
              </a:spcAft>
              <a:buNone/>
            </a:pPr>
            <a:r>
              <a:rPr lang="en" sz="1200" dirty="0">
                <a:solidFill>
                  <a:srgbClr val="1F2328"/>
                </a:solidFill>
              </a:rPr>
              <a:t>FND-53C9BDB5: Work permit/JSA system missing permits and Job Safety Plans · L4 · rating 2</a:t>
            </a:r>
            <a:endParaRPr lang="en" sz="1200" dirty="0"/>
          </a:p>
          <a:p>
            <a:pPr>
              <a:spcAft>
                <a:spcPts val="0"/>
              </a:spcAft>
              <a:buNone/>
            </a:pPr>
            <a:r>
              <a:rPr lang="en" sz="1200" dirty="0">
                <a:solidFill>
                  <a:srgbClr val="1F2328"/>
                </a:solidFill>
              </a:rPr>
              <a:t>FND-5BA62765: 2018 and 2019 internal safety audits issued observations without filled checklists · L4 · rating 2</a:t>
            </a:r>
            <a:endParaRPr lang="en" sz="1200" dirty="0"/>
          </a:p>
          <a:p>
            <a:pPr>
              <a:spcAft>
                <a:spcPts val="0"/>
              </a:spcAft>
              <a:buNone/>
            </a:pPr>
            <a:r>
              <a:rPr lang="en" sz="1200" dirty="0">
                <a:solidFill>
                  <a:srgbClr val="1F2328"/>
                </a:solidFill>
              </a:rPr>
              <a:t>FND-5E08D0F8: Breakdown-skewed electrical preventive-maintenance culture left compromised HPMV FLP lamp in service · L4 · rating 4</a:t>
            </a:r>
            <a:endParaRPr lang="en" sz="1200" dirty="0"/>
          </a:p>
          <a:p>
            <a:pPr>
              <a:spcAft>
                <a:spcPts val="0"/>
              </a:spcAft>
              <a:buNone/>
            </a:pPr>
            <a:r>
              <a:rPr lang="en" sz="1200" dirty="0">
                <a:solidFill>
                  <a:srgbClr val="1F2328"/>
                </a:solidFill>
              </a:rPr>
              <a:t>FND-5EA23B17: 2017 pipeline thickness-loss findings left without corrective action for 3 years · L4 · rating 3</a:t>
            </a:r>
            <a:endParaRPr lang="en" sz="1200" dirty="0"/>
          </a:p>
          <a:p>
            <a:pPr>
              <a:spcAft>
                <a:spcPts val="0"/>
              </a:spcAft>
              <a:buNone/>
            </a:pPr>
            <a:r>
              <a:rPr lang="en" sz="1200" dirty="0">
                <a:solidFill>
                  <a:srgbClr val="1F2328"/>
                </a:solidFill>
              </a:rPr>
              <a:t>FND-6155A1C2: F&amp;G detection system had no auto-shutdown or fire-suppression interlock · L4 · rating 4</a:t>
            </a:r>
            <a:endParaRPr lang="en" sz="1200" dirty="0"/>
          </a:p>
          <a:p>
            <a:pPr>
              <a:spcAft>
                <a:spcPts val="0"/>
              </a:spcAft>
              <a:buNone/>
            </a:pPr>
            <a:r>
              <a:rPr lang="en" sz="1200" dirty="0">
                <a:solidFill>
                  <a:srgbClr val="1F2328"/>
                </a:solidFill>
              </a:rPr>
              <a:t>FND-62EF1667: SAP Notification 3800419840 left open and unreviewed · L4 · rating 3</a:t>
            </a:r>
            <a:endParaRPr lang="en" sz="1200" dirty="0"/>
          </a:p>
          <a:p>
            <a:pPr>
              <a:spcAft>
                <a:spcPts val="0"/>
              </a:spcAft>
              <a:buNone/>
            </a:pPr>
            <a:r>
              <a:rPr lang="en" sz="1200" dirty="0">
                <a:solidFill>
                  <a:srgbClr val="1F2328"/>
                </a:solidFill>
              </a:rPr>
              <a:t>FND-678E51A3: SAP maintenance-work closure loop broken — notification 3800419840 never closed or reviewed · L4 · rating 3</a:t>
            </a:r>
            <a:endParaRPr lang="en" sz="1200" dirty="0"/>
          </a:p>
          <a:p>
            <a:pPr>
              <a:spcAft>
                <a:spcPts val="0"/>
              </a:spcAft>
              <a:buNone/>
            </a:pPr>
            <a:r>
              <a:rPr lang="en" sz="1200" dirty="0">
                <a:solidFill>
                  <a:srgbClr val="1F2328"/>
                </a:solidFill>
              </a:rPr>
              <a:t>FND-6ECCE231: Management of Change policy published in August 2016 was not implemented, with no MOCs since 2018 · L3 · rating 3</a:t>
            </a:r>
            <a:endParaRPr lang="en" sz="1200" dirty="0"/>
          </a:p>
          <a:p>
            <a:pPr>
              <a:spcAft>
                <a:spcPts val="0"/>
              </a:spcAft>
              <a:buNone/>
            </a:pPr>
            <a:r>
              <a:rPr lang="en" sz="1200" dirty="0">
                <a:solidFill>
                  <a:srgbClr val="1F2328"/>
                </a:solidFill>
              </a:rPr>
              <a:t>FND-72A7D26C: No material specification or procurement policy for pressure-boundary gaskets · L3 · rating 4</a:t>
            </a:r>
            <a:endParaRPr lang="en" sz="1200" dirty="0"/>
          </a:p>
          <a:p>
            <a:pPr>
              <a:spcAft>
                <a:spcPts val="0"/>
              </a:spcAft>
              <a:buNone/>
            </a:pPr>
            <a:r>
              <a:rPr lang="en" sz="1200" dirty="0">
                <a:solidFill>
                  <a:srgbClr val="1F2328"/>
                </a:solidFill>
              </a:rPr>
              <a:t>FND-730D0DCA: DMP/ERDMP hydrocarbon-leak guidance omitted isolation and stoppage criteria · L4 · rating 4</a:t>
            </a:r>
            <a:endParaRPr lang="en" sz="1200" dirty="0"/>
          </a:p>
          <a:p>
            <a:pPr>
              <a:spcAft>
                <a:spcPts val="0"/>
              </a:spcAft>
              <a:buNone/>
            </a:pPr>
            <a:r>
              <a:rPr lang="en" sz="1200" dirty="0">
                <a:solidFill>
                  <a:srgbClr val="1F2328"/>
                </a:solidFill>
              </a:rPr>
              <a:t>FND-76A6DEC1: Generic non-plant-specific self-safety audit checklist and unavailable manuals/SOPs · L3 · rating 3</a:t>
            </a:r>
            <a:endParaRPr lang="en" sz="1200" dirty="0"/>
          </a:p>
          <a:p>
            <a:pPr>
              <a:spcAft>
                <a:spcPts val="0"/>
              </a:spcAft>
              <a:buNone/>
            </a:pPr>
            <a:r>
              <a:rPr lang="en" sz="1200" dirty="0">
                <a:solidFill>
                  <a:srgbClr val="1F2328"/>
                </a:solidFill>
              </a:rPr>
              <a:t>FND-78ED8552: Inadequate control-room training and qualification policy · L3 · rating 3</a:t>
            </a:r>
            <a:endParaRPr lang="en" sz="1200" dirty="0"/>
          </a:p>
          <a:p>
            <a:pPr>
              <a:spcAft>
                <a:spcPts val="0"/>
              </a:spcAft>
              <a:buNone/>
            </a:pPr>
            <a:r>
              <a:rPr lang="en" sz="1200" dirty="0">
                <a:solidFill>
                  <a:srgbClr val="1F2328"/>
                </a:solidFill>
              </a:rPr>
              <a:t>FND-7E1F2B3F: Work permit and Job Safety Plan requirements not enforced for maintenance execution · L3 · rating 3</a:t>
            </a:r>
            <a:endParaRPr lang="en" sz="1200" dirty="0"/>
          </a:p>
          <a:p>
            <a:pPr>
              <a:spcAft>
                <a:spcPts val="0"/>
              </a:spcAft>
              <a:buNone/>
            </a:pPr>
            <a:r>
              <a:rPr lang="en" sz="1200" dirty="0">
                <a:solidFill>
                  <a:srgbClr val="1F2328"/>
                </a:solidFill>
              </a:rPr>
              <a:t>FND-7F829BEB: December 2019 calibration setpoint changes undocumented and checklist-free · L4 · rating 3</a:t>
            </a:r>
            <a:endParaRPr lang="en" sz="1200" dirty="0"/>
          </a:p>
          <a:p>
            <a:pPr>
              <a:spcAft>
                <a:spcPts val="0"/>
              </a:spcAft>
              <a:buNone/>
            </a:pPr>
            <a:r>
              <a:rPr lang="en" sz="1200" dirty="0">
                <a:solidFill>
                  <a:srgbClr val="1F2328"/>
                </a:solidFill>
              </a:rPr>
              <a:t>FND-82FC718D: Recurring gasket failures on 310FT01 treated as routine maintenance instead of reliability warning · L4 · rating 4</a:t>
            </a:r>
            <a:endParaRPr lang="en" sz="1200" dirty="0"/>
          </a:p>
          <a:p>
            <a:pPr>
              <a:spcAft>
                <a:spcPts val="0"/>
              </a:spcAft>
              <a:buNone/>
            </a:pPr>
            <a:r>
              <a:rPr lang="en" sz="1200" dirty="0">
                <a:solidFill>
                  <a:srgbClr val="1F2328"/>
                </a:solidFill>
              </a:rPr>
              <a:t>FND-83AD4621: Metering-system P&amp;ID lost, vendor replacement unapproved and field configuration mismatched · L4 · rating 2</a:t>
            </a:r>
            <a:endParaRPr lang="en" sz="1200" dirty="0"/>
          </a:p>
          <a:p>
            <a:pPr>
              <a:spcAft>
                <a:spcPts val="0"/>
              </a:spcAft>
              <a:buNone/>
            </a:pPr>
            <a:r>
              <a:rPr lang="en" sz="1200" dirty="0">
                <a:solidFill>
                  <a:srgbClr val="1F2328"/>
                </a:solidFill>
              </a:rPr>
              <a:t>FND-856F80CE: 12 external-audit recommendations overdue without Director Offshore approval · L4 · rating 2</a:t>
            </a:r>
            <a:endParaRPr lang="en" sz="1200" dirty="0"/>
          </a:p>
          <a:p>
            <a:pPr>
              <a:spcAft>
                <a:spcPts val="0"/>
              </a:spcAft>
              <a:buNone/>
            </a:pPr>
            <a:r>
              <a:rPr lang="en" sz="1200" dirty="0">
                <a:solidFill>
                  <a:srgbClr val="1F2328"/>
                </a:solidFill>
              </a:rPr>
              <a:t>FND-89D53630: Instrument/calibration supervision - Dec-2019 unsigned setpoint change · L3 · rating 3</a:t>
            </a:r>
            <a:endParaRPr lang="en" sz="1200" dirty="0"/>
          </a:p>
          <a:p>
            <a:pPr>
              <a:spcAft>
                <a:spcPts val="0"/>
              </a:spcAft>
              <a:buNone/>
            </a:pPr>
            <a:r>
              <a:rPr lang="en" sz="1200" dirty="0">
                <a:solidFill>
                  <a:srgbClr val="1F2328"/>
                </a:solidFill>
              </a:rPr>
              <a:t>FND-934DCBE1: Single PELCO PTZ D5230D camera with ~90-second pan provided the only CCTV coverage and was lost at ignition · L4 · rating 3</a:t>
            </a:r>
            <a:endParaRPr lang="en" sz="1200" dirty="0"/>
          </a:p>
          <a:p>
            <a:pPr>
              <a:spcAft>
                <a:spcPts val="0"/>
              </a:spcAft>
              <a:buNone/>
            </a:pPr>
            <a:r>
              <a:rPr lang="en" sz="1200" dirty="0">
                <a:solidFill>
                  <a:srgbClr val="1F2328"/>
                </a:solidFill>
              </a:rPr>
              <a:t>FND-9E1AB5BA: Generic, unverified audit checklist culture · L4 · rating 3</a:t>
            </a:r>
            <a:endParaRPr lang="en" sz="1200" dirty="0"/>
          </a:p>
          <a:p>
            <a:pPr>
              <a:spcAft>
                <a:spcPts val="0"/>
              </a:spcAft>
              <a:buNone/>
            </a:pPr>
            <a:r>
              <a:rPr lang="en" sz="1200" dirty="0">
                <a:solidFill>
                  <a:srgbClr val="1F2328"/>
                </a:solidFill>
              </a:rPr>
              <a:t>FND-9F27F129: Internal safety audits lacked filled checklists and completed audit coverage · L3 · rating 2</a:t>
            </a:r>
            <a:endParaRPr lang="en" sz="1200" dirty="0"/>
          </a:p>
          <a:p>
            <a:pPr>
              <a:spcAft>
                <a:spcPts val="0"/>
              </a:spcAft>
              <a:buNone/>
            </a:pPr>
            <a:r>
              <a:rPr lang="en" sz="1200" dirty="0">
                <a:solidFill>
                  <a:srgbClr val="1F2328"/>
                </a:solidFill>
              </a:rPr>
              <a:t>FND-A3DCEBD8: Pipeline thickness-monitoring programme off cadence and 2017 corrective-action findings left unplanned for 3+ years · L4 · rating 3</a:t>
            </a:r>
            <a:endParaRPr lang="en" sz="1200" dirty="0"/>
          </a:p>
          <a:p>
            <a:pPr>
              <a:spcAft>
                <a:spcPts val="0"/>
              </a:spcAft>
              <a:buNone/>
            </a:pPr>
            <a:r>
              <a:rPr lang="en" sz="1200" dirty="0">
                <a:solidFill>
                  <a:srgbClr val="1F2328"/>
                </a:solidFill>
              </a:rPr>
              <a:t>FND-ABF11182: Breakdown-skewed electrical preventive-maintenance programme — Zone-1 HPMV FLP lamp left with compromised flame-proof integrity · L4 · rating 4</a:t>
            </a:r>
            <a:endParaRPr lang="en" sz="1200" dirty="0"/>
          </a:p>
          <a:p>
            <a:pPr>
              <a:spcAft>
                <a:spcPts val="0"/>
              </a:spcAft>
              <a:buNone/>
            </a:pPr>
            <a:r>
              <a:rPr lang="en" sz="1200" dirty="0">
                <a:solidFill>
                  <a:srgbClr val="1F2328"/>
                </a:solidFill>
              </a:rPr>
              <a:t>FND-ADC25F29: Flame-proof lamp integrity and electrical PM rules not enforced in Zone 1 — probable ignition source · L3 · rating 4</a:t>
            </a:r>
            <a:endParaRPr lang="en" sz="1200" dirty="0"/>
          </a:p>
          <a:p>
            <a:pPr>
              <a:spcAft>
                <a:spcPts val="0"/>
              </a:spcAft>
              <a:buNone/>
            </a:pPr>
            <a:r>
              <a:rPr lang="en" sz="1200" dirty="0">
                <a:solidFill>
                  <a:srgbClr val="1F2328"/>
                </a:solidFill>
              </a:rPr>
              <a:t>FND-B86F67F0: Regular use of locally procured O-rings for the 1986 rectangular-slot meter gasket · L4 · rating 4</a:t>
            </a:r>
            <a:endParaRPr lang="en" sz="1200" dirty="0"/>
          </a:p>
          <a:p>
            <a:pPr>
              <a:spcAft>
                <a:spcPts val="0"/>
              </a:spcAft>
              <a:buNone/>
            </a:pPr>
            <a:r>
              <a:rPr lang="en" sz="1200" dirty="0">
                <a:solidFill>
                  <a:srgbClr val="1F2328"/>
                </a:solidFill>
              </a:rPr>
              <a:t>FND-B93AE333: Internal Safety Audits 2018-2019 - no filled checklists · L3 · rating 3</a:t>
            </a:r>
            <a:endParaRPr lang="en" sz="1200" dirty="0"/>
          </a:p>
          <a:p>
            <a:pPr>
              <a:spcAft>
                <a:spcPts val="0"/>
              </a:spcAft>
              <a:buNone/>
            </a:pPr>
            <a:r>
              <a:rPr lang="en" sz="1200" dirty="0">
                <a:solidFill>
                  <a:srgbClr val="1F2328"/>
                </a:solidFill>
              </a:rPr>
              <a:t>FND-B955FBD6: Diesel fire-water pump fleet left degraded — two under maintenance, one 2-minute tripping fault undiagnosed · L4 · rating 2</a:t>
            </a:r>
            <a:endParaRPr lang="en" sz="1200" dirty="0"/>
          </a:p>
          <a:p>
            <a:pPr>
              <a:spcAft>
                <a:spcPts val="0"/>
              </a:spcAft>
              <a:buNone/>
            </a:pPr>
            <a:r>
              <a:rPr lang="en" sz="1200" dirty="0">
                <a:solidFill>
                  <a:srgbClr val="1F2328"/>
                </a:solidFill>
              </a:rPr>
              <a:t>FND-C4B133AA: No baseline pipeline-thickness data and missing original drawings/schedules · L3 · rating 2</a:t>
            </a:r>
            <a:endParaRPr lang="en" sz="1200" dirty="0"/>
          </a:p>
          <a:p>
            <a:pPr>
              <a:spcAft>
                <a:spcPts val="0"/>
              </a:spcAft>
              <a:buNone/>
            </a:pPr>
            <a:r>
              <a:rPr lang="en" sz="1200" dirty="0">
                <a:solidFill>
                  <a:srgbClr val="1F2328"/>
                </a:solidFill>
              </a:rPr>
              <a:t>FND-C4E06264: Post-repair hydrostatic test requirement not enforced on 18-Sep-2020 gasket replacement · L3 · rating 4</a:t>
            </a:r>
            <a:endParaRPr lang="en" sz="1200" dirty="0"/>
          </a:p>
          <a:p>
            <a:pPr>
              <a:spcAft>
                <a:spcPts val="0"/>
              </a:spcAft>
              <a:buNone/>
            </a:pPr>
            <a:r>
              <a:rPr lang="en" sz="1200" dirty="0">
                <a:solidFill>
                  <a:srgbClr val="1F2328"/>
                </a:solidFill>
              </a:rPr>
              <a:t>FND-C5000A82: Annunciator-only detector display and absent DCS historisation delayed the first control-room alarm by ~7 minutes · L4 · rating 3</a:t>
            </a:r>
            <a:endParaRPr lang="en" sz="1200" dirty="0"/>
          </a:p>
          <a:p>
            <a:pPr>
              <a:spcAft>
                <a:spcPts val="0"/>
              </a:spcAft>
              <a:buNone/>
            </a:pPr>
            <a:r>
              <a:rPr lang="en" sz="1200" dirty="0">
                <a:solidFill>
                  <a:srgbClr val="1F2328"/>
                </a:solidFill>
              </a:rPr>
              <a:t>FND-C9C77FB7: Self-safety audit used generic non-plant-specific checklist · L4 · rating 3</a:t>
            </a:r>
            <a:endParaRPr lang="en" sz="1200" dirty="0"/>
          </a:p>
          <a:p>
            <a:pPr>
              <a:spcAft>
                <a:spcPts val="0"/>
              </a:spcAft>
              <a:buNone/>
            </a:pPr>
            <a:r>
              <a:rPr lang="en" sz="1200" dirty="0">
                <a:solidFill>
                  <a:srgbClr val="1F2328"/>
                </a:solidFill>
              </a:rPr>
              <a:t>FND-D1709E71: Electrical preventive-maintenance oversight - FLP lamp integrity in Zone 1 · L3 · rating 3</a:t>
            </a:r>
            <a:endParaRPr lang="en" sz="1200" dirty="0"/>
          </a:p>
          <a:p>
            <a:pPr>
              <a:spcAft>
                <a:spcPts val="0"/>
              </a:spcAft>
              <a:buNone/>
            </a:pPr>
            <a:r>
              <a:rPr lang="en" sz="1200" dirty="0">
                <a:solidFill>
                  <a:srgbClr val="1F2328"/>
                </a:solidFill>
              </a:rPr>
              <a:t>FND-D58142C9: No checklist provided for critical high-pressure calibration jobs · L3 · rating 3</a:t>
            </a:r>
            <a:endParaRPr lang="en" sz="1200" dirty="0"/>
          </a:p>
          <a:p>
            <a:pPr>
              <a:spcAft>
                <a:spcPts val="0"/>
              </a:spcAft>
              <a:buNone/>
            </a:pPr>
            <a:r>
              <a:rPr lang="en" sz="1200" dirty="0">
                <a:solidFill>
                  <a:srgbClr val="1F2328"/>
                </a:solidFill>
              </a:rPr>
              <a:t>FND-D9A35E88: DCS time-synchronisation drift across control rooms never corrected · L4 · rating 2</a:t>
            </a:r>
            <a:endParaRPr lang="en" sz="1200" dirty="0"/>
          </a:p>
          <a:p>
            <a:pPr>
              <a:spcAft>
                <a:spcPts val="0"/>
              </a:spcAft>
              <a:buNone/>
            </a:pPr>
            <a:r>
              <a:rPr lang="en" sz="1200" dirty="0">
                <a:solidFill>
                  <a:srgbClr val="1F2328"/>
                </a:solidFill>
              </a:rPr>
              <a:t>FND-DF1144C3: DMP/ERDMP omitted isolation/stoppage decision criteria and authority · L4 · rating 4</a:t>
            </a:r>
            <a:endParaRPr lang="en" sz="1200" dirty="0"/>
          </a:p>
          <a:p>
            <a:pPr>
              <a:spcAft>
                <a:spcPts val="0"/>
              </a:spcAft>
              <a:buNone/>
            </a:pPr>
            <a:r>
              <a:rPr lang="en" sz="1200" dirty="0">
                <a:solidFill>
                  <a:srgbClr val="1F2328"/>
                </a:solidFill>
              </a:rPr>
              <a:t>FND-E885ED4C: Permit-to-work records incomplete — missing permits untracked, Job Safety Plans absent from SAP, closure unreviewed · L4 · rating 2</a:t>
            </a:r>
            <a:endParaRPr lang="en" sz="1200" dirty="0"/>
          </a:p>
          <a:p>
            <a:pPr>
              <a:spcAft>
                <a:spcPts val="0"/>
              </a:spcAft>
              <a:buNone/>
            </a:pPr>
            <a:r>
              <a:rPr lang="en" sz="1200" dirty="0">
                <a:solidFill>
                  <a:srgbClr val="1F2328"/>
                </a:solidFill>
              </a:rPr>
              <a:t>FND-EB48C68C: MOC policy published but not implemented since 2018 · L3 · rating 3</a:t>
            </a:r>
            <a:endParaRPr lang="en" sz="1200" dirty="0"/>
          </a:p>
          <a:p>
            <a:pPr>
              <a:spcAft>
                <a:spcPts val="0"/>
              </a:spcAft>
              <a:buNone/>
            </a:pPr>
            <a:r>
              <a:rPr lang="en" sz="1200" dirty="0">
                <a:solidFill>
                  <a:srgbClr val="1F2328"/>
                </a:solidFill>
              </a:rPr>
              <a:t>FND-EBB66554: Locally sourced O-ring substitution without specification, QC or recorded authority · L4 · rating 4</a:t>
            </a:r>
            <a:endParaRPr lang="en" sz="1200" dirty="0"/>
          </a:p>
          <a:p>
            <a:pPr>
              <a:spcAft>
                <a:spcPts val="0"/>
              </a:spcAft>
              <a:buNone/>
            </a:pPr>
            <a:r>
              <a:rPr lang="en" sz="1200" dirty="0">
                <a:solidFill>
                  <a:srgbClr val="1F2328"/>
                </a:solidFill>
              </a:rPr>
              <a:t>FND-F7FE8463: Management of Change policy not implemented since 2018, allowing unapproved material substitution · L4 · rating 4</a:t>
            </a:r>
            <a:endParaRPr lang="en" sz="1200" dirty="0"/>
          </a:p>
          <a:p>
            <a:pPr>
              <a:spcAft>
                <a:spcPts val="0"/>
              </a:spcAft>
              <a:buNone/>
            </a:pPr>
            <a:r>
              <a:rPr lang="en" sz="1200" dirty="0">
                <a:solidFill>
                  <a:srgbClr val="1F2328"/>
                </a:solidFill>
              </a:rPr>
              <a:t>FND-FA73D914: 36-inch pipeline pitting and 1.03 mm metal loss addressed by painting only · L4 · rating 3</a:t>
            </a:r>
            <a:endParaRPr lang="en" sz="1200" dirty="0"/>
          </a:p>
          <a:p>
            <a:pPr>
              <a:spcAft>
                <a:spcPts val="0"/>
              </a:spcAft>
              <a:buNone/>
            </a:pPr>
            <a:r>
              <a:rPr lang="en" sz="1200" dirty="0">
                <a:solidFill>
                  <a:srgbClr val="1F2328"/>
                </a:solidFill>
              </a:rPr>
              <a:t>FND-FD98468B: Undocumented calibration setpoint changes with no checklist on meter 310FT01 · L4 · rating 3</a:t>
            </a:r>
            <a:endParaRPr lang="en"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This pack cites 39 of 62 relevant findings.</a:t>
            </a:r>
            <a:endParaRPr lang="en" sz="1200" dirty="0"/>
          </a:p>
          <a:p>
            <a:pPr>
              <a:spcAft>
                <a:spcPts val="0"/>
              </a:spcAft>
              <a:buNone/>
            </a:pPr>
            <a:r>
              <a:rPr lang="en" sz="1200" dirty="0">
                <a:solidFill>
                  <a:srgbClr val="1F2328"/>
                </a:solidFill>
              </a:rPr>
              <a:t>25 of 35 top-rated relevant findings cited.</a:t>
            </a:r>
            <a:endParaRPr lang="en" sz="1200" dirty="0"/>
          </a:p>
          <a:p>
            <a:pPr>
              <a:spcAft>
                <a:spcPts val="0"/>
              </a:spcAft>
              <a:buNone/>
            </a:pPr>
            <a:r>
              <a:rPr lang="en" sz="1200" dirty="0">
                <a:solidFill>
                  <a:srgbClr val="1F2328"/>
                </a:solidFill>
              </a:rPr>
              <a:t>Learning purposes: not a statutory document. Draft learnings from a ProbeMatrix investigation export; validate them before adoption. · Learnings drafted by an AI agent from AI-assisted findings</a:t>
            </a:r>
            <a:endParaRPr lang="en" sz="1200" dirty="0"/>
          </a:p>
          <a:p>
            <a:pPr>
              <a:spcAft>
                <a:spcPts val="0"/>
              </a:spcAft>
              <a:buNone/>
            </a:pPr>
            <a:r>
              <a:rPr lang="en" sz="1200" dirty="0">
                <a:solidFill>
                  <a:srgbClr val="1F2328"/>
                </a:solidFill>
              </a:rPr>
              <a:t>Generated with ProbeMatrix Learnings Coach v2.0.0a8 (open source, MIT) from a ProbeMatrix four-level human-factors investigation. ProbeMatrix by Eyekyam: ashley@eyekyam.com</a:t>
            </a:r>
            <a:endParaRPr lang="en" sz="1200" dirty="0"/>
          </a:p>
          <a:p>
            <a:pPr>
              <a:spcAft>
                <a:spcPts val="0"/>
              </a:spcAft>
              <a:buNone/>
            </a:pPr>
            <a:endParaRPr lang="en" sz="1200" dirty="0"/>
          </a:p>
          <a:p>
            <a:pPr>
              <a:spcAft>
                <a:spcPts val="0"/>
              </a:spcAft>
              <a:buNone/>
            </a:pPr>
            <a:r>
              <a:rPr lang="en" sz="1200" dirty="0">
                <a:solidFill>
                  <a:srgbClr val="1F2328"/>
                </a:solidFill>
              </a:rPr>
              <a:t>Left out on purpose:</a:t>
            </a:r>
            <a:endParaRPr lang="en" sz="1200" dirty="0"/>
          </a:p>
          <a:p>
            <a:pPr>
              <a:spcAft>
                <a:spcPts val="0"/>
              </a:spcAft>
              <a:buNone/>
            </a:pPr>
            <a:r>
              <a:rPr lang="en" sz="1200" dirty="0">
                <a:solidFill>
                  <a:srgbClr val="1F2328"/>
                </a:solidFill>
              </a:rPr>
              <a:t>- FND-44219027: Left out of the Learnings Register after a reviewer downgrade vote; the vote is recorded in the register's source note, not in this export. Left out here for the same reason.</a:t>
            </a:r>
            <a:endParaRPr lang="en" sz="1200" dirty="0"/>
          </a:p>
          <a:p>
            <a:pPr>
              <a:spcAft>
                <a:spcPts val="0"/>
              </a:spcAft>
              <a:buNone/>
            </a:pPr>
            <a:endParaRPr lang="en" sz="1200" dirty="0"/>
          </a:p>
          <a:p>
            <a:pPr>
              <a:spcAft>
                <a:spcPts val="0"/>
              </a:spcAft>
              <a:buNone/>
            </a:pPr>
            <a:r>
              <a:rPr lang="en" sz="1200" dirty="0">
                <a:solidFill>
                  <a:srgbClr val="1F2328"/>
                </a:solidFill>
              </a:rPr>
              <a:t>Gaps in the evidence:</a:t>
            </a:r>
            <a:endParaRPr lang="en" sz="1200" dirty="0"/>
          </a:p>
          <a:p>
            <a:pPr>
              <a:spcAft>
                <a:spcPts val="0"/>
              </a:spcAft>
              <a:buNone/>
            </a:pPr>
            <a:r>
              <a:rPr lang="en" sz="1200" dirty="0">
                <a:solidFill>
                  <a:srgbClr val="1F2328"/>
                </a:solidFill>
              </a:rPr>
              <a:t>- [GAP] The export does not show whether the repeat seal failures, the 2017 thickness findings or the unused change procedure were ever reported to the site leadership team. [FND-1A251687; FND-0F19C9FC; FND-8083ECAC]</a:t>
            </a:r>
            <a:endParaRPr lang="en" sz="1200" dirty="0"/>
          </a:p>
          <a:p>
            <a:pPr>
              <a:spcAft>
                <a:spcPts val="0"/>
              </a:spcAft>
              <a:buNone/>
            </a:pPr>
            <a:r>
              <a:rPr lang="en" sz="1200" dirty="0">
                <a:solidFill>
                  <a:srgbClr val="1F2328"/>
                </a:solidFill>
              </a:rPr>
              <a:t>  Evidence needed: Site leadership meeting minutes and management-review records for 2018 to 2020.</a:t>
            </a:r>
            <a:endParaRPr lang="en" sz="1200" dirty="0"/>
          </a:p>
          <a:p>
            <a:pPr>
              <a:spcAft>
                <a:spcPts val="0"/>
              </a:spcAft>
              <a:buNone/>
            </a:pPr>
            <a:endParaRPr lang="en" sz="1200" dirty="0"/>
          </a:p>
          <a:p>
            <a:pPr>
              <a:spcAft>
                <a:spcPts val="0"/>
              </a:spcAft>
              <a:buNone/>
            </a:pPr>
            <a:r>
              <a:rPr lang="en" sz="1200" dirty="0">
                <a:solidFill>
                  <a:srgbClr val="1F2328"/>
                </a:solidFill>
              </a:rPr>
              <a:t>Limits of this pack:</a:t>
            </a:r>
            <a:endParaRPr lang="en" sz="1200" dirty="0"/>
          </a:p>
          <a:p>
            <a:pPr>
              <a:spcAft>
                <a:spcPts val="0"/>
              </a:spcAft>
              <a:buNone/>
            </a:pPr>
            <a:r>
              <a:rPr lang="en" sz="1200" dirty="0">
                <a:solidFill>
                  <a:srgbClr val="1F2328"/>
                </a:solidFill>
              </a:rPr>
              <a:t>- A management-review input table is not included; add it when the debrief feeds a management review.</a:t>
            </a:r>
            <a:endParaRPr lang="en" sz="1200" dirty="0"/>
          </a:p>
          <a:p>
            <a:pPr>
              <a:spcAft>
                <a:spcPts val="0"/>
              </a:spcAft>
              <a:buNone/>
            </a:pPr>
            <a:r>
              <a:rPr lang="en" sz="1200" dirty="0">
                <a:solidFill>
                  <a:srgbClr val="1F2328"/>
                </a:solidFill>
              </a:rPr>
              <a:t>- The analysis is a desk review of the published enquiry report; it had no site access or interviews.</a:t>
            </a:r>
            <a:endParaRPr lang="en" sz="1200" dirty="0"/>
          </a:p>
          <a:p>
            <a:pPr>
              <a:spcAft>
                <a:spcPts val="0"/>
              </a:spcAft>
              <a:buNone/>
            </a:pPr>
            <a:r>
              <a:rPr lang="en" sz="1200" dirty="0">
                <a:solidFill>
                  <a:srgbClr val="1F2328"/>
                </a:solidFill>
              </a:rPr>
              <a:t>- Site authority limits are not in the export; decisions marked 'Needs corporate decision' assume capital above them.</a:t>
            </a:r>
            <a:endParaRPr lang="e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marL="0" algn="l" defTabSz="914400" eaLnBrk="1" hangingPunct="1">
        <a:defRPr sz="3200" kern="1200">
          <a:solidFill>
            <a:schemeClr val="tx1"/>
          </a:solidFill>
          <a:latin typeface="+mn-lt"/>
          <a:ea typeface="+mn-ea"/>
          <a:cs typeface="+mn-cs"/>
        </a:defRPr>
      </a:lvl1pPr>
    </p:titleStyle>
    <p:bodyStyle>
      <a:lvl1pPr marL="0" algn="l" defTabSz="914400" eaLnBrk="1" hangingPunct="1">
        <a:defRPr sz="1800" kern="1200">
          <a:solidFill>
            <a:schemeClr val="tx1"/>
          </a:solidFill>
          <a:latin typeface="+mn-lt"/>
          <a:ea typeface="+mn-ea"/>
          <a:cs typeface="+mn-cs"/>
        </a:defRPr>
      </a:lvl1pPr>
    </p:bodyStyle>
    <p:otherStyle>
      <a:lvl1pPr marL="0" algn="l" defTabSz="914400" eaLnBrk="1" hangingPunct="1">
        <a:defRPr sz="1800" kern="1200">
          <a:solidFill>
            <a:schemeClr val="tx1"/>
          </a:solidFill>
          <a:latin typeface="+mn-lt"/>
          <a:ea typeface="+mn-ea"/>
          <a:cs typeface="+mn-cs"/>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1188720"/>
            <a:ext cx="11277600" cy="1554480"/>
          </a:xfrm>
          <a:prstGeom prst="rect">
            <a:avLst/>
          </a:prstGeom>
          <a:noFill/>
          <a:ln>
            <a:noFill/>
          </a:ln>
        </p:spPr>
        <p:txBody>
          <a:bodyPr wrap="square" lIns="91440" tIns="45720" rIns="91440" bIns="45720" anchor="b" rtlCol="0">
            <a:normAutofit/>
          </a:bodyPr>
          <a:lstStyle/>
          <a:p>
            <a:pPr algn="ctr">
              <a:spcAft>
                <a:spcPts val="0"/>
              </a:spcAft>
              <a:buNone/>
            </a:pPr>
            <a:r>
              <a:rPr lang="en" sz="4000" b="1" dirty="0">
                <a:solidFill>
                  <a:srgbClr val="0077B6"/>
                </a:solidFill>
              </a:rPr>
              <a:t>Site Leadership Coach: Hazira gas terminal release and fire, 2020</a:t>
            </a:r>
            <a:endParaRPr lang="en" sz="4000" dirty="0"/>
          </a:p>
        </p:txBody>
      </p:sp>
      <p:sp>
        <p:nvSpPr>
          <p:cNvPr id="3" name="Body"/>
          <p:cNvSpPr txBox="1"/>
          <p:nvPr/>
        </p:nvSpPr>
        <p:spPr>
          <a:xfrm>
            <a:off x="457200" y="2834640"/>
            <a:ext cx="11277600" cy="3246120"/>
          </a:xfrm>
          <a:prstGeom prst="rect">
            <a:avLst/>
          </a:prstGeom>
          <a:noFill/>
          <a:ln>
            <a:noFill/>
          </a:ln>
        </p:spPr>
        <p:txBody>
          <a:bodyPr wrap="square" lIns="91440" tIns="45720" rIns="91440" bIns="45720" anchor="t" rtlCol="0">
            <a:normAutofit/>
          </a:bodyPr>
          <a:lstStyle/>
          <a:p>
            <a:pPr>
              <a:spcAft>
                <a:spcPts val="600"/>
              </a:spcAft>
              <a:buNone/>
            </a:pPr>
            <a:r>
              <a:rPr lang="en" sz="1800" dirty="0">
                <a:solidFill>
                  <a:srgbClr val="1F2328"/>
                </a:solidFill>
              </a:rPr>
              <a:t>Audience: T4 plant and asset leadership: the site leadership team</a:t>
            </a:r>
            <a:endParaRPr lang="en" sz="1800" dirty="0"/>
          </a:p>
          <a:p>
            <a:pPr>
              <a:spcAft>
                <a:spcPts val="600"/>
              </a:spcAft>
              <a:buNone/>
            </a:pPr>
            <a:r>
              <a:rPr lang="en" sz="1800" dirty="0">
                <a:solidFill>
                  <a:srgbClr val="1F2328"/>
                </a:solidFill>
              </a:rPr>
              <a:t>Incident: Hazira 2020 · 2020-09-24</a:t>
            </a:r>
            <a:endParaRPr lang="en" sz="1800" dirty="0"/>
          </a:p>
          <a:p>
            <a:pPr>
              <a:spcAft>
                <a:spcPts val="300"/>
              </a:spcAft>
              <a:buNone/>
            </a:pPr>
            <a:r>
              <a:rPr lang="en" sz="1400" dirty="0">
                <a:solidFill>
                  <a:srgbClr val="57606A"/>
                </a:solidFill>
              </a:rPr>
              <a:t>Learning purposes: not a statutory document. Draft learnings from a ProbeMatrix investigation export; validate them before adoption. · Learnings drafted by an AI agent from AI-assisted findings</a:t>
            </a:r>
            <a:endParaRPr lang="en" sz="1400" dirty="0"/>
          </a:p>
          <a:p>
            <a:pPr>
              <a:spcAft>
                <a:spcPts val="300"/>
              </a:spcAft>
              <a:buNone/>
            </a:pPr>
            <a:r>
              <a:rPr lang="en" sz="1400" dirty="0">
                <a:solidFill>
                  <a:srgbClr val="57606A"/>
                </a:solidFill>
              </a:rPr>
              <a:t>DRAFT</a:t>
            </a:r>
            <a:endParaRPr lang="en" sz="1400" dirty="0"/>
          </a:p>
          <a:p>
            <a:pPr>
              <a:spcAft>
                <a:spcPts val="300"/>
              </a:spcAft>
              <a:buNone/>
            </a:pPr>
            <a:r>
              <a:rPr lang="en" sz="1400" dirty="0">
                <a:solidFill>
                  <a:srgbClr val="57606A"/>
                </a:solidFill>
              </a:rPr>
              <a:t>Review: draft · Classification: internal · Version 1.0</a:t>
            </a:r>
            <a:endParaRPr lang="en" sz="1400" dirty="0"/>
          </a:p>
          <a:p>
            <a:pPr>
              <a:spcAft>
                <a:spcPts val="300"/>
              </a:spcAft>
              <a:buNone/>
            </a:pPr>
            <a:r>
              <a:rPr lang="en" sz="1400" dirty="0">
                <a:solidFill>
                  <a:srgbClr val="57606A"/>
                </a:solidFill>
              </a:rPr>
              <a:t>Draft because: the investigation status is in progress; no finding is marked as edited by a person</a:t>
            </a:r>
            <a:endParaRPr lang="en" sz="14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Bottom line 1/4</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200"/>
              </a:spcAft>
              <a:buNone/>
            </a:pPr>
            <a:r>
              <a:rPr lang="en" sz="2800" dirty="0">
                <a:solidFill>
                  <a:srgbClr val="1F2328"/>
                </a:solidFill>
              </a:rPr>
              <a:t>The emergency plan gave the night shift no isolation criteria and no standing authority below the plant manager, so the decision to isolate travelled up a chain of phone calls while the cloud grew.</a:t>
            </a:r>
            <a:endParaRPr lang="en" sz="2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Bottom line 2/4</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200"/>
              </a:spcAft>
              <a:buNone/>
            </a:pPr>
            <a:r>
              <a:rPr lang="en" sz="2800" dirty="0">
                <a:solidFill>
                  <a:srgbClr val="1F2328"/>
                </a:solidFill>
              </a:rPr>
              <a:t>Isolation and detection were set up so that someone had to reach the release: valves closed only by hand at the valve, and detection that only displayed an alarm.</a:t>
            </a:r>
            <a:endParaRPr lang="en" sz="2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Bottom line 3/4</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200"/>
              </a:spcAft>
              <a:buNone/>
            </a:pPr>
            <a:r>
              <a:rPr lang="en" sz="2800" dirty="0">
                <a:solidFill>
                  <a:srgbClr val="1F2328"/>
                </a:solidFill>
              </a:rPr>
              <a:t>Workarounds became normal because nothing on site stopped them: a substitute seal used as regular practice, return to service at operating pressure only, and electrical fittings repaired only on breakdown.</a:t>
            </a:r>
            <a:endParaRPr lang="en" sz="2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Bottom line 4/4</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200"/>
              </a:spcAft>
              <a:buNone/>
            </a:pPr>
            <a:r>
              <a:rPr lang="en" sz="2800" dirty="0">
                <a:solidFill>
                  <a:srgbClr val="1F2328"/>
                </a:solidFill>
              </a:rPr>
              <a:t>Warnings were on record for years (repeat seal changes, pipe-wall loss, an unused change procedure), and none reached a leadership decision that changed the plant.</a:t>
            </a:r>
            <a:endParaRPr lang="en" sz="2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000"/>
              </a:spcAft>
              <a:buNone/>
            </a:pPr>
            <a:r>
              <a:rPr lang="en" sz="2400" b="1" dirty="0">
                <a:solidFill>
                  <a:srgbClr val="1F2328"/>
                </a:solidFill>
              </a:rPr>
              <a:t>Give shift crews standing written authority to isolate and shut down on criteria written into the emergency plan</a:t>
            </a:r>
            <a:endParaRPr lang="en" sz="2400" dirty="0"/>
          </a:p>
          <a:p>
            <a:pPr>
              <a:spcAft>
                <a:spcPts val="600"/>
              </a:spcAft>
              <a:buNone/>
            </a:pPr>
            <a:r>
              <a:rPr lang="en" sz="1800" dirty="0">
                <a:solidFill>
                  <a:srgbClr val="1F2328"/>
                </a:solidFill>
              </a:rPr>
              <a:t>Options:</a:t>
            </a:r>
            <a:endParaRPr lang="en" sz="1800" dirty="0"/>
          </a:p>
          <a:p>
            <a:pPr marL="342900" indent="-342900">
              <a:spcAft>
                <a:spcPts val="600"/>
              </a:spcAft>
              <a:buFont typeface="Arial"/>
              <a:buChar char="•"/>
            </a:pPr>
            <a:r>
              <a:rPr lang="en" sz="1800" dirty="0">
                <a:solidFill>
                  <a:srgbClr val="1F2328"/>
                </a:solidFill>
              </a:rPr>
              <a:t>Shift in-charge isolates on defined criteria and reports afterwards</a:t>
            </a:r>
            <a:endParaRPr lang="en" sz="1800" dirty="0"/>
          </a:p>
          <a:p>
            <a:pPr marL="342900" indent="-342900">
              <a:spcAft>
                <a:spcPts val="600"/>
              </a:spcAft>
              <a:buFont typeface="Arial"/>
              <a:buChar char="•"/>
            </a:pPr>
            <a:r>
              <a:rPr lang="en" sz="1800" dirty="0">
                <a:solidFill>
                  <a:srgbClr val="1F2328"/>
                </a:solidFill>
              </a:rPr>
              <a:t>Control-room operator isolates on a confirmed release, shift in-charge confirms</a:t>
            </a:r>
            <a:endParaRPr lang="en" sz="1800" dirty="0"/>
          </a:p>
          <a:p>
            <a:pPr>
              <a:spcAft>
                <a:spcPts val="600"/>
              </a:spcAft>
              <a:buNone/>
            </a:pPr>
            <a:r>
              <a:rPr lang="en" sz="1800" dirty="0">
                <a:solidFill>
                  <a:srgbClr val="1F2328"/>
                </a:solidFill>
              </a:rPr>
              <a:t>Trade-offs: Delegation removes the escalation delay but means accepting some isolations that later prove unnecessary, with lost production; the leadership team has to back crews who isolate in good faith.</a:t>
            </a:r>
            <a:endParaRPr lang="en" sz="1800" dirty="0"/>
          </a:p>
          <a:p>
            <a:pPr>
              <a:spcAft>
                <a:spcPts val="600"/>
              </a:spcAft>
              <a:buNone/>
            </a:pPr>
            <a:r>
              <a:rPr lang="en" sz="1800" dirty="0">
                <a:solidFill>
                  <a:srgbClr val="1F2328"/>
                </a:solidFill>
              </a:rPr>
              <a:t>Owner: Operations function</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000"/>
              </a:spcAft>
              <a:buNone/>
            </a:pPr>
            <a:r>
              <a:rPr lang="en" sz="2400" b="1" dirty="0">
                <a:solidFill>
                  <a:srgbClr val="1F2328"/>
                </a:solidFill>
              </a:rPr>
              <a:t>Needs corporate decision: fund remote operation of the emergency isolation valves for inventories that can form a large vapour cloud</a:t>
            </a:r>
            <a:endParaRPr lang="en" sz="2400" dirty="0"/>
          </a:p>
          <a:p>
            <a:pPr>
              <a:spcAft>
                <a:spcPts val="600"/>
              </a:spcAft>
              <a:buNone/>
            </a:pPr>
            <a:r>
              <a:rPr lang="en" sz="1800" dirty="0">
                <a:solidFill>
                  <a:srgbClr val="1F2328"/>
                </a:solidFill>
              </a:rPr>
              <a:t>Options:</a:t>
            </a:r>
            <a:endParaRPr lang="en" sz="1800" dirty="0"/>
          </a:p>
          <a:p>
            <a:pPr marL="342900" indent="-342900">
              <a:spcAft>
                <a:spcPts val="600"/>
              </a:spcAft>
              <a:buFont typeface="Arial"/>
              <a:buChar char="•"/>
            </a:pPr>
            <a:r>
              <a:rPr lang="en" sz="1800" dirty="0">
                <a:solidFill>
                  <a:srgbClr val="1F2328"/>
                </a:solidFill>
              </a:rPr>
              <a:t>Remote operation from the control room</a:t>
            </a:r>
            <a:endParaRPr lang="en" sz="1800" dirty="0"/>
          </a:p>
          <a:p>
            <a:pPr marL="342900" indent="-342900">
              <a:spcAft>
                <a:spcPts val="600"/>
              </a:spcAft>
              <a:buFont typeface="Arial"/>
              <a:buChar char="•"/>
            </a:pPr>
            <a:r>
              <a:rPr lang="en" sz="1800" dirty="0">
                <a:solidFill>
                  <a:srgbClr val="1F2328"/>
                </a:solidFill>
              </a:rPr>
              <a:t>Automatic closure on confirmed gas detection where justified</a:t>
            </a:r>
            <a:endParaRPr lang="en" sz="1800" dirty="0"/>
          </a:p>
          <a:p>
            <a:pPr>
              <a:spcAft>
                <a:spcPts val="600"/>
              </a:spcAft>
              <a:buNone/>
            </a:pPr>
            <a:r>
              <a:rPr lang="en" sz="1800" dirty="0">
                <a:solidFill>
                  <a:srgbClr val="1F2328"/>
                </a:solidFill>
              </a:rPr>
              <a:t>Trade-offs: Remote operation is likely to need capital and a shutdown window; without it, isolation still depends on reaching the valve through the release.</a:t>
            </a:r>
            <a:endParaRPr lang="en" sz="1800" dirty="0"/>
          </a:p>
          <a:p>
            <a:pPr>
              <a:spcAft>
                <a:spcPts val="600"/>
              </a:spcAft>
              <a:buNone/>
            </a:pPr>
            <a:r>
              <a:rPr lang="en" sz="1800" dirty="0">
                <a:solidFill>
                  <a:srgbClr val="1F2328"/>
                </a:solidFill>
              </a:rPr>
              <a:t>Owner: Engineering function</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000"/>
              </a:spcAft>
              <a:buNone/>
            </a:pPr>
            <a:r>
              <a:rPr lang="en" sz="2400" b="1" dirty="0">
                <a:solidFill>
                  <a:srgbClr val="1F2328"/>
                </a:solidFill>
              </a:rPr>
              <a:t>Needs corporate decision: approve fire and gas voting logic with automatic executive action for major-release areas</a:t>
            </a:r>
            <a:endParaRPr lang="en" sz="2400" dirty="0"/>
          </a:p>
          <a:p>
            <a:pPr>
              <a:spcAft>
                <a:spcPts val="600"/>
              </a:spcAft>
              <a:buNone/>
            </a:pPr>
            <a:r>
              <a:rPr lang="en" sz="1800" dirty="0">
                <a:solidFill>
                  <a:srgbClr val="1F2328"/>
                </a:solidFill>
              </a:rPr>
              <a:t>Options:</a:t>
            </a:r>
            <a:endParaRPr lang="en" sz="1800" dirty="0"/>
          </a:p>
          <a:p>
            <a:pPr marL="342900" indent="-342900">
              <a:spcAft>
                <a:spcPts val="600"/>
              </a:spcAft>
              <a:buFont typeface="Arial"/>
              <a:buChar char="•"/>
            </a:pPr>
            <a:r>
              <a:rPr lang="en" sz="1800" dirty="0">
                <a:solidFill>
                  <a:srgbClr val="1F2328"/>
                </a:solidFill>
              </a:rPr>
              <a:t>Automatic shutdown and protection on confirmed detection</a:t>
            </a:r>
            <a:endParaRPr lang="en" sz="1800" dirty="0"/>
          </a:p>
          <a:p>
            <a:pPr marL="342900" indent="-342900">
              <a:spcAft>
                <a:spcPts val="600"/>
              </a:spcAft>
              <a:buFont typeface="Arial"/>
              <a:buChar char="•"/>
            </a:pPr>
            <a:r>
              <a:rPr lang="en" sz="1800" dirty="0">
                <a:solidFill>
                  <a:srgbClr val="1F2328"/>
                </a:solidFill>
              </a:rPr>
              <a:t>Alarm with a timed operator action, backed by automatic action</a:t>
            </a:r>
            <a:endParaRPr lang="en" sz="1800" dirty="0"/>
          </a:p>
          <a:p>
            <a:pPr>
              <a:spcAft>
                <a:spcPts val="600"/>
              </a:spcAft>
              <a:buNone/>
            </a:pPr>
            <a:r>
              <a:rPr lang="en" sz="1800" dirty="0">
                <a:solidFill>
                  <a:srgbClr val="1F2328"/>
                </a:solidFill>
              </a:rPr>
              <a:t>Trade-offs: Automatic action brings spurious-trip risk and engineering cost; display-only detection left the response to a manual chain.</a:t>
            </a:r>
            <a:endParaRPr lang="en" sz="1800" dirty="0"/>
          </a:p>
          <a:p>
            <a:pPr>
              <a:spcAft>
                <a:spcPts val="600"/>
              </a:spcAft>
              <a:buNone/>
            </a:pPr>
            <a:r>
              <a:rPr lang="en" sz="1800" dirty="0">
                <a:solidFill>
                  <a:srgbClr val="1F2328"/>
                </a:solidFill>
              </a:rPr>
              <a:t>Owner: Engineering function</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000"/>
              </a:spcAft>
              <a:buNone/>
            </a:pPr>
            <a:r>
              <a:rPr lang="en" sz="2400" b="1" dirty="0">
                <a:solidFill>
                  <a:srgbClr val="1F2328"/>
                </a:solidFill>
              </a:rPr>
              <a:t>Give one function ownership of pressure-part specifications and of approving any substitute part</a:t>
            </a:r>
            <a:endParaRPr lang="en" sz="2400" dirty="0"/>
          </a:p>
          <a:p>
            <a:pPr>
              <a:spcAft>
                <a:spcPts val="600"/>
              </a:spcAft>
              <a:buNone/>
            </a:pPr>
            <a:r>
              <a:rPr lang="en" sz="1800" dirty="0">
                <a:solidFill>
                  <a:srgbClr val="1F2328"/>
                </a:solidFill>
              </a:rPr>
              <a:t>Options:</a:t>
            </a:r>
            <a:endParaRPr lang="en" sz="1800" dirty="0"/>
          </a:p>
          <a:p>
            <a:pPr marL="342900" indent="-342900">
              <a:spcAft>
                <a:spcPts val="600"/>
              </a:spcAft>
              <a:buFont typeface="Arial"/>
              <a:buChar char="•"/>
            </a:pPr>
            <a:r>
              <a:rPr lang="en" sz="1800" dirty="0">
                <a:solidFill>
                  <a:srgbClr val="1F2328"/>
                </a:solidFill>
              </a:rPr>
              <a:t>Engineering function owns specifications; stores issue only against them</a:t>
            </a:r>
            <a:endParaRPr lang="en" sz="1800" dirty="0"/>
          </a:p>
          <a:p>
            <a:pPr marL="342900" indent="-342900">
              <a:spcAft>
                <a:spcPts val="600"/>
              </a:spcAft>
              <a:buFont typeface="Arial"/>
              <a:buChar char="•"/>
            </a:pPr>
            <a:r>
              <a:rPr lang="en" sz="1800" dirty="0">
                <a:solidFill>
                  <a:srgbClr val="1F2328"/>
                </a:solidFill>
              </a:rPr>
              <a:t>Maintenance function owns them with engineering approval of substitutes</a:t>
            </a:r>
            <a:endParaRPr lang="en" sz="1800" dirty="0"/>
          </a:p>
          <a:p>
            <a:pPr>
              <a:spcAft>
                <a:spcPts val="600"/>
              </a:spcAft>
              <a:buNone/>
            </a:pPr>
            <a:r>
              <a:rPr lang="en" sz="1800" dirty="0">
                <a:solidFill>
                  <a:srgbClr val="1F2328"/>
                </a:solidFill>
              </a:rPr>
              <a:t>Trade-offs: One owner in engineering separates the person fitting the part from the person approving it, at the cost of an extra step for urgent repairs.</a:t>
            </a:r>
            <a:endParaRPr lang="en" sz="1800" dirty="0"/>
          </a:p>
          <a:p>
            <a:pPr>
              <a:spcAft>
                <a:spcPts val="600"/>
              </a:spcAft>
              <a:buNone/>
            </a:pPr>
            <a:r>
              <a:rPr lang="en" sz="1800" dirty="0">
                <a:solidFill>
                  <a:srgbClr val="1F2328"/>
                </a:solidFill>
              </a:rPr>
              <a:t>Owner: Engineering function</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000"/>
              </a:spcAft>
              <a:buNone/>
            </a:pPr>
            <a:r>
              <a:rPr lang="en" sz="2400" b="1" dirty="0">
                <a:solidFill>
                  <a:srgbClr val="1F2328"/>
                </a:solidFill>
              </a:rPr>
              <a:t>Treat return to service after pressure-boundary work as a hold point that operations accepts in writing against a test record</a:t>
            </a:r>
            <a:endParaRPr lang="en" sz="2400" dirty="0"/>
          </a:p>
          <a:p>
            <a:pPr>
              <a:spcAft>
                <a:spcPts val="600"/>
              </a:spcAft>
              <a:buNone/>
            </a:pPr>
            <a:r>
              <a:rPr lang="en" sz="1800" dirty="0">
                <a:solidFill>
                  <a:srgbClr val="1F2328"/>
                </a:solidFill>
              </a:rPr>
              <a:t>Options:</a:t>
            </a:r>
            <a:endParaRPr lang="en" sz="1800" dirty="0"/>
          </a:p>
          <a:p>
            <a:pPr marL="342900" indent="-342900">
              <a:spcAft>
                <a:spcPts val="600"/>
              </a:spcAft>
              <a:buFont typeface="Arial"/>
              <a:buChar char="•"/>
            </a:pPr>
            <a:r>
              <a:rPr lang="en" sz="1800" dirty="0">
                <a:solidFill>
                  <a:srgbClr val="1F2328"/>
                </a:solidFill>
              </a:rPr>
              <a:t>Hold point with a design-pressure test record</a:t>
            </a:r>
            <a:endParaRPr lang="en" sz="1800" dirty="0"/>
          </a:p>
          <a:p>
            <a:pPr marL="342900" indent="-342900">
              <a:spcAft>
                <a:spcPts val="600"/>
              </a:spcAft>
              <a:buFont typeface="Arial"/>
              <a:buChar char="•"/>
            </a:pPr>
            <a:r>
              <a:rPr lang="en" sz="1800" dirty="0">
                <a:solidFill>
                  <a:srgbClr val="1F2328"/>
                </a:solidFill>
              </a:rPr>
              <a:t>Hold point with an engineering-approved alternative test</a:t>
            </a:r>
            <a:endParaRPr lang="en" sz="1800" dirty="0"/>
          </a:p>
          <a:p>
            <a:pPr>
              <a:spcAft>
                <a:spcPts val="600"/>
              </a:spcAft>
              <a:buNone/>
            </a:pPr>
            <a:r>
              <a:rPr lang="en" sz="1800" dirty="0">
                <a:solidFill>
                  <a:srgbClr val="1F2328"/>
                </a:solidFill>
              </a:rPr>
              <a:t>Trade-offs: A hold point adds time before restart; without it the meter went back online after an operating-pressure soak only.</a:t>
            </a:r>
            <a:endParaRPr lang="en" sz="1800" dirty="0"/>
          </a:p>
          <a:p>
            <a:pPr>
              <a:spcAft>
                <a:spcPts val="600"/>
              </a:spcAft>
              <a:buNone/>
            </a:pPr>
            <a:r>
              <a:rPr lang="en" sz="1800" dirty="0">
                <a:solidFill>
                  <a:srgbClr val="1F2328"/>
                </a:solidFill>
              </a:rPr>
              <a:t>Owner: Operations function</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000"/>
              </a:spcAft>
              <a:buNone/>
            </a:pPr>
            <a:r>
              <a:rPr lang="en" sz="2400" b="1" dirty="0">
                <a:solidFill>
                  <a:srgbClr val="1F2328"/>
                </a:solidFill>
              </a:rPr>
              <a:t>Fund replacement of old HPMV fittings in zoned areas with certified fittings, and move their maintenance from breakdown to planned inspection</a:t>
            </a:r>
            <a:endParaRPr lang="en" sz="2400" dirty="0"/>
          </a:p>
          <a:p>
            <a:pPr>
              <a:spcAft>
                <a:spcPts val="600"/>
              </a:spcAft>
              <a:buNone/>
            </a:pPr>
            <a:r>
              <a:rPr lang="en" sz="1800" dirty="0">
                <a:solidFill>
                  <a:srgbClr val="1F2328"/>
                </a:solidFill>
              </a:rPr>
              <a:t>Options:</a:t>
            </a:r>
            <a:endParaRPr lang="en" sz="1800" dirty="0"/>
          </a:p>
          <a:p>
            <a:pPr marL="342900" indent="-342900">
              <a:spcAft>
                <a:spcPts val="600"/>
              </a:spcAft>
              <a:buFont typeface="Arial"/>
              <a:buChar char="•"/>
            </a:pPr>
            <a:r>
              <a:rPr lang="en" sz="1800" dirty="0">
                <a:solidFill>
                  <a:srgbClr val="1F2328"/>
                </a:solidFill>
              </a:rPr>
              <a:t>Replace all fittings in the zoned areas in one programme</a:t>
            </a:r>
            <a:endParaRPr lang="en" sz="1800" dirty="0"/>
          </a:p>
          <a:p>
            <a:pPr marL="342900" indent="-342900">
              <a:spcAft>
                <a:spcPts val="600"/>
              </a:spcAft>
              <a:buFont typeface="Arial"/>
              <a:buChar char="•"/>
            </a:pPr>
            <a:r>
              <a:rPr lang="en" sz="1800" dirty="0">
                <a:solidFill>
                  <a:srgbClr val="1F2328"/>
                </a:solidFill>
              </a:rPr>
              <a:t>Inspect all now and replace on condition</a:t>
            </a:r>
            <a:endParaRPr lang="en" sz="1800" dirty="0"/>
          </a:p>
          <a:p>
            <a:pPr>
              <a:spcAft>
                <a:spcPts val="600"/>
              </a:spcAft>
              <a:buNone/>
            </a:pPr>
            <a:r>
              <a:rPr lang="en" sz="1800" dirty="0">
                <a:solidFill>
                  <a:srgbClr val="1F2328"/>
                </a:solidFill>
              </a:rPr>
              <a:t>Trade-offs: Full replacement costs more at once; inspect-and-replace leaves old fittings in service longer but finds the worst first.</a:t>
            </a:r>
            <a:endParaRPr lang="en" sz="1800" dirty="0"/>
          </a:p>
          <a:p>
            <a:pPr>
              <a:spcAft>
                <a:spcPts val="600"/>
              </a:spcAft>
              <a:buNone/>
            </a:pPr>
            <a:r>
              <a:rPr lang="en" sz="1800" dirty="0">
                <a:solidFill>
                  <a:srgbClr val="1F2328"/>
                </a:solidFill>
              </a:rPr>
              <a:t>Owner: Maintenance function</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1000"/>
              </a:spcAft>
              <a:buNone/>
            </a:pPr>
            <a:r>
              <a:rPr lang="en" sz="2400" b="1" dirty="0">
                <a:solidFill>
                  <a:srgbClr val="1F2328"/>
                </a:solidFill>
              </a:rPr>
              <a:t>Allow no extension of a safety recommendation without the documented approval the procedure requires, and review overdue items monthly</a:t>
            </a:r>
            <a:endParaRPr lang="en" sz="2400" dirty="0"/>
          </a:p>
          <a:p>
            <a:pPr>
              <a:spcAft>
                <a:spcPts val="600"/>
              </a:spcAft>
              <a:buNone/>
            </a:pPr>
            <a:r>
              <a:rPr lang="en" sz="1800" dirty="0">
                <a:solidFill>
                  <a:srgbClr val="1F2328"/>
                </a:solidFill>
              </a:rPr>
              <a:t>Options:</a:t>
            </a:r>
            <a:endParaRPr lang="en" sz="1800" dirty="0"/>
          </a:p>
          <a:p>
            <a:pPr marL="342900" indent="-342900">
              <a:spcAft>
                <a:spcPts val="600"/>
              </a:spcAft>
              <a:buFont typeface="Arial"/>
              <a:buChar char="•"/>
            </a:pPr>
            <a:r>
              <a:rPr lang="en" sz="1800" dirty="0">
                <a:solidFill>
                  <a:srgbClr val="1F2328"/>
                </a:solidFill>
              </a:rPr>
              <a:t>Monthly review by the leadership team</a:t>
            </a:r>
            <a:endParaRPr lang="en" sz="1800" dirty="0"/>
          </a:p>
          <a:p>
            <a:pPr marL="342900" indent="-342900">
              <a:spcAft>
                <a:spcPts val="600"/>
              </a:spcAft>
              <a:buFont typeface="Arial"/>
              <a:buChar char="•"/>
            </a:pPr>
            <a:r>
              <a:rPr lang="en" sz="1800" dirty="0">
                <a:solidFill>
                  <a:srgbClr val="1F2328"/>
                </a:solidFill>
              </a:rPr>
              <a:t>Quarterly review with escalation of any unapproved extension</a:t>
            </a:r>
            <a:endParaRPr lang="en" sz="1800" dirty="0"/>
          </a:p>
          <a:p>
            <a:pPr>
              <a:spcAft>
                <a:spcPts val="600"/>
              </a:spcAft>
              <a:buNone/>
            </a:pPr>
            <a:r>
              <a:rPr lang="en" sz="1800" dirty="0">
                <a:solidFill>
                  <a:srgbClr val="1F2328"/>
                </a:solidFill>
              </a:rPr>
              <a:t>Trade-offs: A monthly review takes leadership time; the evidence shows extensions ran without the required approval.</a:t>
            </a:r>
            <a:endParaRPr lang="en" sz="1800" dirty="0"/>
          </a:p>
          <a:p>
            <a:pPr>
              <a:spcAft>
                <a:spcPts val="600"/>
              </a:spcAft>
              <a:buNone/>
            </a:pPr>
            <a:r>
              <a:rPr lang="en" sz="1800" dirty="0">
                <a:solidFill>
                  <a:srgbClr val="1F2328"/>
                </a:solidFill>
              </a:rPr>
              <a:t>Owner: HSE and process safety function</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How the site set this up</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The maintenance and spares programme, one of the two largest hubs in the causal links, did not supply a specification for the 1986 meter's gasket or a reliability review of…</a:t>
            </a:r>
            <a:endParaRPr lang="en" sz="1800" dirty="0"/>
          </a:p>
          <a:p>
            <a:pPr marL="342900" indent="-342900">
              <a:spcAft>
                <a:spcPts val="600"/>
              </a:spcAft>
              <a:buFont typeface="Arial"/>
              <a:buChar char="•"/>
            </a:pPr>
            <a:r>
              <a:rPr lang="en" sz="1800" dirty="0">
                <a:solidFill>
                  <a:srgbClr val="1F2328"/>
                </a:solidFill>
              </a:rPr>
              <a:t>A culture that allowed unsafe work and applied risk management unevenly leads to gaps in the guidance supervisors gave and to routine deviations at the job. The findings read…</a:t>
            </a:r>
            <a:endParaRPr lang="en" sz="1800" dirty="0"/>
          </a:p>
          <a:p>
            <a:pPr marL="342900" indent="-342900">
              <a:spcAft>
                <a:spcPts val="600"/>
              </a:spcAft>
              <a:buFont typeface="Arial"/>
              <a:buChar char="•"/>
            </a:pPr>
            <a:r>
              <a:rPr lang="en" sz="1800" dirty="0">
                <a:solidFill>
                  <a:srgbClr val="1F2328"/>
                </a:solidFill>
              </a:rPr>
              <a:t>Command and control resources and the timing of upgrades lead to equipment that was not set up for an emergency and to automation that was not provided. The isolation valves had…</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Signals that reached leadership</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Timeline: 10 entries</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Culture signals</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Fitting a locally bought O-ring to a rectangular-slot flange was described as regular practice, repeated across three replacements in about 22 months, with no specification…</a:t>
            </a:r>
            <a:endParaRPr lang="en" sz="1800" dirty="0"/>
          </a:p>
          <a:p>
            <a:pPr marL="342900" indent="-342900">
              <a:spcAft>
                <a:spcPts val="600"/>
              </a:spcAft>
              <a:buFont typeface="Arial"/>
              <a:buChar char="•"/>
            </a:pPr>
            <a:r>
              <a:rPr lang="en" sz="1800" dirty="0">
                <a:solidFill>
                  <a:srgbClr val="1F2328"/>
                </a:solidFill>
              </a:rPr>
              <a:t>Breakdown repair was the accepted approach for flameproof fittings in the Zone 1 area, and twelve external-audit recommendations ran on extended dates with no record of the…</a:t>
            </a:r>
            <a:endParaRPr lang="en" sz="1800" dirty="0"/>
          </a:p>
          <a:p>
            <a:pPr marL="342900" indent="-342900">
              <a:spcAft>
                <a:spcPts val="600"/>
              </a:spcAft>
              <a:buFont typeface="Arial"/>
              <a:buChar char="•"/>
            </a:pPr>
            <a:r>
              <a:rPr lang="en" sz="1800" dirty="0">
                <a:solidFill>
                  <a:srgbClr val="1F2328"/>
                </a:solidFill>
              </a:rPr>
              <a:t>The emergency structure ran as a serial chain: perimeter security, CCTV room, gas terminal control room, shift in-charge, overall shift in-charge, then plant leadership. No role…</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Time to isolation in drills</a:t>
            </a:r>
            <a:endParaRPr lang="en" sz="1800" dirty="0"/>
          </a:p>
          <a:p>
            <a:pPr marL="342900" indent="-342900">
              <a:spcAft>
                <a:spcPts val="600"/>
              </a:spcAft>
              <a:buFont typeface="Arial"/>
              <a:buChar char="•"/>
            </a:pPr>
            <a:r>
              <a:rPr lang="en" sz="1800" dirty="0">
                <a:solidFill>
                  <a:srgbClr val="1F2328"/>
                </a:solidFill>
              </a:rPr>
              <a:t>Remotely operable isolation</a:t>
            </a:r>
            <a:endParaRPr lang="en" sz="1800" dirty="0"/>
          </a:p>
          <a:p>
            <a:pPr marL="342900" indent="-342900">
              <a:spcAft>
                <a:spcPts val="600"/>
              </a:spcAft>
              <a:buFont typeface="Arial"/>
              <a:buChar char="•"/>
            </a:pPr>
            <a:r>
              <a:rPr lang="en" sz="1800" dirty="0">
                <a:solidFill>
                  <a:srgbClr val="1F2328"/>
                </a:solidFill>
              </a:rPr>
              <a:t>Detection with executive action</a:t>
            </a:r>
            <a:endParaRPr lang="en" sz="1800" dirty="0"/>
          </a:p>
          <a:p>
            <a:pPr marL="342900" indent="-342900">
              <a:spcAft>
                <a:spcPts val="600"/>
              </a:spcAft>
              <a:buFont typeface="Arial"/>
              <a:buChar char="•"/>
            </a:pPr>
            <a:r>
              <a:rPr lang="en" sz="1800" dirty="0">
                <a:solidFill>
                  <a:srgbClr val="1F2328"/>
                </a:solidFill>
              </a:rPr>
              <a:t>Parts issued against a specification</a:t>
            </a:r>
            <a:endParaRPr lang="en" sz="1800" dirty="0"/>
          </a:p>
          <a:p>
            <a:pPr marL="342900" indent="-342900">
              <a:spcAft>
                <a:spcPts val="600"/>
              </a:spcAft>
              <a:buFont typeface="Arial"/>
              <a:buChar char="•"/>
            </a:pPr>
            <a:r>
              <a:rPr lang="en" sz="1800" dirty="0">
                <a:solidFill>
                  <a:srgbClr val="1F2328"/>
                </a:solidFill>
              </a:rPr>
              <a:t>Restarts with a test record</a:t>
            </a:r>
            <a:endParaRPr lang="en" sz="1800" dirty="0"/>
          </a:p>
          <a:p>
            <a:pPr marL="342900" indent="-342900">
              <a:spcAft>
                <a:spcPts val="600"/>
              </a:spcAft>
              <a:buFont typeface="Arial"/>
              <a:buChar char="•"/>
            </a:pPr>
            <a:r>
              <a:rPr lang="en" sz="1800" dirty="0">
                <a:solidFill>
                  <a:srgbClr val="1F2328"/>
                </a:solidFill>
              </a:rPr>
              <a:t>Hazardous-area fittings inspected</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Decisions for the leadership team (continued)</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Extensions with recorded approval</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What leaders will do visibly</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Walk the metering area and the zoned lighting with the maintenance and electrical supervisors; ask to see the specification for one pressure seal and the inspection record for…</a:t>
            </a:r>
            <a:endParaRPr lang="en" sz="1800" dirty="0"/>
          </a:p>
          <a:p>
            <a:pPr marL="342900" indent="-342900">
              <a:spcAft>
                <a:spcPts val="600"/>
              </a:spcAft>
              <a:buFont typeface="Arial"/>
              <a:buChar char="•"/>
            </a:pPr>
            <a:r>
              <a:rPr lang="en" sz="1800" dirty="0">
                <a:solidFill>
                  <a:srgbClr val="1F2328"/>
                </a:solidFill>
              </a:rPr>
              <a:t>In every operations review, ask how many management-of-change records were raised this month and which field changes they cover.</a:t>
            </a:r>
            <a:endParaRPr lang="en" sz="1800" dirty="0"/>
          </a:p>
          <a:p>
            <a:pPr marL="342900" indent="-342900">
              <a:spcAft>
                <a:spcPts val="600"/>
              </a:spcAft>
              <a:buFont typeface="Arial"/>
              <a:buChar char="•"/>
            </a:pPr>
            <a:r>
              <a:rPr lang="en" sz="1800" dirty="0">
                <a:solidFill>
                  <a:srgbClr val="1F2328"/>
                </a:solidFill>
              </a:rPr>
              <a:t>Stop accepting a return to service after pressure-boundary work without a signed test record.</a:t>
            </a:r>
            <a:endParaRPr lang="en" sz="1800" dirty="0"/>
          </a:p>
          <a:p>
            <a:pPr marL="342900" indent="-342900">
              <a:spcAft>
                <a:spcPts val="600"/>
              </a:spcAft>
              <a:buFont typeface="Arial"/>
              <a:buChar char="•"/>
            </a:pPr>
            <a:r>
              <a:rPr lang="en" sz="1800" dirty="0">
                <a:solidFill>
                  <a:srgbClr val="1F2328"/>
                </a:solidFill>
              </a:rPr>
              <a:t>Stop accepting an extended safety recommendation without the approval the procedure requires.</a:t>
            </a:r>
            <a:endParaRPr lang="en" sz="1800" dirty="0"/>
          </a:p>
          <a:p>
            <a:pPr marL="342900" indent="-342900">
              <a:spcAft>
                <a:spcPts val="600"/>
              </a:spcAft>
              <a:buFont typeface="Arial"/>
              <a:buChar char="•"/>
            </a:pPr>
            <a:r>
              <a:rPr lang="en" sz="1800" dirty="0">
                <a:solidFill>
                  <a:srgbClr val="1F2328"/>
                </a:solidFill>
              </a:rPr>
              <a:t>Tell each shift, in person, that an isolation made in good faith on the plan's criteria will be backed, and attend the next emergency drill.</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Leadership workshop agenda (two hours)</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Table: Time, Activity, Built on</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How the site set this up</a:t>
            </a:r>
            <a:endParaRPr lang="en" sz="2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
        <p:nvSpPr>
          <p:cNvPr id="10" name="Node 1"/>
          <p:cNvSpPr/>
          <p:nvPr/>
        </p:nvSpPr>
        <p:spPr>
          <a:xfrm>
            <a:off x="3034712" y="1717347"/>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L4 OIR 1.6 Failure in Maintenance/ Spares/ Support Programme</a:t>
            </a:r>
            <a:endParaRPr lang="en" sz="750" dirty="0"/>
          </a:p>
        </p:txBody>
      </p:sp>
      <p:sp>
        <p:nvSpPr>
          <p:cNvPr id="11" name="Node 2"/>
          <p:cNvSpPr/>
          <p:nvPr/>
        </p:nvSpPr>
        <p:spPr>
          <a:xfrm>
            <a:off x="5276782" y="1717347"/>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L3 SVF 3.4 Failed to Mitigate/ Ineffective Action against Identified Risk</a:t>
            </a:r>
            <a:endParaRPr lang="en" sz="750" dirty="0"/>
          </a:p>
        </p:txBody>
      </p:sp>
      <p:sp>
        <p:nvSpPr>
          <p:cNvPr id="12" name="Node 3"/>
          <p:cNvSpPr/>
          <p:nvPr/>
        </p:nvSpPr>
        <p:spPr>
          <a:xfrm>
            <a:off x="5276782" y="2269241"/>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L3 SVV 4.1 Failure to Enforce Existing Rules (Supervisory act of Omission)</a:t>
            </a:r>
            <a:endParaRPr lang="en" sz="750" dirty="0"/>
          </a:p>
        </p:txBody>
      </p:sp>
      <p:sp>
        <p:nvSpPr>
          <p:cNvPr id="13" name="Node 4"/>
          <p:cNvSpPr/>
          <p:nvPr/>
        </p:nvSpPr>
        <p:spPr>
          <a:xfrm>
            <a:off x="3034712" y="2269241"/>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L3 SVI 1.1 Leadership/Supervisory Oversight Inadequate</a:t>
            </a:r>
            <a:endParaRPr lang="en" sz="750" dirty="0"/>
          </a:p>
        </p:txBody>
      </p:sp>
      <p:sp>
        <p:nvSpPr>
          <p:cNvPr id="14" name="Node 5"/>
          <p:cNvSpPr/>
          <p:nvPr/>
        </p:nvSpPr>
        <p:spPr>
          <a:xfrm>
            <a:off x="7518851" y="1717347"/>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L1 ASBE 1.2 Checklist Not Followed/Not Followed Correctly</a:t>
            </a:r>
            <a:endParaRPr lang="en" sz="750" dirty="0"/>
          </a:p>
        </p:txBody>
      </p:sp>
      <p:sp>
        <p:nvSpPr>
          <p:cNvPr id="15" name="Node 6"/>
          <p:cNvSpPr/>
          <p:nvPr/>
        </p:nvSpPr>
        <p:spPr>
          <a:xfrm>
            <a:off x="5276782" y="3924923"/>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L3 SVI 1.4 Failed to Provide Appropriate Policy/ Guidance</a:t>
            </a:r>
            <a:endParaRPr lang="en" sz="750" dirty="0"/>
          </a:p>
        </p:txBody>
      </p:sp>
      <p:sp>
        <p:nvSpPr>
          <p:cNvPr id="16" name="Node 7"/>
          <p:cNvSpPr/>
          <p:nvPr/>
        </p:nvSpPr>
        <p:spPr>
          <a:xfrm>
            <a:off x="7518851" y="2821135"/>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L2 PTE 2.7 Technical Guidance is Unclear/Unavailable or Incorrect</a:t>
            </a:r>
            <a:endParaRPr lang="en" sz="750" dirty="0"/>
          </a:p>
        </p:txBody>
      </p:sp>
      <p:sp>
        <p:nvSpPr>
          <p:cNvPr id="17" name="Node 8"/>
          <p:cNvSpPr/>
          <p:nvPr/>
        </p:nvSpPr>
        <p:spPr>
          <a:xfrm>
            <a:off x="3034712" y="2821135"/>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L4 OIC 2.1 Organizational Culture Allows for Unsafe Task/Mission</a:t>
            </a:r>
            <a:endParaRPr lang="en" sz="750" dirty="0"/>
          </a:p>
        </p:txBody>
      </p:sp>
      <p:sp>
        <p:nvSpPr>
          <p:cNvPr id="18" name="Node 9"/>
          <p:cNvSpPr/>
          <p:nvPr/>
        </p:nvSpPr>
        <p:spPr>
          <a:xfrm>
            <a:off x="5276782" y="4476817"/>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L1 AV 1.1 Violation - Routine/Widespread</a:t>
            </a:r>
            <a:endParaRPr lang="en" sz="750" dirty="0"/>
          </a:p>
        </p:txBody>
      </p:sp>
      <p:sp>
        <p:nvSpPr>
          <p:cNvPr id="19" name="Node 10"/>
          <p:cNvSpPr/>
          <p:nvPr/>
        </p:nvSpPr>
        <p:spPr>
          <a:xfrm>
            <a:off x="3034712" y="3373029"/>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L4 OIC 2.7 Inconsistent Risk Management Practices</a:t>
            </a:r>
            <a:endParaRPr lang="en" sz="750" dirty="0"/>
          </a:p>
        </p:txBody>
      </p:sp>
      <p:sp>
        <p:nvSpPr>
          <p:cNvPr id="20" name="Node 11"/>
          <p:cNvSpPr/>
          <p:nvPr/>
        </p:nvSpPr>
        <p:spPr>
          <a:xfrm>
            <a:off x="7518851" y="2269241"/>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L1 AJDE 2.11 Misapplied or unaware of existing Policy/Procedure</a:t>
            </a:r>
            <a:endParaRPr lang="en" sz="750" dirty="0"/>
          </a:p>
        </p:txBody>
      </p:sp>
      <p:sp>
        <p:nvSpPr>
          <p:cNvPr id="21" name="Node 12"/>
          <p:cNvSpPr/>
          <p:nvPr/>
        </p:nvSpPr>
        <p:spPr>
          <a:xfrm>
            <a:off x="5276782" y="3373029"/>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L3 SVI 1.6 Lack of Supervisory Response to Critical Information</a:t>
            </a:r>
            <a:endParaRPr lang="en" sz="750" dirty="0"/>
          </a:p>
        </p:txBody>
      </p:sp>
      <p:sp>
        <p:nvSpPr>
          <p:cNvPr id="22" name="Node 13"/>
          <p:cNvSpPr/>
          <p:nvPr/>
        </p:nvSpPr>
        <p:spPr>
          <a:xfrm>
            <a:off x="5276782" y="2821135"/>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L3 SVV 4.5 No Action/ Mitigation Measures for Identified Risk</a:t>
            </a:r>
            <a:endParaRPr lang="en" sz="750" dirty="0"/>
          </a:p>
        </p:txBody>
      </p:sp>
      <p:sp>
        <p:nvSpPr>
          <p:cNvPr id="23" name="Node 14"/>
          <p:cNvSpPr/>
          <p:nvPr/>
        </p:nvSpPr>
        <p:spPr>
          <a:xfrm>
            <a:off x="3034712" y="3924923"/>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L4 OIR 1.1 Command and Control Resources are Deficient</a:t>
            </a:r>
            <a:endParaRPr lang="en" sz="750" dirty="0"/>
          </a:p>
        </p:txBody>
      </p:sp>
      <p:sp>
        <p:nvSpPr>
          <p:cNvPr id="24" name="Node 15"/>
          <p:cNvSpPr/>
          <p:nvPr/>
        </p:nvSpPr>
        <p:spPr>
          <a:xfrm>
            <a:off x="5276782" y="5580605"/>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L2 PTE 2.11 Equipment Not configured Correctly</a:t>
            </a:r>
            <a:endParaRPr lang="en" sz="750" dirty="0"/>
          </a:p>
        </p:txBody>
      </p:sp>
      <p:sp>
        <p:nvSpPr>
          <p:cNvPr id="25" name="Node 16"/>
          <p:cNvSpPr/>
          <p:nvPr/>
        </p:nvSpPr>
        <p:spPr>
          <a:xfrm>
            <a:off x="5276782" y="5028711"/>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L2 PTE 2.6 System Automation or System Redundancy</a:t>
            </a:r>
            <a:endParaRPr lang="en" sz="750" dirty="0"/>
          </a:p>
        </p:txBody>
      </p:sp>
      <p:sp>
        <p:nvSpPr>
          <p:cNvPr id="26" name="Node 17"/>
          <p:cNvSpPr/>
          <p:nvPr/>
        </p:nvSpPr>
        <p:spPr>
          <a:xfrm>
            <a:off x="3034712" y="4476817"/>
            <a:ext cx="1638435" cy="396673"/>
          </a:xfrm>
          <a:prstGeom prst="roundRect">
            <a:avLst/>
          </a:prstGeom>
          <a:solidFill>
            <a:srgbClr val="FFFFFF"/>
          </a:solidFill>
          <a:ln w="19050">
            <a:solidFill>
              <a:srgbClr val="0077B6"/>
            </a:solidFill>
          </a:ln>
        </p:spPr>
        <p:txBody>
          <a:bodyPr wrap="square" lIns="45720" tIns="22860" rIns="45720" bIns="22860" anchor="ctr" rtlCol="0">
            <a:normAutofit/>
          </a:bodyPr>
          <a:lstStyle/>
          <a:p>
            <a:pPr algn="ctr">
              <a:spcAft>
                <a:spcPts val="0"/>
              </a:spcAft>
              <a:buNone/>
            </a:pPr>
            <a:r>
              <a:rPr lang="en" sz="750" dirty="0">
                <a:solidFill>
                  <a:srgbClr val="1F2328"/>
                </a:solidFill>
              </a:rPr>
              <a:t>L4 OIR 1.5 Failure in Timely Acquisition/ Procurement/ Upgrade</a:t>
            </a:r>
            <a:endParaRPr lang="en" sz="750" dirty="0"/>
          </a:p>
        </p:txBody>
      </p:sp>
      <p:cxnSp>
        <p:nvCxnSpPr>
          <p:cNvPr id="27" name="Link 1"/>
          <p:cNvCxnSpPr>
            <a:stCxn id="10" idx="3"/>
            <a:endCxn id="11" idx="1"/>
          </p:cNvCxnSpPr>
          <p:nvPr/>
        </p:nvCxnSpPr>
        <p:spPr>
          <a:xfrm>
            <a:off x="4673148" y="1915684"/>
            <a:ext cx="603634" cy="0"/>
          </a:xfrm>
          <a:prstGeom prst="straightConnector1">
            <a:avLst/>
          </a:prstGeom>
          <a:ln w="15875">
            <a:solidFill>
              <a:srgbClr val="0077B6"/>
            </a:solidFill>
            <a:tailEnd type="triangle"/>
          </a:ln>
        </p:spPr>
      </p:cxnSp>
      <p:cxnSp>
        <p:nvCxnSpPr>
          <p:cNvPr id="28" name="Link 2"/>
          <p:cNvCxnSpPr>
            <a:stCxn id="10" idx="3"/>
            <a:endCxn id="12" idx="1"/>
          </p:cNvCxnSpPr>
          <p:nvPr/>
        </p:nvCxnSpPr>
        <p:spPr>
          <a:xfrm>
            <a:off x="4673148" y="1915684"/>
            <a:ext cx="603634" cy="551894"/>
          </a:xfrm>
          <a:prstGeom prst="straightConnector1">
            <a:avLst/>
          </a:prstGeom>
          <a:ln w="15875">
            <a:solidFill>
              <a:srgbClr val="0077B6"/>
            </a:solidFill>
            <a:tailEnd type="triangle"/>
          </a:ln>
        </p:spPr>
      </p:cxnSp>
      <p:grpSp>
        <p:nvGrpSpPr>
          <p:cNvPr id="29" name="Link 3"/>
          <p:cNvGrpSpPr/>
          <p:nvPr/>
        </p:nvGrpSpPr>
        <p:grpSpPr>
          <a:xfrm>
            <a:off x="4673148" y="1648360"/>
            <a:ext cx="2845703" cy="819218"/>
            <a:chOff x="4673148" y="1648360"/>
            <a:chExt cx="2845703" cy="819218"/>
          </a:xfrm>
        </p:grpSpPr>
        <p:cxnSp>
          <p:nvCxnSpPr>
            <p:cNvPr id="30" name="Link 3 part 1"/>
            <p:cNvCxnSpPr>
              <a:stCxn id="13" idx="3"/>
            </p:cNvCxnSpPr>
            <p:nvPr/>
          </p:nvCxnSpPr>
          <p:spPr>
            <a:xfrm>
              <a:off x="4673148" y="2467578"/>
              <a:ext cx="198336" cy="0"/>
            </a:xfrm>
            <a:prstGeom prst="straightConnector1">
              <a:avLst/>
            </a:prstGeom>
            <a:ln w="15875">
              <a:solidFill>
                <a:srgbClr val="0077B6"/>
              </a:solidFill>
            </a:ln>
          </p:spPr>
        </p:cxnSp>
        <p:cxnSp>
          <p:nvCxnSpPr>
            <p:cNvPr id="31" name="Link 3 part 2"/>
            <p:cNvCxnSpPr/>
            <p:nvPr/>
          </p:nvCxnSpPr>
          <p:spPr>
            <a:xfrm flipV="1">
              <a:off x="4871484" y="1648360"/>
              <a:ext cx="0" cy="819217"/>
            </a:xfrm>
            <a:prstGeom prst="straightConnector1">
              <a:avLst/>
            </a:prstGeom>
            <a:ln w="15875">
              <a:solidFill>
                <a:srgbClr val="0077B6"/>
              </a:solidFill>
            </a:ln>
          </p:spPr>
        </p:cxnSp>
        <p:cxnSp>
          <p:nvCxnSpPr>
            <p:cNvPr id="32" name="Link 3 part 3"/>
            <p:cNvCxnSpPr/>
            <p:nvPr/>
          </p:nvCxnSpPr>
          <p:spPr>
            <a:xfrm>
              <a:off x="4871484" y="1648360"/>
              <a:ext cx="2449030" cy="0"/>
            </a:xfrm>
            <a:prstGeom prst="straightConnector1">
              <a:avLst/>
            </a:prstGeom>
            <a:ln w="15875">
              <a:solidFill>
                <a:srgbClr val="0077B6"/>
              </a:solidFill>
            </a:ln>
          </p:spPr>
        </p:cxnSp>
        <p:cxnSp>
          <p:nvCxnSpPr>
            <p:cNvPr id="33" name="Link 3 part 4"/>
            <p:cNvCxnSpPr/>
            <p:nvPr/>
          </p:nvCxnSpPr>
          <p:spPr>
            <a:xfrm>
              <a:off x="7320515" y="1648360"/>
              <a:ext cx="0" cy="267323"/>
            </a:xfrm>
            <a:prstGeom prst="straightConnector1">
              <a:avLst/>
            </a:prstGeom>
            <a:ln w="15875">
              <a:solidFill>
                <a:srgbClr val="0077B6"/>
              </a:solidFill>
            </a:ln>
          </p:spPr>
        </p:cxnSp>
        <p:cxnSp>
          <p:nvCxnSpPr>
            <p:cNvPr id="34" name="Link 3 part 5"/>
            <p:cNvCxnSpPr>
              <a:endCxn id="14" idx="1"/>
            </p:cNvCxnSpPr>
            <p:nvPr/>
          </p:nvCxnSpPr>
          <p:spPr>
            <a:xfrm>
              <a:off x="7320515" y="1915684"/>
              <a:ext cx="198336" cy="0"/>
            </a:xfrm>
            <a:prstGeom prst="straightConnector1">
              <a:avLst/>
            </a:prstGeom>
            <a:ln w="15875">
              <a:solidFill>
                <a:srgbClr val="0077B6"/>
              </a:solidFill>
              <a:tailEnd type="triangle"/>
            </a:ln>
          </p:spPr>
        </p:cxnSp>
      </p:grpSp>
      <p:cxnSp>
        <p:nvCxnSpPr>
          <p:cNvPr id="35" name="Link 4"/>
          <p:cNvCxnSpPr>
            <a:stCxn id="15" idx="3"/>
            <a:endCxn id="14" idx="1"/>
          </p:cNvCxnSpPr>
          <p:nvPr/>
        </p:nvCxnSpPr>
        <p:spPr>
          <a:xfrm flipV="1">
            <a:off x="6915217" y="1915684"/>
            <a:ext cx="603634" cy="2207576"/>
          </a:xfrm>
          <a:prstGeom prst="straightConnector1">
            <a:avLst/>
          </a:prstGeom>
          <a:ln w="15875">
            <a:solidFill>
              <a:srgbClr val="0077B6"/>
            </a:solidFill>
            <a:tailEnd type="triangle"/>
          </a:ln>
        </p:spPr>
      </p:cxnSp>
      <p:cxnSp>
        <p:nvCxnSpPr>
          <p:cNvPr id="36" name="Link 5"/>
          <p:cNvCxnSpPr>
            <a:stCxn id="15" idx="3"/>
            <a:endCxn id="16" idx="1"/>
          </p:cNvCxnSpPr>
          <p:nvPr/>
        </p:nvCxnSpPr>
        <p:spPr>
          <a:xfrm flipV="1">
            <a:off x="6915217" y="3019472"/>
            <a:ext cx="603634" cy="1103788"/>
          </a:xfrm>
          <a:prstGeom prst="straightConnector1">
            <a:avLst/>
          </a:prstGeom>
          <a:ln w="15875">
            <a:solidFill>
              <a:srgbClr val="0077B6"/>
            </a:solidFill>
            <a:tailEnd type="triangle"/>
          </a:ln>
        </p:spPr>
      </p:cxnSp>
      <p:cxnSp>
        <p:nvCxnSpPr>
          <p:cNvPr id="37" name="Link 6"/>
          <p:cNvCxnSpPr>
            <a:stCxn id="17" idx="3"/>
            <a:endCxn id="18" idx="1"/>
          </p:cNvCxnSpPr>
          <p:nvPr/>
        </p:nvCxnSpPr>
        <p:spPr>
          <a:xfrm>
            <a:off x="4673148" y="3019472"/>
            <a:ext cx="603634" cy="1655682"/>
          </a:xfrm>
          <a:prstGeom prst="straightConnector1">
            <a:avLst/>
          </a:prstGeom>
          <a:ln w="15875">
            <a:solidFill>
              <a:srgbClr val="0077B6"/>
            </a:solidFill>
            <a:tailEnd type="triangle"/>
          </a:ln>
        </p:spPr>
      </p:cxnSp>
      <p:grpSp>
        <p:nvGrpSpPr>
          <p:cNvPr id="38" name="Link 7"/>
          <p:cNvGrpSpPr/>
          <p:nvPr/>
        </p:nvGrpSpPr>
        <p:grpSpPr>
          <a:xfrm>
            <a:off x="4673148" y="1596620"/>
            <a:ext cx="2845703" cy="1974746"/>
            <a:chOff x="4673148" y="1596620"/>
            <a:chExt cx="2845703" cy="1974746"/>
          </a:xfrm>
        </p:grpSpPr>
        <p:cxnSp>
          <p:nvCxnSpPr>
            <p:cNvPr id="39" name="Link 7 part 1"/>
            <p:cNvCxnSpPr>
              <a:stCxn id="19" idx="3"/>
            </p:cNvCxnSpPr>
            <p:nvPr/>
          </p:nvCxnSpPr>
          <p:spPr>
            <a:xfrm>
              <a:off x="4673148" y="3571366"/>
              <a:ext cx="258700" cy="0"/>
            </a:xfrm>
            <a:prstGeom prst="straightConnector1">
              <a:avLst/>
            </a:prstGeom>
            <a:ln w="15875">
              <a:solidFill>
                <a:srgbClr val="0077B6"/>
              </a:solidFill>
            </a:ln>
          </p:spPr>
        </p:cxnSp>
        <p:cxnSp>
          <p:nvCxnSpPr>
            <p:cNvPr id="40" name="Link 7 part 2"/>
            <p:cNvCxnSpPr/>
            <p:nvPr/>
          </p:nvCxnSpPr>
          <p:spPr>
            <a:xfrm flipV="1">
              <a:off x="4931848" y="1596620"/>
              <a:ext cx="0" cy="1974746"/>
            </a:xfrm>
            <a:prstGeom prst="straightConnector1">
              <a:avLst/>
            </a:prstGeom>
            <a:ln w="15875">
              <a:solidFill>
                <a:srgbClr val="0077B6"/>
              </a:solidFill>
            </a:ln>
          </p:spPr>
        </p:cxnSp>
        <p:cxnSp>
          <p:nvCxnSpPr>
            <p:cNvPr id="41" name="Link 7 part 3"/>
            <p:cNvCxnSpPr/>
            <p:nvPr/>
          </p:nvCxnSpPr>
          <p:spPr>
            <a:xfrm>
              <a:off x="4931848" y="1596620"/>
              <a:ext cx="2328303" cy="0"/>
            </a:xfrm>
            <a:prstGeom prst="straightConnector1">
              <a:avLst/>
            </a:prstGeom>
            <a:ln w="15875">
              <a:solidFill>
                <a:srgbClr val="0077B6"/>
              </a:solidFill>
            </a:ln>
          </p:spPr>
        </p:cxnSp>
        <p:cxnSp>
          <p:nvCxnSpPr>
            <p:cNvPr id="42" name="Link 7 part 4"/>
            <p:cNvCxnSpPr/>
            <p:nvPr/>
          </p:nvCxnSpPr>
          <p:spPr>
            <a:xfrm>
              <a:off x="7260151" y="1596620"/>
              <a:ext cx="0" cy="870957"/>
            </a:xfrm>
            <a:prstGeom prst="straightConnector1">
              <a:avLst/>
            </a:prstGeom>
            <a:ln w="15875">
              <a:solidFill>
                <a:srgbClr val="0077B6"/>
              </a:solidFill>
            </a:ln>
          </p:spPr>
        </p:cxnSp>
        <p:cxnSp>
          <p:nvCxnSpPr>
            <p:cNvPr id="43" name="Link 7 part 5"/>
            <p:cNvCxnSpPr>
              <a:endCxn id="20" idx="1"/>
            </p:cNvCxnSpPr>
            <p:nvPr/>
          </p:nvCxnSpPr>
          <p:spPr>
            <a:xfrm>
              <a:off x="7260151" y="2467578"/>
              <a:ext cx="258700" cy="0"/>
            </a:xfrm>
            <a:prstGeom prst="straightConnector1">
              <a:avLst/>
            </a:prstGeom>
            <a:ln w="15875">
              <a:solidFill>
                <a:srgbClr val="0077B6"/>
              </a:solidFill>
              <a:tailEnd type="triangle"/>
            </a:ln>
          </p:spPr>
        </p:cxnSp>
      </p:grpSp>
      <p:grpSp>
        <p:nvGrpSpPr>
          <p:cNvPr id="44" name="Link 8"/>
          <p:cNvGrpSpPr/>
          <p:nvPr/>
        </p:nvGrpSpPr>
        <p:grpSpPr>
          <a:xfrm>
            <a:off x="4673148" y="1544880"/>
            <a:ext cx="2845703" cy="2026486"/>
            <a:chOff x="4673148" y="1544880"/>
            <a:chExt cx="2845703" cy="2026486"/>
          </a:xfrm>
        </p:grpSpPr>
        <p:cxnSp>
          <p:nvCxnSpPr>
            <p:cNvPr id="45" name="Link 8 part 1"/>
            <p:cNvCxnSpPr>
              <a:stCxn id="19" idx="3"/>
            </p:cNvCxnSpPr>
            <p:nvPr/>
          </p:nvCxnSpPr>
          <p:spPr>
            <a:xfrm>
              <a:off x="4673148" y="3571366"/>
              <a:ext cx="319063" cy="0"/>
            </a:xfrm>
            <a:prstGeom prst="straightConnector1">
              <a:avLst/>
            </a:prstGeom>
            <a:ln w="15875">
              <a:solidFill>
                <a:srgbClr val="0077B6"/>
              </a:solidFill>
            </a:ln>
          </p:spPr>
        </p:cxnSp>
        <p:cxnSp>
          <p:nvCxnSpPr>
            <p:cNvPr id="46" name="Link 8 part 2"/>
            <p:cNvCxnSpPr/>
            <p:nvPr/>
          </p:nvCxnSpPr>
          <p:spPr>
            <a:xfrm flipV="1">
              <a:off x="4992211" y="1544880"/>
              <a:ext cx="0" cy="2026486"/>
            </a:xfrm>
            <a:prstGeom prst="straightConnector1">
              <a:avLst/>
            </a:prstGeom>
            <a:ln w="15875">
              <a:solidFill>
                <a:srgbClr val="0077B6"/>
              </a:solidFill>
            </a:ln>
          </p:spPr>
        </p:cxnSp>
        <p:cxnSp>
          <p:nvCxnSpPr>
            <p:cNvPr id="47" name="Link 8 part 3"/>
            <p:cNvCxnSpPr/>
            <p:nvPr/>
          </p:nvCxnSpPr>
          <p:spPr>
            <a:xfrm>
              <a:off x="4992211" y="1544880"/>
              <a:ext cx="2207576" cy="0"/>
            </a:xfrm>
            <a:prstGeom prst="straightConnector1">
              <a:avLst/>
            </a:prstGeom>
            <a:ln w="15875">
              <a:solidFill>
                <a:srgbClr val="0077B6"/>
              </a:solidFill>
            </a:ln>
          </p:spPr>
        </p:cxnSp>
        <p:cxnSp>
          <p:nvCxnSpPr>
            <p:cNvPr id="48" name="Link 8 part 4"/>
            <p:cNvCxnSpPr/>
            <p:nvPr/>
          </p:nvCxnSpPr>
          <p:spPr>
            <a:xfrm>
              <a:off x="7199788" y="1544880"/>
              <a:ext cx="0" cy="370803"/>
            </a:xfrm>
            <a:prstGeom prst="straightConnector1">
              <a:avLst/>
            </a:prstGeom>
            <a:ln w="15875">
              <a:solidFill>
                <a:srgbClr val="0077B6"/>
              </a:solidFill>
            </a:ln>
          </p:spPr>
        </p:cxnSp>
        <p:cxnSp>
          <p:nvCxnSpPr>
            <p:cNvPr id="49" name="Link 8 part 5"/>
            <p:cNvCxnSpPr>
              <a:endCxn id="14" idx="1"/>
            </p:cNvCxnSpPr>
            <p:nvPr/>
          </p:nvCxnSpPr>
          <p:spPr>
            <a:xfrm>
              <a:off x="7199788" y="1915684"/>
              <a:ext cx="319063" cy="0"/>
            </a:xfrm>
            <a:prstGeom prst="straightConnector1">
              <a:avLst/>
            </a:prstGeom>
            <a:ln w="15875">
              <a:solidFill>
                <a:srgbClr val="0077B6"/>
              </a:solidFill>
              <a:tailEnd type="triangle"/>
            </a:ln>
          </p:spPr>
        </p:cxnSp>
      </p:grpSp>
      <p:cxnSp>
        <p:nvCxnSpPr>
          <p:cNvPr id="50" name="Link 9"/>
          <p:cNvCxnSpPr>
            <a:stCxn id="19" idx="3"/>
            <a:endCxn id="21" idx="1"/>
          </p:cNvCxnSpPr>
          <p:nvPr/>
        </p:nvCxnSpPr>
        <p:spPr>
          <a:xfrm>
            <a:off x="4673148" y="3571366"/>
            <a:ext cx="603634" cy="0"/>
          </a:xfrm>
          <a:prstGeom prst="straightConnector1">
            <a:avLst/>
          </a:prstGeom>
          <a:ln w="15875">
            <a:solidFill>
              <a:srgbClr val="0077B6"/>
            </a:solidFill>
            <a:tailEnd type="triangle"/>
          </a:ln>
        </p:spPr>
      </p:cxnSp>
      <p:cxnSp>
        <p:nvCxnSpPr>
          <p:cNvPr id="51" name="Link 10"/>
          <p:cNvCxnSpPr>
            <a:stCxn id="10" idx="3"/>
            <a:endCxn id="21" idx="1"/>
          </p:cNvCxnSpPr>
          <p:nvPr/>
        </p:nvCxnSpPr>
        <p:spPr>
          <a:xfrm>
            <a:off x="4673148" y="1915684"/>
            <a:ext cx="603634" cy="1655682"/>
          </a:xfrm>
          <a:prstGeom prst="straightConnector1">
            <a:avLst/>
          </a:prstGeom>
          <a:ln w="15875">
            <a:solidFill>
              <a:srgbClr val="0077B6"/>
            </a:solidFill>
            <a:tailEnd type="triangle"/>
          </a:ln>
        </p:spPr>
      </p:cxnSp>
      <p:cxnSp>
        <p:nvCxnSpPr>
          <p:cNvPr id="52" name="Link 11"/>
          <p:cNvCxnSpPr>
            <a:stCxn id="10" idx="3"/>
            <a:endCxn id="22" idx="1"/>
          </p:cNvCxnSpPr>
          <p:nvPr/>
        </p:nvCxnSpPr>
        <p:spPr>
          <a:xfrm>
            <a:off x="4673148" y="1915684"/>
            <a:ext cx="603634" cy="1103788"/>
          </a:xfrm>
          <a:prstGeom prst="straightConnector1">
            <a:avLst/>
          </a:prstGeom>
          <a:ln w="15875">
            <a:solidFill>
              <a:srgbClr val="0077B6"/>
            </a:solidFill>
            <a:tailEnd type="triangle"/>
          </a:ln>
        </p:spPr>
      </p:cxnSp>
      <p:cxnSp>
        <p:nvCxnSpPr>
          <p:cNvPr id="53" name="Link 12"/>
          <p:cNvCxnSpPr>
            <a:stCxn id="15" idx="3"/>
            <a:endCxn id="20" idx="1"/>
          </p:cNvCxnSpPr>
          <p:nvPr/>
        </p:nvCxnSpPr>
        <p:spPr>
          <a:xfrm flipV="1">
            <a:off x="6915217" y="2467578"/>
            <a:ext cx="603634" cy="1655682"/>
          </a:xfrm>
          <a:prstGeom prst="straightConnector1">
            <a:avLst/>
          </a:prstGeom>
          <a:ln w="15875">
            <a:solidFill>
              <a:srgbClr val="0077B6"/>
            </a:solidFill>
            <a:tailEnd type="triangle"/>
          </a:ln>
        </p:spPr>
      </p:cxnSp>
      <p:cxnSp>
        <p:nvCxnSpPr>
          <p:cNvPr id="54" name="Link 13"/>
          <p:cNvCxnSpPr>
            <a:stCxn id="12" idx="3"/>
            <a:endCxn id="14" idx="1"/>
          </p:cNvCxnSpPr>
          <p:nvPr/>
        </p:nvCxnSpPr>
        <p:spPr>
          <a:xfrm flipV="1">
            <a:off x="6915217" y="1915684"/>
            <a:ext cx="603634" cy="551894"/>
          </a:xfrm>
          <a:prstGeom prst="straightConnector1">
            <a:avLst/>
          </a:prstGeom>
          <a:ln w="15875">
            <a:solidFill>
              <a:srgbClr val="0077B6"/>
            </a:solidFill>
            <a:tailEnd type="triangle"/>
          </a:ln>
        </p:spPr>
      </p:cxnSp>
      <p:grpSp>
        <p:nvGrpSpPr>
          <p:cNvPr id="55" name="Link 14"/>
          <p:cNvGrpSpPr/>
          <p:nvPr/>
        </p:nvGrpSpPr>
        <p:grpSpPr>
          <a:xfrm>
            <a:off x="4673148" y="1493140"/>
            <a:ext cx="2845703" cy="1526332"/>
            <a:chOff x="4673148" y="1493140"/>
            <a:chExt cx="2845703" cy="1526332"/>
          </a:xfrm>
        </p:grpSpPr>
        <p:cxnSp>
          <p:nvCxnSpPr>
            <p:cNvPr id="56" name="Link 14 part 1"/>
            <p:cNvCxnSpPr>
              <a:stCxn id="17" idx="3"/>
            </p:cNvCxnSpPr>
            <p:nvPr/>
          </p:nvCxnSpPr>
          <p:spPr>
            <a:xfrm>
              <a:off x="4673148" y="3019472"/>
              <a:ext cx="198336" cy="0"/>
            </a:xfrm>
            <a:prstGeom prst="straightConnector1">
              <a:avLst/>
            </a:prstGeom>
            <a:ln w="15875">
              <a:solidFill>
                <a:srgbClr val="0077B6"/>
              </a:solidFill>
            </a:ln>
          </p:spPr>
        </p:cxnSp>
        <p:cxnSp>
          <p:nvCxnSpPr>
            <p:cNvPr id="57" name="Link 14 part 2"/>
            <p:cNvCxnSpPr/>
            <p:nvPr/>
          </p:nvCxnSpPr>
          <p:spPr>
            <a:xfrm flipV="1">
              <a:off x="4871484" y="1493140"/>
              <a:ext cx="0" cy="1526332"/>
            </a:xfrm>
            <a:prstGeom prst="straightConnector1">
              <a:avLst/>
            </a:prstGeom>
            <a:ln w="15875">
              <a:solidFill>
                <a:srgbClr val="0077B6"/>
              </a:solidFill>
            </a:ln>
          </p:spPr>
        </p:cxnSp>
        <p:cxnSp>
          <p:nvCxnSpPr>
            <p:cNvPr id="58" name="Link 14 part 3"/>
            <p:cNvCxnSpPr/>
            <p:nvPr/>
          </p:nvCxnSpPr>
          <p:spPr>
            <a:xfrm>
              <a:off x="4871484" y="1493140"/>
              <a:ext cx="2449030" cy="0"/>
            </a:xfrm>
            <a:prstGeom prst="straightConnector1">
              <a:avLst/>
            </a:prstGeom>
            <a:ln w="15875">
              <a:solidFill>
                <a:srgbClr val="0077B6"/>
              </a:solidFill>
            </a:ln>
          </p:spPr>
        </p:cxnSp>
        <p:cxnSp>
          <p:nvCxnSpPr>
            <p:cNvPr id="59" name="Link 14 part 4"/>
            <p:cNvCxnSpPr/>
            <p:nvPr/>
          </p:nvCxnSpPr>
          <p:spPr>
            <a:xfrm>
              <a:off x="7320515" y="1493140"/>
              <a:ext cx="0" cy="422543"/>
            </a:xfrm>
            <a:prstGeom prst="straightConnector1">
              <a:avLst/>
            </a:prstGeom>
            <a:ln w="15875">
              <a:solidFill>
                <a:srgbClr val="0077B6"/>
              </a:solidFill>
            </a:ln>
          </p:spPr>
        </p:cxnSp>
        <p:cxnSp>
          <p:nvCxnSpPr>
            <p:cNvPr id="60" name="Link 14 part 5"/>
            <p:cNvCxnSpPr>
              <a:endCxn id="14" idx="1"/>
            </p:cNvCxnSpPr>
            <p:nvPr/>
          </p:nvCxnSpPr>
          <p:spPr>
            <a:xfrm>
              <a:off x="7320515" y="1915684"/>
              <a:ext cx="198336" cy="0"/>
            </a:xfrm>
            <a:prstGeom prst="straightConnector1">
              <a:avLst/>
            </a:prstGeom>
            <a:ln w="15875">
              <a:solidFill>
                <a:srgbClr val="0077B6"/>
              </a:solidFill>
              <a:tailEnd type="triangle"/>
            </a:ln>
          </p:spPr>
        </p:cxnSp>
      </p:grpSp>
      <p:cxnSp>
        <p:nvCxnSpPr>
          <p:cNvPr id="61" name="Link 15"/>
          <p:cNvCxnSpPr>
            <a:stCxn id="17" idx="3"/>
            <a:endCxn id="15" idx="1"/>
          </p:cNvCxnSpPr>
          <p:nvPr/>
        </p:nvCxnSpPr>
        <p:spPr>
          <a:xfrm>
            <a:off x="4673148" y="3019472"/>
            <a:ext cx="603634" cy="1103788"/>
          </a:xfrm>
          <a:prstGeom prst="straightConnector1">
            <a:avLst/>
          </a:prstGeom>
          <a:ln w="15875">
            <a:solidFill>
              <a:srgbClr val="0077B6"/>
            </a:solidFill>
            <a:tailEnd type="triangle"/>
          </a:ln>
        </p:spPr>
      </p:cxnSp>
      <p:cxnSp>
        <p:nvCxnSpPr>
          <p:cNvPr id="62" name="Link 16"/>
          <p:cNvCxnSpPr>
            <a:stCxn id="19" idx="3"/>
            <a:endCxn id="18" idx="1"/>
          </p:cNvCxnSpPr>
          <p:nvPr/>
        </p:nvCxnSpPr>
        <p:spPr>
          <a:xfrm>
            <a:off x="4673148" y="3571366"/>
            <a:ext cx="603634" cy="1103788"/>
          </a:xfrm>
          <a:prstGeom prst="straightConnector1">
            <a:avLst/>
          </a:prstGeom>
          <a:ln w="15875">
            <a:solidFill>
              <a:srgbClr val="0077B6"/>
            </a:solidFill>
            <a:tailEnd type="triangle"/>
          </a:ln>
        </p:spPr>
      </p:cxnSp>
      <p:cxnSp>
        <p:nvCxnSpPr>
          <p:cNvPr id="63" name="Link 17"/>
          <p:cNvCxnSpPr>
            <a:stCxn id="19" idx="3"/>
            <a:endCxn id="15" idx="1"/>
          </p:cNvCxnSpPr>
          <p:nvPr/>
        </p:nvCxnSpPr>
        <p:spPr>
          <a:xfrm>
            <a:off x="4673148" y="3571366"/>
            <a:ext cx="603634" cy="551894"/>
          </a:xfrm>
          <a:prstGeom prst="straightConnector1">
            <a:avLst/>
          </a:prstGeom>
          <a:ln w="15875">
            <a:solidFill>
              <a:srgbClr val="0077B6"/>
            </a:solidFill>
            <a:tailEnd type="triangle"/>
          </a:ln>
        </p:spPr>
      </p:cxnSp>
      <p:cxnSp>
        <p:nvCxnSpPr>
          <p:cNvPr id="64" name="Link 18"/>
          <p:cNvCxnSpPr>
            <a:stCxn id="23" idx="3"/>
            <a:endCxn id="24" idx="1"/>
          </p:cNvCxnSpPr>
          <p:nvPr/>
        </p:nvCxnSpPr>
        <p:spPr>
          <a:xfrm>
            <a:off x="4673148" y="4123260"/>
            <a:ext cx="603634" cy="1655682"/>
          </a:xfrm>
          <a:prstGeom prst="straightConnector1">
            <a:avLst/>
          </a:prstGeom>
          <a:ln w="15875">
            <a:solidFill>
              <a:srgbClr val="0077B6"/>
            </a:solidFill>
            <a:tailEnd type="triangle"/>
          </a:ln>
        </p:spPr>
      </p:cxnSp>
      <p:cxnSp>
        <p:nvCxnSpPr>
          <p:cNvPr id="65" name="Link 19"/>
          <p:cNvCxnSpPr>
            <a:stCxn id="23" idx="3"/>
            <a:endCxn id="25" idx="1"/>
          </p:cNvCxnSpPr>
          <p:nvPr/>
        </p:nvCxnSpPr>
        <p:spPr>
          <a:xfrm>
            <a:off x="4673148" y="4123260"/>
            <a:ext cx="603634" cy="1103788"/>
          </a:xfrm>
          <a:prstGeom prst="straightConnector1">
            <a:avLst/>
          </a:prstGeom>
          <a:ln w="15875">
            <a:solidFill>
              <a:srgbClr val="0077B6"/>
            </a:solidFill>
            <a:tailEnd type="triangle"/>
          </a:ln>
        </p:spPr>
      </p:cxnSp>
      <p:cxnSp>
        <p:nvCxnSpPr>
          <p:cNvPr id="66" name="Link 20"/>
          <p:cNvCxnSpPr>
            <a:stCxn id="26" idx="3"/>
            <a:endCxn id="24" idx="1"/>
          </p:cNvCxnSpPr>
          <p:nvPr/>
        </p:nvCxnSpPr>
        <p:spPr>
          <a:xfrm>
            <a:off x="4673148" y="4675154"/>
            <a:ext cx="603634" cy="1103788"/>
          </a:xfrm>
          <a:prstGeom prst="straightConnector1">
            <a:avLst/>
          </a:prstGeom>
          <a:ln w="15875">
            <a:solidFill>
              <a:srgbClr val="0077B6"/>
            </a:solidFill>
            <a:tailEnd type="triangle"/>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Coverage</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600"/>
              </a:spcAft>
              <a:buNone/>
            </a:pPr>
            <a:r>
              <a:rPr lang="en" sz="1800" dirty="0">
                <a:solidFill>
                  <a:srgbClr val="1F2328"/>
                </a:solidFill>
              </a:rPr>
              <a:t>This pack cites 39 of 62 relevant findings.</a:t>
            </a:r>
            <a:endParaRPr lang="en" sz="1800" dirty="0"/>
          </a:p>
          <a:p>
            <a:pPr>
              <a:spcAft>
                <a:spcPts val="600"/>
              </a:spcAft>
              <a:buNone/>
            </a:pPr>
            <a:r>
              <a:rPr lang="en" sz="1800" dirty="0">
                <a:solidFill>
                  <a:srgbClr val="1F2328"/>
                </a:solidFill>
              </a:rPr>
              <a:t>25 of 35 top-rated relevant findings cited.</a:t>
            </a:r>
            <a:endParaRPr lang="en" sz="1800" dirty="0"/>
          </a:p>
          <a:p>
            <a:pPr>
              <a:spcAft>
                <a:spcPts val="300"/>
              </a:spcAft>
              <a:buNone/>
            </a:pPr>
            <a:r>
              <a:rPr lang="en" sz="1400" dirty="0">
                <a:solidFill>
                  <a:srgbClr val="57606A"/>
                </a:solidFill>
              </a:rPr>
              <a:t>Learning purposes: not a statutory document. Draft learnings from a ProbeMatrix investigation export; validate them before adoption. · Learnings drafted by an AI agent from AI-assisted findings</a:t>
            </a:r>
            <a:endParaRPr lang="en" sz="1400" dirty="0"/>
          </a:p>
          <a:p>
            <a:pPr>
              <a:spcAft>
                <a:spcPts val="300"/>
              </a:spcAft>
              <a:buNone/>
            </a:pPr>
            <a:r>
              <a:rPr lang="en" sz="1400" dirty="0">
                <a:solidFill>
                  <a:srgbClr val="57606A"/>
                </a:solidFill>
              </a:rPr>
              <a:t>Generated with ProbeMatrix Learnings Coach v2.0.0a8 (open source, MIT) from a ProbeMatrix four-level human-factors investigation. ProbeMatrix by Eyekyam: ashley@eyekyam.com</a:t>
            </a:r>
            <a:endParaRPr lang="en" sz="14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theme/theme1.xml><?xml version="1.0" encoding="utf-8"?>
<a:theme xmlns:a="http://schemas.openxmlformats.org/drawingml/2006/main" name="ProbeMatrix">
  <a:themeElements>
    <a:clrScheme name="ProbeMatrix">
      <a:dk1>
        <a:srgbClr val="1F2328"/>
      </a:dk1>
      <a:lt1>
        <a:srgbClr val="FFFFFF"/>
      </a:lt1>
      <a:dk2>
        <a:srgbClr val="1F3A4D"/>
      </a:dk2>
      <a:lt2>
        <a:srgbClr val="EEF2F5"/>
      </a:lt2>
      <a:accent1>
        <a:srgbClr val="0077B6"/>
      </a:accent1>
      <a:accent2>
        <a:srgbClr val="C2410C"/>
      </a:accent2>
      <a:accent3>
        <a:srgbClr val="2E7D32"/>
      </a:accent3>
      <a:accent4>
        <a:srgbClr val="6A4C93"/>
      </a:accent4>
      <a:accent5>
        <a:srgbClr val="8A6D00"/>
      </a:accent5>
      <a:accent6>
        <a:srgbClr val="57606A"/>
      </a:accent6>
      <a:hlink>
        <a:srgbClr val="0563C1"/>
      </a:hlink>
      <a:folHlink>
        <a:srgbClr val="954F72"/>
      </a:folHlink>
    </a:clrScheme>
    <a:fontScheme name="ProbeMatrix">
      <a:majorFont>
        <a:latin typeface="Calibri"/>
        <a:ea typeface=""/>
        <a:cs typeface=""/>
      </a:majorFont>
      <a:minorFont>
        <a:latin typeface="Calibri"/>
        <a:ea typeface=""/>
        <a:cs typeface=""/>
      </a:minorFont>
    </a:fontScheme>
    <a:fmtScheme name="ProbeMatrix">
      <a:fillStyleLst>
        <a:solidFill>
          <a:schemeClr val="phClr"/>
        </a:solidFill>
        <a:solidFill>
          <a:schemeClr val="phClr"/>
        </a:solidFill>
        <a:solidFill>
          <a:schemeClr val="phClr"/>
        </a:solidFill>
      </a:fillStyleLst>
      <a:lnStyleLst>
        <a:ln w="6350">
          <a:solidFill>
            <a:schemeClr val="phClr"/>
          </a:solidFill>
        </a:ln>
        <a:ln w="6350">
          <a:solidFill>
            <a:schemeClr val="phClr"/>
          </a:solidFill>
        </a:ln>
        <a:ln w="63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ProbeMatrix">
  <a:themeElements>
    <a:clrScheme name="ProbeMatrix">
      <a:dk1>
        <a:srgbClr val="1F2328"/>
      </a:dk1>
      <a:lt1>
        <a:srgbClr val="FFFFFF"/>
      </a:lt1>
      <a:dk2>
        <a:srgbClr val="1F3A4D"/>
      </a:dk2>
      <a:lt2>
        <a:srgbClr val="EEF2F5"/>
      </a:lt2>
      <a:accent1>
        <a:srgbClr val="0077B6"/>
      </a:accent1>
      <a:accent2>
        <a:srgbClr val="C2410C"/>
      </a:accent2>
      <a:accent3>
        <a:srgbClr val="2E7D32"/>
      </a:accent3>
      <a:accent4>
        <a:srgbClr val="6A4C93"/>
      </a:accent4>
      <a:accent5>
        <a:srgbClr val="8A6D00"/>
      </a:accent5>
      <a:accent6>
        <a:srgbClr val="57606A"/>
      </a:accent6>
      <a:hlink>
        <a:srgbClr val="0563C1"/>
      </a:hlink>
      <a:folHlink>
        <a:srgbClr val="954F72"/>
      </a:folHlink>
    </a:clrScheme>
    <a:fontScheme name="ProbeMatrix">
      <a:majorFont>
        <a:latin typeface="Calibri"/>
        <a:ea typeface=""/>
        <a:cs typeface=""/>
      </a:majorFont>
      <a:minorFont>
        <a:latin typeface="Calibri"/>
        <a:ea typeface=""/>
        <a:cs typeface=""/>
      </a:minorFont>
    </a:fontScheme>
    <a:fmtScheme name="ProbeMatrix">
      <a:fillStyleLst>
        <a:solidFill>
          <a:schemeClr val="phClr"/>
        </a:solidFill>
        <a:solidFill>
          <a:schemeClr val="phClr"/>
        </a:solidFill>
        <a:solidFill>
          <a:schemeClr val="phClr"/>
        </a:solidFill>
      </a:fillStyleLst>
      <a:lnStyleLst>
        <a:ln w="6350">
          <a:solidFill>
            <a:schemeClr val="phClr"/>
          </a:solidFill>
        </a:ln>
        <a:ln w="6350">
          <a:solidFill>
            <a:schemeClr val="phClr"/>
          </a:solidFill>
        </a:ln>
        <a:ln w="63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ProbeMatrix Learnings Coach</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 Leadership Coach: Hazira gas terminal release and fire, 2020</dc:title>
  <dcterms:created xsi:type="dcterms:W3CDTF">2026-10-28T00:00:00Z</dcterms:created>
  <dcterms:modified xsi:type="dcterms:W3CDTF">2026-10-28T00:00:00Z</dcterms:modified>
</cp:coreProperties>
</file>