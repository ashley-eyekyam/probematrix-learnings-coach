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ea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Grade: Alert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Audience: Other sites and peer organisations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Incident: Hazira gas terminal condensate release and fire · 2020-09-24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Learning purposes: not a statutory document · Learnings drafted by an AI agent from AI-assisted findings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DRAFT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Review: draft · Classification: internal · Version 1.0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Draft because: the investigation status is in progress; no finding is marked as edited by a person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Data quality and limits: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Draft learnings from an unreviewed analysis: the export's investigation status is in progress and no finding is marked as edited by a person. Validate every item before this alert is shared beyond the site.</a:t>
            </a:r>
            <a:endParaRPr lang="en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A seal that does not match the original specification is a change, not a spare.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FND-8C0BB623; EVD-8645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An opened pressure joint is not proven until it passes a recorded test to design pressure.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FND-212DC9B7; EVD-2894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Work that can cause a major release needs a check by someone other than the person doing it.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FND-A6312B6B; EVD-8645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What happened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On 24 September 2020 condensate vapour escaped from a seal on a 1986 metering skid at a gas terminal, six days after the seal had been replaced. The vapour cloud spread for about…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Text: On 24 September 2020 condensate vapour escaped from a seal on a 1986 metering skid at a gas terminal, six days after the seal had been replaced [FND-8C0BB623; EVD-8645]. The vapour cloud spread for about 46 minutes before the first isolation valve was closed by hand [FND-322112EE; EVD-6414]. It then ignited at a damaged flameproof light fitting and caused a major fire [FND-CCE6F868; EVD-6916].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FND-8C0BB623; EVD-8645; FND-322112EE; EVD-6414; FND-CCE6F868; EVD-6916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Why it matters to you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All three learnings apply industry-wide. Any site with legacy pressure equipment, locally bought spares or maintenance run on a work notification alone can hold the same…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Text: All three learnings apply industry-wide. Any site with legacy pressure equipment, locally bought spares or maintenance run on a work notification alone can hold the same conditions today [FND-2FAB8D51; FND-7C5ED5B3; EVD-8645].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FND-2FAB8D51; FND-7C5ED5B3; EVD-8645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What we learned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If the specification for a pressure-boundary part is lost and no role owns it, crews fit whatever part is to hand, and the substitute becomes normal practice.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Learning: If the specification for a pressure-boundary part is lost and no role owns it, crews fit whatever part is to hand, and the substitute becomes normal practice.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Explanation: Locally bought O-rings replaced a slot gasket with no specification, check or approval; the seal fitted on 18 September failed six days later.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FND-8C0BB623; FND-7A32AC87; FND-89962239; FND-B356F15B; FND-91B45FF9; FND-DA67926D; FND-54180594; FND-82673283; FND-45363DCA; FND-A2048FB8; FND-FFE174D0; FND-A443D288; FND-72A7D26C; FND-CEE4B00B; FND-3746C7B6; FND-42BEF461; FND-D66ACA7B; FND-852B7EC7; FND-DEAA7F90; FND-A3D7D53F; FND-B86F67F0; FND-D40839C1; FND-BC4FD086; FND-23139BF9; FND-EBB66554; FND-B440C1BF; FND-8CE00707; FND-6B3A6492; FND-A0017E28; FND-B56701CA; FND-2B0A49CB; FND-35861FFB; FND-2CEE8915; FND-48C48354; FND-9A8F3D7A; FND-7832DDF6; FND-DE30BD8B; EVD-8645; EVD-1494; EVD-0064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If no procedure says how an opened high-pressure joint is tested before service, crews use the quickest check, and a weak joint passes.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Learning: If no procedure says how an opened high-pressure joint is tested before service, crews use the quickest check, and a weak joint passes.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Explanation: The joint was pressurised only to operating pressure, with no test to design pressure, and went back online about 46 hours later.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FND-7C5ED5B3; FND-FD617187; FND-212DC9B7; FND-15279F97; FND-7FA02383; FND-4944554C; FND-FDFA6FF5; FND-1662466D; FND-9174A5B0; FND-611A8BFC; FND-904FCA63; FND-C34A026C; FND-257C1100; FND-137BC719; FND-8ACDE078; FND-5919B328; FND-C4E06264; FND-3AB996FC; FND-86CB3683; FND-491EDE74; FND-50C7319E; FND-B91D4A23; FND-7A10FF70; FND-71EE9734; EVD-2894; EVD-0185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If a job that can cause a major release is planned like routine work, the fitter's knowledge is the only barrier.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Learning: If a job that can cause a major release is planned like routine work, the fitter's knowledge is the only barrier.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Explanation: No one was assigned to check the part, the method or the test.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FND-2FAB8D51; FND-A6312B6B; FND-28F8790B; FND-59A2F497; FND-F8C125D5; FND-615DB819; FND-7DF14ADB; FND-31459031; FND-63B6D260; EVD-8645; EVD-2894; EVD-5105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What to check now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Do not return an opened pressure-boundary joint to service until a recorded test to design pressure has passed.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Hold point: yes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Text: Do not return an opened pressure-boundary joint to service until a recorded test to design pressure has passed.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FND-212DC9B7; EVD-2894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List the pressure-boundary seals on legacy equipment that have no specification on file.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Text: List the pressure-boundary seals on legacy equipment that have no specification on file.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FND-8C0BB623; EVD-8645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Ask stores whether a pressure-boundary seal can be issued without a specification reference.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Text: Ask stores whether a pressure-boundary seal can be issued without a specification reference.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FND-2FAB8D51; EVD-8645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Check whether safety-critical maintenance jobs carry an independent check of part, method and test.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Text: Check whether safety-critical maintenance jobs carry an independent check of part, method and test.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FND-A6312B6B; EVD-8645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Questions for your crew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When you change a seal, how do you know the new one matches the original specification?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Question: When you change a seal, how do you know the new one matches the original specification?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Why it matters: Shows whether the specification is on file or held only in people's memory.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FND-8C0BB623; EVD-8645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What test does a joint you opened pass before it goes back into service, and who sees the result?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Question: What test does a joint you opened pass before it goes back into service, and who sees the result?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Why it matters: Shows whether the test is written down and checked by someone other than the fitter.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Cites: FND-212DC9B7; FND-A6312B6B; EVD-2894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Who to contact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Send questions, and what your checks find, to the site process-safety lead.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Text: Send questions, and what your checks find, to the site process-safety lead.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Cited records: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FND-8C0BB623: Maintenance Team - Gasket Replacement Without OEM Spec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EVD-8645: document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FND-212DC9B7: Maintenance Team - No Hydrostatic Test After Gasket Replacement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EVD-2894: document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FND-A6312B6B: Gasket replacement unverified maintenance process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FND-322112EE: Gas Terminal emergency isolation MOVs, including MOV 54, supplied as local-manual valves with no remote operation from the control room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EVD-6414: log_record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FND-CCE6F868: Compromised HPMV flame-proof lamp left in service and became the probable ignition source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EVD-6916: physical_item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FND-2FAB8D51: Maintenance job planning for the 18-Sep-2020 gasket replacement on 310FT01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FND-7C5ED5B3: Maintenance Team - Hydrostatic Test Requirement After Gasket Replacement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FND-7A32AC87: Maintenance Team - Wrong Choice: Substitute O-ring for OEM Rectangular-Slot Gasket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FND-89962239: Gasket replacement using non-standard material - 18 Sep 2020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FND-B356F15B: Gasket Replacement Procedure - Material Specification Bypass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FND-91B45FF9: Substitute O-ring gaskets without OEM specification or quality control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FND-DA67926D: Meter 310FT01 gasket replacement using locally sourced O-ring instead of OEM rectangular-slot gasket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FND-54180594: Maintenance crew unfamiliar with OEM rectangular-slot gasket specification - Sep 2020 replacement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FND-82673283: Meter 310FT01 gasket replacement — lost OEM specification and uncontrolled O-ring substitution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FND-45363DCA: Maintenance fitters — routine O-ring substitution without authority or qualification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FND-A2048FB8: Hazardous O-ring substitution practice left uncorrected across multiple maintenance events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FND-FFE174D0: Lost OEM gasket specification and uncontrolled local O-ring sourcing never remedied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FND-A443D288: O-ring substitution - regular practice tolerated and modelled by supervisors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FND-72A7D26C: No material specification or procurement policy for pressure-boundary gaskets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FND-CEE4B00B: Meter 310FT01 gasket material practice — no standardized OEM specification/procurement rule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FND-3746C7B6: Maintenance supervision - 18-Sep-2020 gasket replacement of meter 310FT01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FND-42BEF461: Authorised the locally sourced O-ring substitution as a regular practice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FND-D66ACA7B: Meter 310FT01 gasket material availability - lost OEM spec and locally sourced O-ring substitute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FND-852B7EC7: Material sourcing and gasket specification control on meter 310FT01 not enforced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FND-DEAA7F90: Locally procured O-ring substitution became unwritten standard practice on meter 310FT01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FND-A3D7D53F: Maintenance crew authorised for the 18-Sep-2020 retaining-plate gasket replacement without OEM specification or pressure-boundary testing competence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FND-B86F67F0: Regular use of locally procured O-rings for the 1986 rectangular-slot meter gasket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FND-D40839C1: Organizational overconfidence in locally procured O-ring substitute as a valid pressure-boundary seal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FND-BC4FD086: Unmanaged substitution of OEM rectangular-slot gasket with locally procured O-ring (18-Sep-2020 repair)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FND-23139BF9: No accountable owner or recorded authority for gasket material specification and procurement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FND-EBB66554: Locally sourced O-ring substitution without specification, QC or recorded authority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FND-B440C1BF: Unassessed program risk of O-ring substitution for OEM rectangular-slot gasket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FND-8CE00707: Accepted 'regular practice' of non-specified locally purchased O-rings as substitute seals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FND-6B3A6492: Locally purchased round O-ring substituted for the OEM rectangular-slot gasket of 1986 meter 310FT01 without specification or QC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FND-A0017E28: Non-OEM locally-purchased O-ring procured as regular substitute for lost 1986 rectangular-slot gasket specification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FND-B56701CA: Lost OEM rectangular-slot gasket specification and no substitute specification/QC information for maintainers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FND-2B0A49CB: Post-gasket-replacement pressure testing procedure · L2 · rating 3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FND-35861FFB: Maintenance staff unfamiliar with the 1986 meter's OEM rectangular-slot gasket specification and substitute O-ring practice · L2 · rating 3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FND-2CEE8915: Flat authority gradient in maintenance material control · L2 · rating 3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FND-48C48354: Maintenance staff not given technical support/mentoring for gasket specification and verification · L3 · rating 3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FND-9A8F3D7A: Maintenance fitter selected for 18-Sep-2020 gasket replacement without current OEM-specification experience · L3 · rating 3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FND-7832DDF6: Maintenance team leadership — pre-incident gasket replacement control failure (17–19 Sep 2020) · L2 · rating 3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FND-DE30BD8B: Management failed to provide any substitute-specification, procurement, or quality-control policy after the OEM gasket specification was lost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EVD-1494: document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EVD-0064: physical_item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FND-FD617187: Maintenance Team - No Hydro-Test Requirement Ignored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FND-15279F97: Post-maintenance testing - 18 Sep 2020 gasket replacement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FND-7FA02383: Post-Maintenance Gasket Replacement - 18-Sep-2020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FND-4944554C: Pressure boundary work returned to service without hydrostatic test · L1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FND-FDFA6FF5: No hydrostatic test performed after the 18-Sep-2020 gasket replacement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FND-1662466D: Meter 310FT01 returned to service with locally sourced substitute O-ring gasket and no hydrotest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FND-9174A5B0: No SOP for calibration and taking back in service of high-pressure meters — 18-Sep-2020 gasket replacement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FND-611A8BFC: Omitted hydrostatic test and absence of SOP for high-pressure meter return-to-service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FND-904FCA63: Failure to enforce hydrostatic test and return-to-service SOP after gasket replacement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FND-C34A026C: No formal procedure/intent communicated for post-gasket testing and return to service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FND-257C1100: No standard operating procedure existed for calibration and return-to-service of the high-pressure meters, including mandatory hydrotest to design pressure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FND-137BC719: No SOP for calibration and return-to-service of high-pressure meters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FND-8ACDE078: Omission of post-replacement hydrostatic test not identified or corrected before meter return to service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FND-5919B328: Authorised return-to-service without the mandatory hydrostatic test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FND-C4E06264: Post-repair hydrostatic test requirement not enforced on 18-Sep-2020 gasket replacement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FND-3AB996FC: Return-to-service after gasket replacement without design-pressure hydrostatic test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FND-86CB3683: Overconfidence that operating-pressure pressurization validated the repaired pressure boundary without a hydrostatic test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FND-491EDE74: Return of meter 310FT01 to service after 18-Sep-2020 gasket change without design-pressure validation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FND-50C7319E: No post-maintenance hydrotest or return-to-service SOP for high-pressure meter gasket work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FND-B91D4A23: No SOP for high-pressure meter calibration/return-to-service and no OEM gasket specification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FND-7A10FF70: Metering-skid maintenance workspace left without specifications, SOPs, or checklists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FND-71EE9734: Post-maintenance testing shortcut - operating-pressure-only modelled as the norm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EVD-0185: log_record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FND-28F8790B: Maintenance material &amp; quality verification roles not assigned · L2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FND-59A2F497: Maintenance supervision led 18-Sep-2020 gasket replacement beyond equipment/material capability (no OEM gasket, no specification, no hydrotest)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FND-F8C125D5: Pressure-boundary maintenance ordered without independent QC/inspection manning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FND-615DB819: Maintenance job manning for the 18-Sep-2020 gasket replacement · L4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FND-7DF14ADB: 18-Sep-2020 maintenance team lacked QC/engineering oversight in composition for high-pressure pressure-boundary work · L3 · rating 3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FND-31459031: Gasket replacement cross-monitoring failure — 18 Sep 2020 nonstandard gasket and skipped hydro test · L2 · rating 3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FND-63B6D260: No JSA/formal risk assessment for the 18-Sep-2020 gasket replacement · L3 · rating 4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EVD-5105: document</a:t>
            </a:r>
            <a:endParaRPr lang="en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This pack cites 72 of 436 relevant findings.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64 of 150 top-rated relevant findings cited.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Learning purposes: not a statutory document · Learnings drafted by an AI agent from AI-assisted findings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Generated with ProbeMatrix Learnings Coach v2.0.0a7 (open source, MIT) from a ProbeMatrix four-level human-factors investigation. ProbeMatrix by Eyekyam: ashley@eyekyam.com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Limits of this pack:</a:t>
            </a:r>
            <a:endParaRPr lang="en" sz="1200" dirty="0"/>
          </a:p>
          <a:p>
            <a:pPr>
              <a:spcAft>
                <a:spcPts val="0"/>
              </a:spcAft>
              <a:buNone/>
            </a:pPr>
            <a:r>
              <a:rPr lang="en" sz="1200" dirty="0">
                <a:solidFill>
                  <a:srgbClr val="1F2328"/>
                </a:solidFill>
              </a:rPr>
              <a:t>- The alert carries the three priority-1 learnings the engine chose by default (alert-grade); the register holds eight more priority-1 learnings, on emergency response, isolation, gas detection, hazardous-area equipment and competence.</a:t>
            </a:r>
            <a:endParaRPr lang="e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ea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188720"/>
            <a:ext cx="1127760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" sz="4000" b="1" dirty="0">
                <a:solidFill>
                  <a:srgbClr val="0077B6"/>
                </a:solidFill>
              </a:rPr>
              <a:t>Safety Alert: Hazira gas terminal condensate release and fire, 2020</a:t>
            </a:r>
            <a:endParaRPr lang="en" sz="4000" dirty="0"/>
          </a:p>
        </p:txBody>
      </p:sp>
      <p:sp>
        <p:nvSpPr>
          <p:cNvPr id="3" name="Body"/>
          <p:cNvSpPr txBox="1"/>
          <p:nvPr/>
        </p:nvSpPr>
        <p:spPr>
          <a:xfrm>
            <a:off x="457200" y="2834640"/>
            <a:ext cx="11277600" cy="3246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>
              <a:spcAft>
                <a:spcPts val="1000"/>
              </a:spcAft>
              <a:buNone/>
            </a:pPr>
            <a:r>
              <a:rPr lang="en" sz="2400" b="1" dirty="0">
                <a:solidFill>
                  <a:srgbClr val="1F2328"/>
                </a:solidFill>
              </a:rPr>
              <a:t>Grade: Alert</a:t>
            </a:r>
            <a:endParaRPr lang="en" sz="2400" dirty="0"/>
          </a:p>
          <a:p>
            <a:pPr>
              <a:spcAft>
                <a:spcPts val="600"/>
              </a:spcAft>
              <a:buNone/>
            </a:pPr>
            <a:r>
              <a:rPr lang="en" sz="1800" dirty="0">
                <a:solidFill>
                  <a:srgbClr val="1F2328"/>
                </a:solidFill>
              </a:rPr>
              <a:t>Audience: Other sites and peer organisations</a:t>
            </a:r>
            <a:endParaRPr lang="en" sz="1800" dirty="0"/>
          </a:p>
          <a:p>
            <a:pPr>
              <a:spcAft>
                <a:spcPts val="600"/>
              </a:spcAft>
              <a:buNone/>
            </a:pPr>
            <a:r>
              <a:rPr lang="en" sz="1800" dirty="0">
                <a:solidFill>
                  <a:srgbClr val="1F2328"/>
                </a:solidFill>
              </a:rPr>
              <a:t>Incident: Hazira gas terminal condensate release and fire · 2020-09-24</a:t>
            </a:r>
            <a:endParaRPr lang="en" sz="1800" dirty="0"/>
          </a:p>
          <a:p>
            <a:pPr>
              <a:spcAft>
                <a:spcPts val="300"/>
              </a:spcAft>
              <a:buNone/>
            </a:pPr>
            <a:r>
              <a:rPr lang="en" sz="1400" dirty="0">
                <a:solidFill>
                  <a:srgbClr val="57606A"/>
                </a:solidFill>
              </a:rPr>
              <a:t>Learning purposes: not a statutory document · Learnings drafted by an AI agent from AI-assisted findings</a:t>
            </a:r>
            <a:endParaRPr lang="en" sz="1400" dirty="0"/>
          </a:p>
          <a:p>
            <a:pPr>
              <a:spcAft>
                <a:spcPts val="300"/>
              </a:spcAft>
              <a:buNone/>
            </a:pPr>
            <a:r>
              <a:rPr lang="en" sz="1400" dirty="0">
                <a:solidFill>
                  <a:srgbClr val="57606A"/>
                </a:solidFill>
              </a:rPr>
              <a:t>DRAFT</a:t>
            </a:r>
            <a:endParaRPr lang="en" sz="1400" dirty="0"/>
          </a:p>
          <a:p>
            <a:pPr>
              <a:spcAft>
                <a:spcPts val="300"/>
              </a:spcAft>
              <a:buNone/>
            </a:pPr>
            <a:r>
              <a:rPr lang="en" sz="1400" dirty="0">
                <a:solidFill>
                  <a:srgbClr val="57606A"/>
                </a:solidFill>
              </a:rPr>
              <a:t>Review: draft · Classification: internal · Version 1.0</a:t>
            </a:r>
            <a:endParaRPr lang="en" sz="1400" dirty="0"/>
          </a:p>
          <a:p>
            <a:pPr>
              <a:spcAft>
                <a:spcPts val="300"/>
              </a:spcAft>
              <a:buNone/>
            </a:pPr>
            <a:r>
              <a:rPr lang="en" sz="1400" dirty="0">
                <a:solidFill>
                  <a:srgbClr val="57606A"/>
                </a:solidFill>
              </a:rPr>
              <a:t>Draft because: the investigation status is in progress; no finding is marked as edited by a person</a:t>
            </a:r>
            <a:endParaRPr lang="en" sz="14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617220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" sz="900" dirty="0">
                <a:solidFill>
                  <a:srgbClr val="57606A"/>
                </a:solidFill>
              </a:rPr>
              <a:t>Learning purposes: not a statutory document · Generated with ProbeMatrix Learnings Coach v2.0.0a7 (open source, MIT) from a ProbeMatrix four-level human-factors investigation. ProbeMatrix by Eyekyam: ashley@eyekyam.com</a:t>
            </a:r>
            <a:endParaRPr lang="en" sz="900" dirty="0"/>
          </a:p>
        </p:txBody>
      </p:sp>
      <p:sp>
        <p:nvSpPr>
          <p:cNvPr id="5" name="Draft"/>
          <p:cNvSpPr txBox="1"/>
          <p:nvPr/>
        </p:nvSpPr>
        <p:spPr>
          <a:xfrm>
            <a:off x="10271760" y="365760"/>
            <a:ext cx="1463040" cy="457200"/>
          </a:xfrm>
          <a:prstGeom prst="rect">
            <a:avLst/>
          </a:prstGeom>
          <a:noFill/>
          <a:ln w="19050">
            <a:solidFill>
              <a:srgbClr val="C2410C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" sz="2000" b="1" dirty="0">
                <a:solidFill>
                  <a:srgbClr val="C2410C"/>
                </a:solidFill>
              </a:rPr>
              <a:t>DRAFT</a:t>
            </a:r>
            <a:endParaRPr lang="e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963168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>
              <a:spcAft>
                <a:spcPts val="0"/>
              </a:spcAft>
              <a:buNone/>
            </a:pPr>
            <a:r>
              <a:rPr lang="en" sz="2800" b="1" dirty="0">
                <a:solidFill>
                  <a:srgbClr val="0077B6"/>
                </a:solidFill>
              </a:rPr>
              <a:t>Safety Alert: Hazira gas terminal condensate release and fire, 2020</a:t>
            </a:r>
            <a:endParaRPr lang="en" sz="2800" dirty="0"/>
          </a:p>
        </p:txBody>
      </p:sp>
      <p:sp>
        <p:nvSpPr>
          <p:cNvPr id="3" name="Body"/>
          <p:cNvSpPr txBox="1"/>
          <p:nvPr/>
        </p:nvSpPr>
        <p:spPr>
          <a:xfrm>
            <a:off x="457200" y="1234440"/>
            <a:ext cx="11277600" cy="4846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>
              <a:spcAft>
                <a:spcPts val="420"/>
              </a:spcAft>
              <a:buNone/>
            </a:pPr>
            <a:r>
              <a:rPr lang="en" sz="1250" dirty="0">
                <a:solidFill>
                  <a:srgbClr val="1F2328"/>
                </a:solidFill>
              </a:rPr>
              <a:t>A seal that does not match the original specification is a change, not a spare.</a:t>
            </a:r>
            <a:endParaRPr lang="en" sz="1250" dirty="0"/>
          </a:p>
          <a:p>
            <a:pPr>
              <a:spcAft>
                <a:spcPts val="420"/>
              </a:spcAft>
              <a:buNone/>
            </a:pPr>
            <a:r>
              <a:rPr lang="en" sz="1250" dirty="0">
                <a:solidFill>
                  <a:srgbClr val="1F2328"/>
                </a:solidFill>
              </a:rPr>
              <a:t>An opened pressure joint is not proven until it passes a recorded test to design pressure.</a:t>
            </a:r>
            <a:endParaRPr lang="en" sz="1250" dirty="0"/>
          </a:p>
          <a:p>
            <a:pPr>
              <a:spcAft>
                <a:spcPts val="420"/>
              </a:spcAft>
              <a:buNone/>
            </a:pPr>
            <a:r>
              <a:rPr lang="en" sz="1250" dirty="0">
                <a:solidFill>
                  <a:srgbClr val="1F2328"/>
                </a:solidFill>
              </a:rPr>
              <a:t>Work that can cause a major release needs a check by someone other than the person doing it.</a:t>
            </a:r>
            <a:endParaRPr lang="en" sz="1250" dirty="0"/>
          </a:p>
          <a:p>
            <a:pPr>
              <a:spcAft>
                <a:spcPts val="140"/>
              </a:spcAft>
              <a:buNone/>
            </a:pPr>
            <a:r>
              <a:rPr lang="en" sz="1100" b="1" dirty="0">
                <a:solidFill>
                  <a:srgbClr val="0077B6"/>
                </a:solidFill>
              </a:rPr>
              <a:t>What happened</a:t>
            </a:r>
            <a:endParaRPr lang="en" sz="110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On 24 September 2020 condensate vapour escaped from a seal on a 1986 metering skid at a gas terminal, six days after the seal had been replaced. The vapour cloud spread for about…</a:t>
            </a:r>
            <a:endParaRPr lang="en" sz="950" dirty="0"/>
          </a:p>
          <a:p>
            <a:pPr>
              <a:spcAft>
                <a:spcPts val="140"/>
              </a:spcAft>
              <a:buNone/>
            </a:pPr>
            <a:r>
              <a:rPr lang="en" sz="1100" b="1" dirty="0">
                <a:solidFill>
                  <a:srgbClr val="0077B6"/>
                </a:solidFill>
              </a:rPr>
              <a:t>Why it matters to you</a:t>
            </a:r>
            <a:endParaRPr lang="en" sz="110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All three learnings apply industry-wide. Any site with legacy pressure equipment, locally bought spares or maintenance run on a work notification alone can hold the same…</a:t>
            </a:r>
            <a:endParaRPr lang="en" sz="950" dirty="0"/>
          </a:p>
          <a:p>
            <a:pPr>
              <a:spcAft>
                <a:spcPts val="140"/>
              </a:spcAft>
              <a:buNone/>
            </a:pPr>
            <a:r>
              <a:rPr lang="en" sz="1100" b="1" dirty="0">
                <a:solidFill>
                  <a:srgbClr val="0077B6"/>
                </a:solidFill>
              </a:rPr>
              <a:t>What we learned</a:t>
            </a:r>
            <a:endParaRPr lang="en" sz="110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If the specification for a pressure-boundary part is lost and no role owns it, crews fit whatever part is to hand, and the substitute becomes normal practice.</a:t>
            </a:r>
            <a:endParaRPr lang="en" sz="95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If no procedure says how an opened high-pressure joint is tested before service, crews use the quickest check, and a weak joint passes.</a:t>
            </a:r>
            <a:endParaRPr lang="en" sz="95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If a job that can cause a major release is planned like routine work, the fitter's knowledge is the only barrier.</a:t>
            </a:r>
            <a:endParaRPr lang="en" sz="950" dirty="0"/>
          </a:p>
          <a:p>
            <a:pPr>
              <a:spcAft>
                <a:spcPts val="140"/>
              </a:spcAft>
              <a:buNone/>
            </a:pPr>
            <a:r>
              <a:rPr lang="en" sz="1100" b="1" dirty="0">
                <a:solidFill>
                  <a:srgbClr val="0077B6"/>
                </a:solidFill>
              </a:rPr>
              <a:t>What to check now</a:t>
            </a:r>
            <a:endParaRPr lang="en" sz="110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Do not return an opened pressure-boundary joint to service until a recorded test to design pressure has passed.</a:t>
            </a:r>
            <a:endParaRPr lang="en" sz="95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List the pressure-boundary seals on legacy equipment that have no specification on file.</a:t>
            </a:r>
            <a:endParaRPr lang="en" sz="95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Ask stores whether a pressure-boundary seal can be issued without a specification reference.</a:t>
            </a:r>
            <a:endParaRPr lang="en" sz="95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Check whether safety-critical maintenance jobs carry an independent check of part, method and test.</a:t>
            </a:r>
            <a:endParaRPr lang="en" sz="950" dirty="0"/>
          </a:p>
          <a:p>
            <a:pPr>
              <a:spcAft>
                <a:spcPts val="140"/>
              </a:spcAft>
              <a:buNone/>
            </a:pPr>
            <a:r>
              <a:rPr lang="en" sz="1100" b="1" dirty="0">
                <a:solidFill>
                  <a:srgbClr val="0077B6"/>
                </a:solidFill>
              </a:rPr>
              <a:t>Questions for your crew</a:t>
            </a:r>
            <a:endParaRPr lang="en" sz="110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When you change a seal, how do you know the new one matches the original specification?</a:t>
            </a:r>
            <a:endParaRPr lang="en" sz="95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What test does a joint you opened pass before it goes back into service, and who sees the result?</a:t>
            </a:r>
            <a:endParaRPr lang="en" sz="950" dirty="0"/>
          </a:p>
          <a:p>
            <a:pPr>
              <a:spcAft>
                <a:spcPts val="140"/>
              </a:spcAft>
              <a:buNone/>
            </a:pPr>
            <a:r>
              <a:rPr lang="en" sz="1100" b="1" dirty="0">
                <a:solidFill>
                  <a:srgbClr val="0077B6"/>
                </a:solidFill>
              </a:rPr>
              <a:t>Who to contact</a:t>
            </a:r>
            <a:endParaRPr lang="en" sz="1100" dirty="0"/>
          </a:p>
          <a:p>
            <a:pPr marL="342900" indent="-342900">
              <a:spcAft>
                <a:spcPts val="420"/>
              </a:spcAft>
              <a:buFont typeface="Arial"/>
              <a:buChar char="•"/>
            </a:pPr>
            <a:r>
              <a:rPr lang="en" sz="950" dirty="0">
                <a:solidFill>
                  <a:srgbClr val="1F2328"/>
                </a:solidFill>
              </a:rPr>
              <a:t>Send questions, and what your checks find, to the site process-safety lead.</a:t>
            </a:r>
            <a:endParaRPr lang="en" sz="95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617220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" sz="900" dirty="0">
                <a:solidFill>
                  <a:srgbClr val="57606A"/>
                </a:solidFill>
              </a:rPr>
              <a:t>Learning purposes: not a statutory document · Generated with ProbeMatrix Learnings Coach v2.0.0a7 (open source, MIT) from a ProbeMatrix four-level human-factors investigation. ProbeMatrix by Eyekyam: ashley@eyekyam.com</a:t>
            </a:r>
            <a:endParaRPr lang="en" sz="900" dirty="0"/>
          </a:p>
        </p:txBody>
      </p:sp>
      <p:sp>
        <p:nvSpPr>
          <p:cNvPr id="5" name="Draft"/>
          <p:cNvSpPr txBox="1"/>
          <p:nvPr/>
        </p:nvSpPr>
        <p:spPr>
          <a:xfrm>
            <a:off x="10271760" y="365760"/>
            <a:ext cx="1463040" cy="457200"/>
          </a:xfrm>
          <a:prstGeom prst="rect">
            <a:avLst/>
          </a:prstGeom>
          <a:noFill/>
          <a:ln w="19050">
            <a:solidFill>
              <a:srgbClr val="C2410C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" sz="2000" b="1" dirty="0">
                <a:solidFill>
                  <a:srgbClr val="C2410C"/>
                </a:solidFill>
              </a:rPr>
              <a:t>DRAFT</a:t>
            </a:r>
            <a:endParaRPr lang="e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963168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>
              <a:spcAft>
                <a:spcPts val="0"/>
              </a:spcAft>
              <a:buNone/>
            </a:pPr>
            <a:r>
              <a:rPr lang="en" sz="2800" b="1" dirty="0">
                <a:solidFill>
                  <a:srgbClr val="0077B6"/>
                </a:solidFill>
              </a:rPr>
              <a:t>Coverage</a:t>
            </a:r>
            <a:endParaRPr lang="en" sz="2800" dirty="0"/>
          </a:p>
        </p:txBody>
      </p:sp>
      <p:sp>
        <p:nvSpPr>
          <p:cNvPr id="3" name="Body"/>
          <p:cNvSpPr txBox="1"/>
          <p:nvPr/>
        </p:nvSpPr>
        <p:spPr>
          <a:xfrm>
            <a:off x="457200" y="1234440"/>
            <a:ext cx="11277600" cy="4846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" sz="1800" dirty="0">
                <a:solidFill>
                  <a:srgbClr val="1F2328"/>
                </a:solidFill>
              </a:rPr>
              <a:t>This pack cites 72 of 436 relevant findings.</a:t>
            </a:r>
            <a:endParaRPr lang="en" sz="1800" dirty="0"/>
          </a:p>
          <a:p>
            <a:pPr>
              <a:spcAft>
                <a:spcPts val="600"/>
              </a:spcAft>
              <a:buNone/>
            </a:pPr>
            <a:r>
              <a:rPr lang="en" sz="1800" dirty="0">
                <a:solidFill>
                  <a:srgbClr val="1F2328"/>
                </a:solidFill>
              </a:rPr>
              <a:t>64 of 150 top-rated relevant findings cited.</a:t>
            </a:r>
            <a:endParaRPr lang="en" sz="1800" dirty="0"/>
          </a:p>
          <a:p>
            <a:pPr>
              <a:spcAft>
                <a:spcPts val="300"/>
              </a:spcAft>
              <a:buNone/>
            </a:pPr>
            <a:r>
              <a:rPr lang="en" sz="1400" dirty="0">
                <a:solidFill>
                  <a:srgbClr val="57606A"/>
                </a:solidFill>
              </a:rPr>
              <a:t>Learning purposes: not a statutory document · Learnings drafted by an AI agent from AI-assisted findings</a:t>
            </a:r>
            <a:endParaRPr lang="en" sz="1400" dirty="0"/>
          </a:p>
          <a:p>
            <a:pPr>
              <a:spcAft>
                <a:spcPts val="300"/>
              </a:spcAft>
              <a:buNone/>
            </a:pPr>
            <a:r>
              <a:rPr lang="en" sz="1400" dirty="0">
                <a:solidFill>
                  <a:srgbClr val="57606A"/>
                </a:solidFill>
              </a:rPr>
              <a:t>Generated with ProbeMatrix Learnings Coach v2.0.0a7 (open source, MIT) from a ProbeMatrix four-level human-factors investigation. ProbeMatrix by Eyekyam: ashley@eyekyam.com</a:t>
            </a:r>
            <a:endParaRPr lang="en" sz="14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617220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" sz="900" dirty="0">
                <a:solidFill>
                  <a:srgbClr val="57606A"/>
                </a:solidFill>
              </a:rPr>
              <a:t>Learning purposes: not a statutory document · Generated with ProbeMatrix Learnings Coach v2.0.0a7 (open source, MIT) from a ProbeMatrix four-level human-factors investigation. ProbeMatrix by Eyekyam: ashley@eyekyam.com</a:t>
            </a:r>
            <a:endParaRPr lang="en" sz="900" dirty="0"/>
          </a:p>
        </p:txBody>
      </p:sp>
      <p:sp>
        <p:nvSpPr>
          <p:cNvPr id="5" name="Draft"/>
          <p:cNvSpPr txBox="1"/>
          <p:nvPr/>
        </p:nvSpPr>
        <p:spPr>
          <a:xfrm>
            <a:off x="10271760" y="365760"/>
            <a:ext cx="1463040" cy="457200"/>
          </a:xfrm>
          <a:prstGeom prst="rect">
            <a:avLst/>
          </a:prstGeom>
          <a:noFill/>
          <a:ln w="19050">
            <a:solidFill>
              <a:srgbClr val="C2410C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" sz="2000" b="1" dirty="0">
                <a:solidFill>
                  <a:srgbClr val="C2410C"/>
                </a:solidFill>
              </a:rPr>
              <a:t>DRAFT</a:t>
            </a:r>
            <a:endParaRPr lang="e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Matrix">
  <a:themeElements>
    <a:clrScheme name="ProbeMatrix">
      <a:dk1>
        <a:srgbClr val="1F2328"/>
      </a:dk1>
      <a:lt1>
        <a:srgbClr val="FFFFFF"/>
      </a:lt1>
      <a:dk2>
        <a:srgbClr val="1F3A4D"/>
      </a:dk2>
      <a:lt2>
        <a:srgbClr val="EEF2F5"/>
      </a:lt2>
      <a:accent1>
        <a:srgbClr val="0077B6"/>
      </a:accent1>
      <a:accent2>
        <a:srgbClr val="C2410C"/>
      </a:accent2>
      <a:accent3>
        <a:srgbClr val="2E7D32"/>
      </a:accent3>
      <a:accent4>
        <a:srgbClr val="6A4C93"/>
      </a:accent4>
      <a:accent5>
        <a:srgbClr val="8A6D00"/>
      </a:accent5>
      <a:accent6>
        <a:srgbClr val="57606A"/>
      </a:accent6>
      <a:hlink>
        <a:srgbClr val="0563C1"/>
      </a:hlink>
      <a:folHlink>
        <a:srgbClr val="954F72"/>
      </a:folHlink>
    </a:clrScheme>
    <a:fontScheme name="ProbeMatri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robeMatr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beMatrix">
  <a:themeElements>
    <a:clrScheme name="ProbeMatrix">
      <a:dk1>
        <a:srgbClr val="1F2328"/>
      </a:dk1>
      <a:lt1>
        <a:srgbClr val="FFFFFF"/>
      </a:lt1>
      <a:dk2>
        <a:srgbClr val="1F3A4D"/>
      </a:dk2>
      <a:lt2>
        <a:srgbClr val="EEF2F5"/>
      </a:lt2>
      <a:accent1>
        <a:srgbClr val="0077B6"/>
      </a:accent1>
      <a:accent2>
        <a:srgbClr val="C2410C"/>
      </a:accent2>
      <a:accent3>
        <a:srgbClr val="2E7D32"/>
      </a:accent3>
      <a:accent4>
        <a:srgbClr val="6A4C93"/>
      </a:accent4>
      <a:accent5>
        <a:srgbClr val="8A6D00"/>
      </a:accent5>
      <a:accent6>
        <a:srgbClr val="57606A"/>
      </a:accent6>
      <a:hlink>
        <a:srgbClr val="0563C1"/>
      </a:hlink>
      <a:folHlink>
        <a:srgbClr val="954F72"/>
      </a:folHlink>
    </a:clrScheme>
    <a:fontScheme name="ProbeMatri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robeMatr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ProbeMatrix Learnings Coach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Alert: Hazira gas terminal condensate release and fire, 2020</dc:title>
  <dcterms:created xsi:type="dcterms:W3CDTF">2026-10-27T00:00:00Z</dcterms:created>
  <dcterms:modified xsi:type="dcterms:W3CDTF">2026-10-27T00:00:00Z</dcterms:modified>
</cp:coreProperties>
</file>